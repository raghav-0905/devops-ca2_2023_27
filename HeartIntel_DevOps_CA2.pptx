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8f682fd-04cf-fa0d-4842-e65f90dd5fd8}">
          <p14:sldIdLst>
            <p14:sldId id="256"/>
            <p14:sldId id="257"/>
          </p14:sldIdLst>
        </p14:section>
        <p14:section name="Application" id="{93c8612f-6c82-6036-63aa-6da315ef3c0c}">
          <p14:sldIdLst>
            <p14:sldId id="258"/>
            <p14:sldId id="259"/>
          </p14:sldIdLst>
        </p14:section>
        <p14:section name="Build and ship" id="{8bb7c602-6f3c-2ece-11de-b1a43299ab85}">
          <p14:sldIdLst>
            <p14:sldId id="260"/>
            <p14:sldId id="261"/>
            <p14:sldId id="262"/>
            <p14:sldId id="263"/>
            <p14:sldId id="264"/>
          </p14:sldIdLst>
        </p14:section>
        <p14:section name="Run and operate" id="{3b8e1d1c-53c5-78fe-bf62-e752e9783223}">
          <p14:sldIdLst>
            <p14:sldId id="265"/>
            <p14:sldId id="266"/>
            <p14:sldId id="267"/>
            <p14:sldId id="268"/>
            <p14:sldId id="269"/>
            <p14:sldId id="270"/>
            <p14:sldId id="271"/>
            <p14:sldId id="272"/>
            <p14:sldId id="273"/>
            <p14:sldId id="274"/>
          </p14:sldIdLst>
        </p14:section>
        <p14:section name="Wrap up" id="{d566d485-2952-1b29-685a-7e8b9ec66a7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team. HeartIntel started as the RoomFit hostel allocation project and was adapted into a heart disease risk predictor. This deck covers the DevOps lifecycle we built around it: source control, containers, CI/CD, Kubernetes, Ansible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before and after. Before: services started by hand, credentials in code, nothing containerized. The goal of this CA was to wrap the application in a full delivery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request path left to right. The browser loads the React app, the form posts to the Spring Boot API, the API calls the Flask service which runs a custom Random Forest, and the result is stored in the database and returned. Be ready to say that the Flask service is not yet containerized, so it is the next item on our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stack. Application layers on the top row, delivery and operations tooling below. Every DevOps tool on this slide has its own slide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Mention that the workflow triggers on main. The right hand card lists governance practices we would add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multi stage matters: the build tools are thrown away and only the runtime artifact ships, so images are smaller and have a smaller attack surface. The frontend Nginx config includes a try_files rule so React Router paths work on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gives a developer the whole stack with a single command. Known gap to mention if asked: the Flask ML service and healthchecks are not in the Compose file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 capture from the project machine, run from the docker folder of the devops submission. Both images built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run in sequence using the needs keyword, so a failed build never reaches Docker Hub or the cluster. Be honest about two things if asked: the build step skips tests, and the workflow file currently sits inside the devops submission folder, so it must live at the repository root .github folder for GitHub to run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enters through the NGINX Ingress. Slash goes to the frontend service with two pods and slash api goes to the backend service with three pods. Everything runs in a dedicated production namespace with a ConfigMap and a Secret for configuration. Rolling updates keep the app available during a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kubectl apply runs: base configuration, application manifests and the monitoring stack. Unchanged means the cluster state already matched the manifests from an earlier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image was switched to version 2 and Kubernetes replaced pods gradually. The status output shows two of three replicas updated while the old pods kept serving traffic. If something failed, kubectl rollout undo returns to the previous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playbook turns a blank Ubuntu machine into a deployment host with Java, Docker, kubectl and an app user. It is repeatable and idempotent. Limitation to mention: it provisions the server but does not yet deploy the application, and the inventory IPs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defines a web server group and a database server group, both reached over SSH as the ubuntu user. The addresses are placeholders for this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playbook is shown in three parts: package and Java setup, Docker and kubectl installation with the app user, and the final task that writes a placeholder environment file. It targets the web server group and runs with elevated privileges.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here. The honest state is that the pipeline builds but does not yet run meaningful tests. Our plan is to enable backend tests in CI first, then add lint and security scanning as quality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strengths first, then gaps. The most important gap is the database password hardcoded in source. The fix is to read it from environment variables, which the Kubernetes Secret already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and Grafana manifests are deployed to a monitoring namespace. To be fully functional the backend needs the Spring Boot Actuator starter and Prometheus registry. Once added, the health probes and the scrape target both start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planned dashboard layout, presented as a design mockup. Once the Actuator dependency is added and the stack is scraped, replace it with a live Grafana screenshot taken through kubectl port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quick summary of the delivery system we built. Pods: 3 backend and 2 frontend. Manifests span the application namespace and the monitoring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story with reflection. The most valuable next step is containerizing the ML service so the whole prediction path runs inside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questions: why Kubernetes, how rollback works, how secrets are handled, what happens when a deployment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514600"/>
            <a:ext cx="6675120" cy="1188720"/>
          </a:xfrm>
          <a:prstGeom prst="rect">
            <a:avLst/>
          </a:prstGeom>
          <a:noFill/>
          <a:ln/>
        </p:spPr>
        <p:txBody>
          <a:bodyPr wrap="square" rtlCol="0"/>
          <a:lstStyle>
            <a:lvl1pPr algn="l" indent="0" marL="0">
              <a:buNone/>
              <a:defRPr lang="en-US" sz="6600" b="1" dirty="0">
                <a:solidFill>
                  <a:schemeClr val="accent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HeartIntel | DevOps CA II Case Study</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3.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3.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ro icon"/>
          <p:cNvSpPr/>
          <p:nvPr/>
        </p:nvSpPr>
        <p:spPr>
          <a:xfrm>
            <a:off x="640080" y="777240"/>
            <a:ext cx="960120" cy="960120"/>
          </a:xfrm>
          <a:prstGeom prst="ellipse">
            <a:avLst/>
          </a:prstGeom>
          <a:solidFill>
            <a:schemeClr val="accent2"/>
          </a:solidFill>
          <a:ln w="12700">
            <a:solidFill>
              <a:schemeClr val="accent2"/>
            </a:solidFill>
            <a:prstDash val="solid"/>
          </a:ln>
        </p:spPr>
      </p:sp>
      <p:pic>
        <p:nvPicPr>
          <p:cNvPr id="3" name="Icon FaHeartbeat" descr="Heartbeat icon">    </p:cNvPr>
          <p:cNvPicPr>
            <a:picLocks noChangeAspect="1"/>
          </p:cNvPicPr>
          <p:nvPr/>
        </p:nvPicPr>
        <p:blipFill>
          <a:blip r:embed="rId1"/>
          <a:stretch>
            <a:fillRect/>
          </a:stretch>
        </p:blipFill>
        <p:spPr>
          <a:xfrm>
            <a:off x="880110" y="1017270"/>
            <a:ext cx="480060" cy="480060"/>
          </a:xfrm>
          <a:prstGeom prst="rect">
            <a:avLst/>
          </a:prstGeom>
        </p:spPr>
      </p:pic>
      <p:sp>
        <p:nvSpPr>
          <p:cNvPr id="4" name="Pill DevOps CA II Case Study"/>
          <p:cNvSpPr txBox="1"/>
          <p:nvPr/>
        </p:nvSpPr>
        <p:spPr>
          <a:xfrm>
            <a:off x="640080" y="1920240"/>
            <a:ext cx="3017520" cy="411480"/>
          </a:xfrm>
          <a:prstGeom prst="roundRect">
            <a:avLst>
              <a:gd name="adj" fmla="val 44444"/>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accent2"/>
                </a:solidFill>
              </a:rPr>
              <a:t>DevOps CA II Case Study</a:t>
            </a:r>
            <a:endParaRPr lang="en-US" sz="1400" dirty="0"/>
          </a:p>
        </p:txBody>
      </p:sp>
      <p:sp>
        <p:nvSpPr>
          <p:cNvPr id="5" name="Text 0"/>
          <p:cNvSpPr/>
          <p:nvPr>
            <p:ph idx="100" type="title" hasCustomPrompt="1"/>
          </p:nvPr>
        </p:nvSpPr>
        <p:spPr>
          <a:xfrm>
            <a:off x="640080" y="2514600"/>
            <a:ext cx="6675120" cy="1188720"/>
          </a:xfrm>
          <a:prstGeom prst="rect">
            <a:avLst/>
          </a:prstGeom>
          <a:noFill/>
          <a:ln/>
        </p:spPr>
        <p:txBody>
          <a:bodyPr wrap="square" lIns="0" tIns="0" rIns="0" bIns="0" rtlCol="0" anchor="ctr"/>
          <a:lstStyle/>
          <a:p>
            <a:pPr algn="l" indent="0" marL="0">
              <a:buNone/>
            </a:pPr>
            <a:r>
              <a:rPr lang="en-US" sz="6600" b="1" dirty="0">
                <a:solidFill>
                  <a:schemeClr val="accent1"/>
                </a:solidFill>
              </a:rPr>
              <a:t>HeartIntel</a:t>
            </a:r>
            <a:endParaRPr lang="en-US" sz="6600" dirty="0"/>
          </a:p>
        </p:txBody>
      </p:sp>
      <p:sp>
        <p:nvSpPr>
          <p:cNvPr id="6" name="Text 3"/>
          <p:cNvSpPr txBox="1"/>
          <p:nvPr/>
        </p:nvSpPr>
        <p:spPr>
          <a:xfrm>
            <a:off x="640080" y="3840480"/>
            <a:ext cx="6492240" cy="822960"/>
          </a:xfrm>
          <a:prstGeom prst="rect">
            <a:avLst/>
          </a:prstGeom>
          <a:noFill/>
          <a:ln/>
        </p:spPr>
        <p:txBody>
          <a:bodyPr wrap="square" lIns="0" tIns="0" rIns="0" bIns="0" rtlCol="0" anchor="t"/>
          <a:lstStyle/>
          <a:p>
            <a:pPr indent="0" marL="0">
              <a:buNone/>
            </a:pPr>
            <a:r>
              <a:rPr lang="en-US" sz="2200" dirty="0">
                <a:solidFill>
                  <a:schemeClr val="tx1"/>
                </a:solidFill>
              </a:rPr>
              <a:t>AI powered heart disease prediction, delivered through a complete DevOps pipeline</a:t>
            </a:r>
            <a:endParaRPr lang="en-US" sz="2200" dirty="0"/>
          </a:p>
        </p:txBody>
      </p:sp>
      <p:sp>
        <p:nvSpPr>
          <p:cNvPr id="7" name="Pill GitHub Actions"/>
          <p:cNvSpPr txBox="1"/>
          <p:nvPr/>
        </p:nvSpPr>
        <p:spPr>
          <a:xfrm>
            <a:off x="640080" y="5029200"/>
            <a:ext cx="178308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GitHub Actions</a:t>
            </a:r>
            <a:endParaRPr lang="en-US" sz="1400" dirty="0"/>
          </a:p>
        </p:txBody>
      </p:sp>
      <p:sp>
        <p:nvSpPr>
          <p:cNvPr id="8" name="Pill Docker"/>
          <p:cNvSpPr txBox="1"/>
          <p:nvPr/>
        </p:nvSpPr>
        <p:spPr>
          <a:xfrm>
            <a:off x="2606040" y="5029200"/>
            <a:ext cx="128016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Docker</a:t>
            </a:r>
            <a:endParaRPr lang="en-US" sz="1400" dirty="0"/>
          </a:p>
        </p:txBody>
      </p:sp>
      <p:sp>
        <p:nvSpPr>
          <p:cNvPr id="9" name="Pill Kubernetes"/>
          <p:cNvSpPr txBox="1"/>
          <p:nvPr/>
        </p:nvSpPr>
        <p:spPr>
          <a:xfrm>
            <a:off x="4069080" y="5029200"/>
            <a:ext cx="160020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Kubernetes</a:t>
            </a:r>
            <a:endParaRPr lang="en-US" sz="1400" dirty="0"/>
          </a:p>
        </p:txBody>
      </p:sp>
      <p:sp>
        <p:nvSpPr>
          <p:cNvPr id="10" name="Pill Ansible"/>
          <p:cNvSpPr txBox="1"/>
          <p:nvPr/>
        </p:nvSpPr>
        <p:spPr>
          <a:xfrm>
            <a:off x="640080" y="5532120"/>
            <a:ext cx="128016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Ansible</a:t>
            </a:r>
            <a:endParaRPr lang="en-US" sz="1400" dirty="0"/>
          </a:p>
        </p:txBody>
      </p:sp>
      <p:sp>
        <p:nvSpPr>
          <p:cNvPr id="11" name="Pill Prometheus"/>
          <p:cNvSpPr txBox="1"/>
          <p:nvPr/>
        </p:nvSpPr>
        <p:spPr>
          <a:xfrm>
            <a:off x="2103120" y="5532120"/>
            <a:ext cx="155448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Prometheus</a:t>
            </a:r>
            <a:endParaRPr lang="en-US" sz="1400" dirty="0"/>
          </a:p>
        </p:txBody>
      </p:sp>
      <p:sp>
        <p:nvSpPr>
          <p:cNvPr id="12" name="Pill Grafana"/>
          <p:cNvSpPr txBox="1"/>
          <p:nvPr/>
        </p:nvSpPr>
        <p:spPr>
          <a:xfrm>
            <a:off x="3840480" y="5532120"/>
            <a:ext cx="1280160" cy="384048"/>
          </a:xfrm>
          <a:prstGeom prst="roundRect">
            <a:avLst>
              <a:gd name="adj" fmla="val 47619"/>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Grafana</a:t>
            </a:r>
            <a:endParaRPr lang="en-US" sz="1400" dirty="0"/>
          </a:p>
        </p:txBody>
      </p:sp>
      <p:sp>
        <p:nvSpPr>
          <p:cNvPr id="13" name="Team panel"/>
          <p:cNvSpPr/>
          <p:nvPr/>
        </p:nvSpPr>
        <p:spPr>
          <a:xfrm>
            <a:off x="7589520" y="640080"/>
            <a:ext cx="4050792" cy="5577840"/>
          </a:xfrm>
          <a:prstGeom prst="roundRect">
            <a:avLst>
              <a:gd name="adj" fmla="val 2709"/>
            </a:avLst>
          </a:prstGeom>
          <a:solidFill>
            <a:schemeClr val="bg2"/>
          </a:solidFill>
          <a:ln w="12700">
            <a:solidFill>
              <a:schemeClr val="bg2"/>
            </a:solidFill>
            <a:prstDash val="solid"/>
          </a:ln>
        </p:spPr>
      </p:sp>
      <p:sp>
        <p:nvSpPr>
          <p:cNvPr id="14" name="Team icon"/>
          <p:cNvSpPr/>
          <p:nvPr/>
        </p:nvSpPr>
        <p:spPr>
          <a:xfrm>
            <a:off x="7955280" y="914400"/>
            <a:ext cx="731520" cy="731520"/>
          </a:xfrm>
          <a:prstGeom prst="ellipse">
            <a:avLst/>
          </a:prstGeom>
          <a:solidFill>
            <a:schemeClr val="accent2"/>
          </a:solidFill>
          <a:ln w="12700">
            <a:solidFill>
              <a:schemeClr val="accent2"/>
            </a:solidFill>
            <a:prstDash val="solid"/>
          </a:ln>
        </p:spPr>
      </p:sp>
      <p:pic>
        <p:nvPicPr>
          <p:cNvPr id="15" name="Icon FaUserCog" descr="UserCog icon">    </p:cNvPr>
          <p:cNvPicPr>
            <a:picLocks noChangeAspect="1"/>
          </p:cNvPicPr>
          <p:nvPr/>
        </p:nvPicPr>
        <p:blipFill>
          <a:blip r:embed="rId2"/>
          <a:stretch>
            <a:fillRect/>
          </a:stretch>
        </p:blipFill>
        <p:spPr>
          <a:xfrm>
            <a:off x="8138160" y="1097280"/>
            <a:ext cx="365760" cy="365760"/>
          </a:xfrm>
          <a:prstGeom prst="rect">
            <a:avLst/>
          </a:prstGeom>
        </p:spPr>
      </p:pic>
      <p:sp>
        <p:nvSpPr>
          <p:cNvPr id="16" name="Text 12"/>
          <p:cNvSpPr txBox="1"/>
          <p:nvPr/>
        </p:nvSpPr>
        <p:spPr>
          <a:xfrm>
            <a:off x="8869680" y="960120"/>
            <a:ext cx="2560320" cy="640080"/>
          </a:xfrm>
          <a:prstGeom prst="rect">
            <a:avLst/>
          </a:prstGeom>
          <a:noFill/>
          <a:ln/>
        </p:spPr>
        <p:txBody>
          <a:bodyPr wrap="square" lIns="0" tIns="0" rIns="0" bIns="0" rtlCol="0" anchor="ctr"/>
          <a:lstStyle/>
          <a:p>
            <a:pPr indent="0" marL="0">
              <a:buNone/>
            </a:pPr>
            <a:r>
              <a:rPr lang="en-US" sz="2600" b="1" dirty="0">
                <a:solidFill>
                  <a:schemeClr val="tx1"/>
                </a:solidFill>
              </a:rPr>
              <a:t>Our team</a:t>
            </a:r>
            <a:endParaRPr lang="en-US" sz="2600" dirty="0"/>
          </a:p>
        </p:txBody>
      </p:sp>
      <p:sp>
        <p:nvSpPr>
          <p:cNvPr id="17" name="Initials GS"/>
          <p:cNvSpPr txBox="1"/>
          <p:nvPr/>
        </p:nvSpPr>
        <p:spPr>
          <a:xfrm>
            <a:off x="7955280" y="2011680"/>
            <a:ext cx="685800" cy="6858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GS</a:t>
            </a:r>
            <a:endParaRPr lang="en-US" sz="1600" dirty="0"/>
          </a:p>
        </p:txBody>
      </p:sp>
      <p:sp>
        <p:nvSpPr>
          <p:cNvPr id="18" name="Text 14"/>
          <p:cNvSpPr txBox="1"/>
          <p:nvPr/>
        </p:nvSpPr>
        <p:spPr>
          <a:xfrm>
            <a:off x="8823960" y="2029968"/>
            <a:ext cx="2651760" cy="365760"/>
          </a:xfrm>
          <a:prstGeom prst="rect">
            <a:avLst/>
          </a:prstGeom>
          <a:noFill/>
          <a:ln/>
        </p:spPr>
        <p:txBody>
          <a:bodyPr wrap="square" lIns="0" tIns="0" rIns="0" bIns="0" rtlCol="0" anchor="t"/>
          <a:lstStyle/>
          <a:p>
            <a:pPr indent="0" marL="0">
              <a:buNone/>
            </a:pPr>
            <a:r>
              <a:rPr lang="en-US" sz="1800" b="1" dirty="0">
                <a:solidFill>
                  <a:schemeClr val="tx1"/>
                </a:solidFill>
              </a:rPr>
              <a:t>Gunveer Singh</a:t>
            </a:r>
            <a:endParaRPr lang="en-US" sz="1800" dirty="0"/>
          </a:p>
        </p:txBody>
      </p:sp>
      <p:sp>
        <p:nvSpPr>
          <p:cNvPr id="19" name="Text 15"/>
          <p:cNvSpPr txBox="1"/>
          <p:nvPr/>
        </p:nvSpPr>
        <p:spPr>
          <a:xfrm>
            <a:off x="8823960" y="2395728"/>
            <a:ext cx="2651760" cy="292608"/>
          </a:xfrm>
          <a:prstGeom prst="rect">
            <a:avLst/>
          </a:prstGeom>
          <a:noFill/>
          <a:ln/>
        </p:spPr>
        <p:txBody>
          <a:bodyPr wrap="square" lIns="0" tIns="0" rIns="0" bIns="0" rtlCol="0" anchor="t"/>
          <a:lstStyle/>
          <a:p>
            <a:pPr indent="0" marL="0">
              <a:buNone/>
            </a:pPr>
            <a:r>
              <a:rPr lang="en-US" sz="1400" dirty="0">
                <a:solidFill>
                  <a:schemeClr val="tx2"/>
                </a:solidFill>
              </a:rPr>
              <a:t>23070122098</a:t>
            </a:r>
            <a:endParaRPr lang="en-US" sz="1400" dirty="0"/>
          </a:p>
        </p:txBody>
      </p:sp>
      <p:sp>
        <p:nvSpPr>
          <p:cNvPr id="20" name="Initials HR"/>
          <p:cNvSpPr txBox="1"/>
          <p:nvPr/>
        </p:nvSpPr>
        <p:spPr>
          <a:xfrm>
            <a:off x="7955280" y="3035808"/>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HR</a:t>
            </a:r>
            <a:endParaRPr lang="en-US" sz="1600" dirty="0"/>
          </a:p>
        </p:txBody>
      </p:sp>
      <p:sp>
        <p:nvSpPr>
          <p:cNvPr id="21" name="Text 17"/>
          <p:cNvSpPr txBox="1"/>
          <p:nvPr/>
        </p:nvSpPr>
        <p:spPr>
          <a:xfrm>
            <a:off x="8823960" y="3054096"/>
            <a:ext cx="2651760" cy="365760"/>
          </a:xfrm>
          <a:prstGeom prst="rect">
            <a:avLst/>
          </a:prstGeom>
          <a:noFill/>
          <a:ln/>
        </p:spPr>
        <p:txBody>
          <a:bodyPr wrap="square" lIns="0" tIns="0" rIns="0" bIns="0" rtlCol="0" anchor="t"/>
          <a:lstStyle/>
          <a:p>
            <a:pPr indent="0" marL="0">
              <a:buNone/>
            </a:pPr>
            <a:r>
              <a:rPr lang="en-US" sz="1800" b="1" dirty="0">
                <a:solidFill>
                  <a:schemeClr val="tx1"/>
                </a:solidFill>
              </a:rPr>
              <a:t>Harsh Rajput</a:t>
            </a:r>
            <a:endParaRPr lang="en-US" sz="1800" dirty="0"/>
          </a:p>
        </p:txBody>
      </p:sp>
      <p:sp>
        <p:nvSpPr>
          <p:cNvPr id="22" name="Text 18"/>
          <p:cNvSpPr txBox="1"/>
          <p:nvPr/>
        </p:nvSpPr>
        <p:spPr>
          <a:xfrm>
            <a:off x="8823960" y="3419856"/>
            <a:ext cx="2651760" cy="292608"/>
          </a:xfrm>
          <a:prstGeom prst="rect">
            <a:avLst/>
          </a:prstGeom>
          <a:noFill/>
          <a:ln/>
        </p:spPr>
        <p:txBody>
          <a:bodyPr wrap="square" lIns="0" tIns="0" rIns="0" bIns="0" rtlCol="0" anchor="t"/>
          <a:lstStyle/>
          <a:p>
            <a:pPr indent="0" marL="0">
              <a:buNone/>
            </a:pPr>
            <a:r>
              <a:rPr lang="en-US" sz="1400" dirty="0">
                <a:solidFill>
                  <a:schemeClr val="tx2"/>
                </a:solidFill>
              </a:rPr>
              <a:t>23070122102</a:t>
            </a:r>
            <a:endParaRPr lang="en-US" sz="1400" dirty="0"/>
          </a:p>
        </p:txBody>
      </p:sp>
      <p:sp>
        <p:nvSpPr>
          <p:cNvPr id="23" name="Initials MA"/>
          <p:cNvSpPr txBox="1"/>
          <p:nvPr/>
        </p:nvSpPr>
        <p:spPr>
          <a:xfrm>
            <a:off x="7955280" y="4059936"/>
            <a:ext cx="685800" cy="6858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MA</a:t>
            </a:r>
            <a:endParaRPr lang="en-US" sz="1600" dirty="0"/>
          </a:p>
        </p:txBody>
      </p:sp>
      <p:sp>
        <p:nvSpPr>
          <p:cNvPr id="24" name="Text 20"/>
          <p:cNvSpPr txBox="1"/>
          <p:nvPr/>
        </p:nvSpPr>
        <p:spPr>
          <a:xfrm>
            <a:off x="8823960" y="4078224"/>
            <a:ext cx="2651760" cy="365760"/>
          </a:xfrm>
          <a:prstGeom prst="rect">
            <a:avLst/>
          </a:prstGeom>
          <a:noFill/>
          <a:ln/>
        </p:spPr>
        <p:txBody>
          <a:bodyPr wrap="square" lIns="0" tIns="0" rIns="0" bIns="0" rtlCol="0" anchor="t"/>
          <a:lstStyle/>
          <a:p>
            <a:pPr indent="0" marL="0">
              <a:buNone/>
            </a:pPr>
            <a:r>
              <a:rPr lang="en-US" sz="1800" b="1" dirty="0">
                <a:solidFill>
                  <a:schemeClr val="tx1"/>
                </a:solidFill>
              </a:rPr>
              <a:t>Mohammad Ahmad</a:t>
            </a:r>
            <a:endParaRPr lang="en-US" sz="1800" dirty="0"/>
          </a:p>
        </p:txBody>
      </p:sp>
      <p:sp>
        <p:nvSpPr>
          <p:cNvPr id="25" name="Text 21"/>
          <p:cNvSpPr txBox="1"/>
          <p:nvPr/>
        </p:nvSpPr>
        <p:spPr>
          <a:xfrm>
            <a:off x="8823960" y="4443984"/>
            <a:ext cx="2651760" cy="292608"/>
          </a:xfrm>
          <a:prstGeom prst="rect">
            <a:avLst/>
          </a:prstGeom>
          <a:noFill/>
          <a:ln/>
        </p:spPr>
        <p:txBody>
          <a:bodyPr wrap="square" lIns="0" tIns="0" rIns="0" bIns="0" rtlCol="0" anchor="t"/>
          <a:lstStyle/>
          <a:p>
            <a:pPr indent="0" marL="0">
              <a:buNone/>
            </a:pPr>
            <a:r>
              <a:rPr lang="en-US" sz="1400" dirty="0">
                <a:solidFill>
                  <a:schemeClr val="tx2"/>
                </a:solidFill>
              </a:rPr>
              <a:t>23070122140</a:t>
            </a:r>
            <a:endParaRPr lang="en-US" sz="1400" dirty="0"/>
          </a:p>
        </p:txBody>
      </p:sp>
      <p:sp>
        <p:nvSpPr>
          <p:cNvPr id="26" name="Initials RS"/>
          <p:cNvSpPr txBox="1"/>
          <p:nvPr/>
        </p:nvSpPr>
        <p:spPr>
          <a:xfrm>
            <a:off x="7955280" y="5084064"/>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RS</a:t>
            </a:r>
            <a:endParaRPr lang="en-US" sz="1600" dirty="0"/>
          </a:p>
        </p:txBody>
      </p:sp>
      <p:sp>
        <p:nvSpPr>
          <p:cNvPr id="27" name="Text 23"/>
          <p:cNvSpPr txBox="1"/>
          <p:nvPr/>
        </p:nvSpPr>
        <p:spPr>
          <a:xfrm>
            <a:off x="8823960" y="5102352"/>
            <a:ext cx="2651760" cy="365760"/>
          </a:xfrm>
          <a:prstGeom prst="rect">
            <a:avLst/>
          </a:prstGeom>
          <a:noFill/>
          <a:ln/>
        </p:spPr>
        <p:txBody>
          <a:bodyPr wrap="square" lIns="0" tIns="0" rIns="0" bIns="0" rtlCol="0" anchor="t"/>
          <a:lstStyle/>
          <a:p>
            <a:pPr indent="0" marL="0">
              <a:buNone/>
            </a:pPr>
            <a:r>
              <a:rPr lang="en-US" sz="1800" b="1" dirty="0">
                <a:solidFill>
                  <a:schemeClr val="tx1"/>
                </a:solidFill>
              </a:rPr>
              <a:t>Raghav Sharma</a:t>
            </a:r>
            <a:endParaRPr lang="en-US" sz="1800" dirty="0"/>
          </a:p>
        </p:txBody>
      </p:sp>
      <p:sp>
        <p:nvSpPr>
          <p:cNvPr id="28" name="Text 24"/>
          <p:cNvSpPr txBox="1"/>
          <p:nvPr/>
        </p:nvSpPr>
        <p:spPr>
          <a:xfrm>
            <a:off x="8823960" y="5468112"/>
            <a:ext cx="2651760" cy="292608"/>
          </a:xfrm>
          <a:prstGeom prst="rect">
            <a:avLst/>
          </a:prstGeom>
          <a:noFill/>
          <a:ln/>
        </p:spPr>
        <p:txBody>
          <a:bodyPr wrap="square" lIns="0" tIns="0" rIns="0" bIns="0" rtlCol="0" anchor="t"/>
          <a:lstStyle/>
          <a:p>
            <a:pPr indent="0" marL="0">
              <a:buNone/>
            </a:pPr>
            <a:r>
              <a:rPr lang="en-US" sz="1400" dirty="0">
                <a:solidFill>
                  <a:schemeClr val="tx2"/>
                </a:solidFill>
              </a:rPr>
              <a:t>23070122171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From a hostel project to healthcare AI</a:t>
            </a:r>
            <a:endParaRPr lang="en-US" sz="3200" dirty="0"/>
          </a:p>
        </p:txBody>
      </p:sp>
      <p:sp>
        <p:nvSpPr>
          <p:cNvPr id="3" name="Card Origin"/>
          <p:cNvSpPr/>
          <p:nvPr/>
        </p:nvSpPr>
        <p:spPr>
          <a:xfrm>
            <a:off x="548640" y="1463040"/>
            <a:ext cx="3514344" cy="3017520"/>
          </a:xfrm>
          <a:prstGeom prst="roundRect">
            <a:avLst>
              <a:gd name="adj" fmla="val 3636"/>
            </a:avLst>
          </a:prstGeom>
          <a:solidFill>
            <a:schemeClr val="bg2"/>
          </a:solidFill>
          <a:ln w="12700">
            <a:solidFill>
              <a:schemeClr val="bg2"/>
            </a:solidFill>
            <a:prstDash val="solid"/>
          </a:ln>
        </p:spPr>
      </p:sp>
      <p:sp>
        <p:nvSpPr>
          <p:cNvPr id="4" name="Icon circle"/>
          <p:cNvSpPr/>
          <p:nvPr/>
        </p:nvSpPr>
        <p:spPr>
          <a:xfrm>
            <a:off x="822960" y="1737360"/>
            <a:ext cx="731520" cy="731520"/>
          </a:xfrm>
          <a:prstGeom prst="ellipse">
            <a:avLst/>
          </a:prstGeom>
          <a:solidFill>
            <a:schemeClr val="accent1"/>
          </a:solidFill>
          <a:ln w="12700">
            <a:solidFill>
              <a:schemeClr val="accent1"/>
            </a:solidFill>
            <a:prstDash val="solid"/>
          </a:ln>
        </p:spPr>
      </p:sp>
      <p:pic>
        <p:nvPicPr>
          <p:cNvPr id="5" name="Icon FaHistory" descr="History icon">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822960" y="2697480"/>
            <a:ext cx="2965704" cy="365760"/>
          </a:xfrm>
          <a:prstGeom prst="rect">
            <a:avLst/>
          </a:prstGeom>
          <a:noFill/>
          <a:ln/>
        </p:spPr>
        <p:txBody>
          <a:bodyPr wrap="square" lIns="0" tIns="0" rIns="0" bIns="0" rtlCol="0" anchor="t"/>
          <a:lstStyle/>
          <a:p>
            <a:pPr indent="0" marL="0">
              <a:buNone/>
            </a:pPr>
            <a:r>
              <a:rPr lang="en-US" sz="2000" b="1" dirty="0">
                <a:solidFill>
                  <a:schemeClr val="tx1"/>
                </a:solidFill>
              </a:rPr>
              <a:t>Origin</a:t>
            </a:r>
            <a:endParaRPr lang="en-US" sz="2000" dirty="0"/>
          </a:p>
        </p:txBody>
      </p:sp>
      <p:sp>
        <p:nvSpPr>
          <p:cNvPr id="7" name="Text 4"/>
          <p:cNvSpPr txBox="1"/>
          <p:nvPr/>
        </p:nvSpPr>
        <p:spPr>
          <a:xfrm>
            <a:off x="822960" y="3154680"/>
            <a:ext cx="2965704" cy="1188720"/>
          </a:xfrm>
          <a:prstGeom prst="rect">
            <a:avLst/>
          </a:prstGeom>
          <a:noFill/>
          <a:ln/>
        </p:spPr>
        <p:txBody>
          <a:bodyPr wrap="square" lIns="0" tIns="0" rIns="0" bIns="0" rtlCol="0" anchor="t"/>
          <a:lstStyle/>
          <a:p>
            <a:pPr indent="0" marL="0">
              <a:buNone/>
            </a:pPr>
            <a:r>
              <a:rPr lang="en-US" sz="1500" dirty="0">
                <a:solidFill>
                  <a:schemeClr val="tx1"/>
                </a:solidFill>
              </a:rPr>
              <a:t>Adapted from the RoomFit hostel roommate allocation project into a healthcare prediction service.</a:t>
            </a:r>
            <a:endParaRPr lang="en-US" sz="1500" dirty="0"/>
          </a:p>
        </p:txBody>
      </p:sp>
      <p:sp>
        <p:nvSpPr>
          <p:cNvPr id="8" name="Card Challenge"/>
          <p:cNvSpPr/>
          <p:nvPr/>
        </p:nvSpPr>
        <p:spPr>
          <a:xfrm>
            <a:off x="4337304" y="1463040"/>
            <a:ext cx="3514344" cy="3017520"/>
          </a:xfrm>
          <a:prstGeom prst="roundRect">
            <a:avLst>
              <a:gd name="adj" fmla="val 3636"/>
            </a:avLst>
          </a:prstGeom>
          <a:solidFill>
            <a:schemeClr val="bg2"/>
          </a:solidFill>
          <a:ln w="12700">
            <a:solidFill>
              <a:schemeClr val="bg2"/>
            </a:solidFill>
            <a:prstDash val="solid"/>
          </a:ln>
        </p:spPr>
      </p:sp>
      <p:sp>
        <p:nvSpPr>
          <p:cNvPr id="9" name="Icon circle"/>
          <p:cNvSpPr/>
          <p:nvPr/>
        </p:nvSpPr>
        <p:spPr>
          <a:xfrm>
            <a:off x="4611624" y="1737360"/>
            <a:ext cx="731520" cy="731520"/>
          </a:xfrm>
          <a:prstGeom prst="ellipse">
            <a:avLst/>
          </a:prstGeom>
          <a:solidFill>
            <a:schemeClr val="accent2"/>
          </a:solidFill>
          <a:ln w="12700">
            <a:solidFill>
              <a:schemeClr val="accent2"/>
            </a:solidFill>
            <a:prstDash val="solid"/>
          </a:ln>
        </p:spPr>
      </p:sp>
      <p:pic>
        <p:nvPicPr>
          <p:cNvPr id="10" name="Icon FaExclamationTriangle" descr="ExclamationTriangle icon">    </p:cNvPr>
          <p:cNvPicPr>
            <a:picLocks noChangeAspect="1"/>
          </p:cNvPicPr>
          <p:nvPr/>
        </p:nvPicPr>
        <p:blipFill>
          <a:blip r:embed="rId2"/>
          <a:stretch>
            <a:fillRect/>
          </a:stretch>
        </p:blipFill>
        <p:spPr>
          <a:xfrm>
            <a:off x="4794504" y="1920240"/>
            <a:ext cx="365760" cy="365760"/>
          </a:xfrm>
          <a:prstGeom prst="rect">
            <a:avLst/>
          </a:prstGeom>
        </p:spPr>
      </p:pic>
      <p:sp>
        <p:nvSpPr>
          <p:cNvPr id="11" name="Text 7"/>
          <p:cNvSpPr txBox="1"/>
          <p:nvPr/>
        </p:nvSpPr>
        <p:spPr>
          <a:xfrm>
            <a:off x="4611624" y="2697480"/>
            <a:ext cx="2965704" cy="365760"/>
          </a:xfrm>
          <a:prstGeom prst="rect">
            <a:avLst/>
          </a:prstGeom>
          <a:noFill/>
          <a:ln/>
        </p:spPr>
        <p:txBody>
          <a:bodyPr wrap="square" lIns="0" tIns="0" rIns="0" bIns="0" rtlCol="0" anchor="t"/>
          <a:lstStyle/>
          <a:p>
            <a:pPr indent="0" marL="0">
              <a:buNone/>
            </a:pPr>
            <a:r>
              <a:rPr lang="en-US" sz="2000" b="1" dirty="0">
                <a:solidFill>
                  <a:schemeClr val="tx1"/>
                </a:solidFill>
              </a:rPr>
              <a:t>Challenge</a:t>
            </a:r>
            <a:endParaRPr lang="en-US" sz="2000" dirty="0"/>
          </a:p>
        </p:txBody>
      </p:sp>
      <p:sp>
        <p:nvSpPr>
          <p:cNvPr id="12" name="Text 8"/>
          <p:cNvSpPr txBox="1"/>
          <p:nvPr/>
        </p:nvSpPr>
        <p:spPr>
          <a:xfrm>
            <a:off x="4611624" y="3154680"/>
            <a:ext cx="2965704" cy="1188720"/>
          </a:xfrm>
          <a:prstGeom prst="rect">
            <a:avLst/>
          </a:prstGeom>
          <a:noFill/>
          <a:ln/>
        </p:spPr>
        <p:txBody>
          <a:bodyPr wrap="square" lIns="0" tIns="0" rIns="0" bIns="0" rtlCol="0" anchor="t"/>
          <a:lstStyle/>
          <a:p>
            <a:pPr indent="0" marL="0">
              <a:buNone/>
            </a:pPr>
            <a:r>
              <a:rPr lang="en-US" sz="1500" dirty="0">
                <a:solidFill>
                  <a:schemeClr val="tx1"/>
                </a:solidFill>
              </a:rPr>
              <a:t>Run an ML powered web app reliably. Before DevOps it meant manual runs, hardcoded configuration and no containers.</a:t>
            </a:r>
            <a:endParaRPr lang="en-US" sz="1500" dirty="0"/>
          </a:p>
        </p:txBody>
      </p:sp>
      <p:sp>
        <p:nvSpPr>
          <p:cNvPr id="13" name="Card Goal"/>
          <p:cNvSpPr/>
          <p:nvPr/>
        </p:nvSpPr>
        <p:spPr>
          <a:xfrm>
            <a:off x="8125968" y="1463040"/>
            <a:ext cx="3514344" cy="3017520"/>
          </a:xfrm>
          <a:prstGeom prst="roundRect">
            <a:avLst>
              <a:gd name="adj" fmla="val 3636"/>
            </a:avLst>
          </a:prstGeom>
          <a:solidFill>
            <a:schemeClr val="bg2"/>
          </a:solidFill>
          <a:ln w="12700">
            <a:solidFill>
              <a:schemeClr val="bg2"/>
            </a:solidFill>
            <a:prstDash val="solid"/>
          </a:ln>
        </p:spPr>
      </p:sp>
      <p:sp>
        <p:nvSpPr>
          <p:cNvPr id="14" name="Icon circle"/>
          <p:cNvSpPr/>
          <p:nvPr/>
        </p:nvSpPr>
        <p:spPr>
          <a:xfrm>
            <a:off x="8400288" y="1737360"/>
            <a:ext cx="731520" cy="731520"/>
          </a:xfrm>
          <a:prstGeom prst="ellipse">
            <a:avLst/>
          </a:prstGeom>
          <a:solidFill>
            <a:schemeClr val="accent1"/>
          </a:solidFill>
          <a:ln w="12700">
            <a:solidFill>
              <a:schemeClr val="accent1"/>
            </a:solidFill>
            <a:prstDash val="solid"/>
          </a:ln>
        </p:spPr>
      </p:sp>
      <p:pic>
        <p:nvPicPr>
          <p:cNvPr id="15" name="Icon FaBullseye" descr="Bullseye icon">    </p:cNvPr>
          <p:cNvPicPr>
            <a:picLocks noChangeAspect="1"/>
          </p:cNvPicPr>
          <p:nvPr/>
        </p:nvPicPr>
        <p:blipFill>
          <a:blip r:embed="rId3"/>
          <a:stretch>
            <a:fillRect/>
          </a:stretch>
        </p:blipFill>
        <p:spPr>
          <a:xfrm>
            <a:off x="8583168" y="1920240"/>
            <a:ext cx="365760" cy="365760"/>
          </a:xfrm>
          <a:prstGeom prst="rect">
            <a:avLst/>
          </a:prstGeom>
        </p:spPr>
      </p:pic>
      <p:sp>
        <p:nvSpPr>
          <p:cNvPr id="16" name="Text 11"/>
          <p:cNvSpPr txBox="1"/>
          <p:nvPr/>
        </p:nvSpPr>
        <p:spPr>
          <a:xfrm>
            <a:off x="8400288" y="2697480"/>
            <a:ext cx="2965704" cy="365760"/>
          </a:xfrm>
          <a:prstGeom prst="rect">
            <a:avLst/>
          </a:prstGeom>
          <a:noFill/>
          <a:ln/>
        </p:spPr>
        <p:txBody>
          <a:bodyPr wrap="square" lIns="0" tIns="0" rIns="0" bIns="0" rtlCol="0" anchor="t"/>
          <a:lstStyle/>
          <a:p>
            <a:pPr indent="0" marL="0">
              <a:buNone/>
            </a:pPr>
            <a:r>
              <a:rPr lang="en-US" sz="2000" b="1" dirty="0">
                <a:solidFill>
                  <a:schemeClr val="tx1"/>
                </a:solidFill>
              </a:rPr>
              <a:t>Goal</a:t>
            </a:r>
            <a:endParaRPr lang="en-US" sz="2000" dirty="0"/>
          </a:p>
        </p:txBody>
      </p:sp>
      <p:sp>
        <p:nvSpPr>
          <p:cNvPr id="17" name="Text 12"/>
          <p:cNvSpPr txBox="1"/>
          <p:nvPr/>
        </p:nvSpPr>
        <p:spPr>
          <a:xfrm>
            <a:off x="8400288" y="3154680"/>
            <a:ext cx="2965704" cy="1188720"/>
          </a:xfrm>
          <a:prstGeom prst="rect">
            <a:avLst/>
          </a:prstGeom>
          <a:noFill/>
          <a:ln/>
        </p:spPr>
        <p:txBody>
          <a:bodyPr wrap="square" lIns="0" tIns="0" rIns="0" bIns="0" rtlCol="0" anchor="t"/>
          <a:lstStyle/>
          <a:p>
            <a:pPr indent="0" marL="0">
              <a:buNone/>
            </a:pPr>
            <a:r>
              <a:rPr lang="en-US" sz="1500" dirty="0">
                <a:solidFill>
                  <a:schemeClr val="tx1"/>
                </a:solidFill>
              </a:rPr>
              <a:t>Automate CI/CD, containerize every service and make production observable and repeatable.</a:t>
            </a:r>
            <a:endParaRPr lang="en-US" sz="1500" dirty="0"/>
          </a:p>
        </p:txBody>
      </p:sp>
      <p:sp>
        <p:nvSpPr>
          <p:cNvPr id="18" name="Banner"/>
          <p:cNvSpPr/>
          <p:nvPr/>
        </p:nvSpPr>
        <p:spPr>
          <a:xfrm>
            <a:off x="548640" y="4754880"/>
            <a:ext cx="11091672" cy="1371600"/>
          </a:xfrm>
          <a:prstGeom prst="roundRect">
            <a:avLst>
              <a:gd name="adj" fmla="val 8000"/>
            </a:avLst>
          </a:prstGeom>
          <a:solidFill>
            <a:schemeClr val="accent4"/>
          </a:solidFill>
          <a:ln w="12700">
            <a:solidFill>
              <a:schemeClr val="accent4"/>
            </a:solidFill>
            <a:prstDash val="solid"/>
          </a:ln>
        </p:spPr>
      </p:sp>
      <p:sp>
        <p:nvSpPr>
          <p:cNvPr id="19" name="Icon circle"/>
          <p:cNvSpPr/>
          <p:nvPr/>
        </p:nvSpPr>
        <p:spPr>
          <a:xfrm>
            <a:off x="868680" y="5074920"/>
            <a:ext cx="731520" cy="731520"/>
          </a:xfrm>
          <a:prstGeom prst="ellipse">
            <a:avLst/>
          </a:prstGeom>
          <a:solidFill>
            <a:schemeClr val="accent2"/>
          </a:solidFill>
          <a:ln w="12700">
            <a:solidFill>
              <a:schemeClr val="accent2"/>
            </a:solidFill>
            <a:prstDash val="solid"/>
          </a:ln>
        </p:spPr>
      </p:sp>
      <p:pic>
        <p:nvPicPr>
          <p:cNvPr id="20" name="Icon FaRocket" descr="Rocket icon">    </p:cNvPr>
          <p:cNvPicPr>
            <a:picLocks noChangeAspect="1"/>
          </p:cNvPicPr>
          <p:nvPr/>
        </p:nvPicPr>
        <p:blipFill>
          <a:blip r:embed="rId4"/>
          <a:stretch>
            <a:fillRect/>
          </a:stretch>
        </p:blipFill>
        <p:spPr>
          <a:xfrm>
            <a:off x="1051560" y="5257800"/>
            <a:ext cx="365760" cy="365760"/>
          </a:xfrm>
          <a:prstGeom prst="rect">
            <a:avLst/>
          </a:prstGeom>
        </p:spPr>
      </p:pic>
      <p:sp>
        <p:nvSpPr>
          <p:cNvPr id="21" name="Text 15"/>
          <p:cNvSpPr txBox="1"/>
          <p:nvPr/>
        </p:nvSpPr>
        <p:spPr>
          <a:xfrm>
            <a:off x="1920240" y="4892040"/>
            <a:ext cx="9354312" cy="1097280"/>
          </a:xfrm>
          <a:prstGeom prst="rect">
            <a:avLst/>
          </a:prstGeom>
          <a:noFill/>
          <a:ln/>
        </p:spPr>
        <p:txBody>
          <a:bodyPr wrap="square" lIns="0" tIns="0" rIns="0" bIns="0" rtlCol="0" anchor="ctr"/>
          <a:lstStyle/>
          <a:p>
            <a:pPr indent="0" marL="0">
              <a:buNone/>
            </a:pPr>
            <a:r>
              <a:rPr lang="en-US" sz="2000" b="1" dirty="0">
                <a:solidFill>
                  <a:schemeClr val="tx1"/>
                </a:solidFill>
              </a:rPr>
              <a:t>One push to main builds the code, packages the images and rolls the release out to Kubernetes.</a:t>
            </a:r>
            <a:endParaRPr lang="en-US" sz="2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A four tier cloud native architecture</a:t>
            </a:r>
            <a:endParaRPr lang="en-US" sz="3200" dirty="0"/>
          </a:p>
        </p:txBody>
      </p:sp>
      <p:sp>
        <p:nvSpPr>
          <p:cNvPr id="3" name="Node User browser"/>
          <p:cNvSpPr/>
          <p:nvPr/>
        </p:nvSpPr>
        <p:spPr>
          <a:xfrm>
            <a:off x="594360" y="1554480"/>
            <a:ext cx="2194560" cy="1600200"/>
          </a:xfrm>
          <a:prstGeom prst="roundRect">
            <a:avLst>
              <a:gd name="adj" fmla="val 6857"/>
            </a:avLst>
          </a:prstGeom>
          <a:solidFill>
            <a:schemeClr val="bg2"/>
          </a:solidFill>
          <a:ln w="12700">
            <a:solidFill>
              <a:schemeClr val="bg2"/>
            </a:solidFill>
            <a:prstDash val="solid"/>
          </a:ln>
        </p:spPr>
      </p:sp>
      <p:sp>
        <p:nvSpPr>
          <p:cNvPr id="4" name="Icon circle"/>
          <p:cNvSpPr/>
          <p:nvPr/>
        </p:nvSpPr>
        <p:spPr>
          <a:xfrm>
            <a:off x="1417320" y="1719072"/>
            <a:ext cx="548640" cy="548640"/>
          </a:xfrm>
          <a:prstGeom prst="ellipse">
            <a:avLst/>
          </a:prstGeom>
          <a:solidFill>
            <a:schemeClr val="accent1"/>
          </a:solidFill>
          <a:ln w="12700">
            <a:solidFill>
              <a:schemeClr val="accent1"/>
            </a:solidFill>
            <a:prstDash val="solid"/>
          </a:ln>
        </p:spPr>
      </p:sp>
      <p:pic>
        <p:nvPicPr>
          <p:cNvPr id="5" name="Icon FaGlobe" descr="Globe icon">    </p:cNvPr>
          <p:cNvPicPr>
            <a:picLocks noChangeAspect="1"/>
          </p:cNvPicPr>
          <p:nvPr/>
        </p:nvPicPr>
        <p:blipFill>
          <a:blip r:embed="rId1"/>
          <a:stretch>
            <a:fillRect/>
          </a:stretch>
        </p:blipFill>
        <p:spPr>
          <a:xfrm>
            <a:off x="1554480" y="1856232"/>
            <a:ext cx="274320" cy="274320"/>
          </a:xfrm>
          <a:prstGeom prst="rect">
            <a:avLst/>
          </a:prstGeom>
        </p:spPr>
      </p:pic>
      <p:sp>
        <p:nvSpPr>
          <p:cNvPr id="6" name="Text 3"/>
          <p:cNvSpPr txBox="1"/>
          <p:nvPr/>
        </p:nvSpPr>
        <p:spPr>
          <a:xfrm>
            <a:off x="685800" y="2377440"/>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User browser</a:t>
            </a:r>
            <a:endParaRPr lang="en-US" sz="1600" dirty="0"/>
          </a:p>
        </p:txBody>
      </p:sp>
      <p:sp>
        <p:nvSpPr>
          <p:cNvPr id="7" name="Text 4"/>
          <p:cNvSpPr txBox="1"/>
          <p:nvPr/>
        </p:nvSpPr>
        <p:spPr>
          <a:xfrm>
            <a:off x="685800" y="2715768"/>
            <a:ext cx="2011680" cy="320040"/>
          </a:xfrm>
          <a:prstGeom prst="rect">
            <a:avLst/>
          </a:prstGeom>
          <a:noFill/>
          <a:ln/>
        </p:spPr>
        <p:txBody>
          <a:bodyPr wrap="square" lIns="0" tIns="0" rIns="0" bIns="0" rtlCol="0" anchor="t"/>
          <a:lstStyle/>
          <a:p>
            <a:pPr algn="ctr" indent="0" marL="0">
              <a:buNone/>
            </a:pPr>
            <a:r>
              <a:rPr lang="en-US" sz="1200" dirty="0">
                <a:solidFill>
                  <a:schemeClr val="tx2"/>
                </a:solidFill>
              </a:rPr>
              <a:t>Guided 5 step form</a:t>
            </a:r>
            <a:endParaRPr lang="en-US" sz="1200" dirty="0"/>
          </a:p>
        </p:txBody>
      </p:sp>
      <p:sp>
        <p:nvSpPr>
          <p:cNvPr id="8" name="Node React 19 SPA"/>
          <p:cNvSpPr/>
          <p:nvPr/>
        </p:nvSpPr>
        <p:spPr>
          <a:xfrm>
            <a:off x="3520440" y="1554480"/>
            <a:ext cx="2194560" cy="1600200"/>
          </a:xfrm>
          <a:prstGeom prst="roundRect">
            <a:avLst>
              <a:gd name="adj" fmla="val 6857"/>
            </a:avLst>
          </a:prstGeom>
          <a:solidFill>
            <a:schemeClr val="bg2"/>
          </a:solidFill>
          <a:ln w="12700">
            <a:solidFill>
              <a:schemeClr val="bg2"/>
            </a:solidFill>
            <a:prstDash val="solid"/>
          </a:ln>
        </p:spPr>
      </p:sp>
      <p:sp>
        <p:nvSpPr>
          <p:cNvPr id="9" name="Icon circle"/>
          <p:cNvSpPr/>
          <p:nvPr/>
        </p:nvSpPr>
        <p:spPr>
          <a:xfrm>
            <a:off x="4343400" y="1719072"/>
            <a:ext cx="548640" cy="548640"/>
          </a:xfrm>
          <a:prstGeom prst="ellipse">
            <a:avLst/>
          </a:prstGeom>
          <a:solidFill>
            <a:schemeClr val="accent1"/>
          </a:solidFill>
          <a:ln w="12700">
            <a:solidFill>
              <a:schemeClr val="accent1"/>
            </a:solidFill>
            <a:prstDash val="solid"/>
          </a:ln>
        </p:spPr>
      </p:sp>
      <p:pic>
        <p:nvPicPr>
          <p:cNvPr id="10" name="Icon FaReact" descr="React icon">    </p:cNvPr>
          <p:cNvPicPr>
            <a:picLocks noChangeAspect="1"/>
          </p:cNvPicPr>
          <p:nvPr/>
        </p:nvPicPr>
        <p:blipFill>
          <a:blip r:embed="rId2"/>
          <a:stretch>
            <a:fillRect/>
          </a:stretch>
        </p:blipFill>
        <p:spPr>
          <a:xfrm>
            <a:off x="4480560" y="1856232"/>
            <a:ext cx="274320" cy="274320"/>
          </a:xfrm>
          <a:prstGeom prst="rect">
            <a:avLst/>
          </a:prstGeom>
        </p:spPr>
      </p:pic>
      <p:sp>
        <p:nvSpPr>
          <p:cNvPr id="11" name="Text 7"/>
          <p:cNvSpPr txBox="1"/>
          <p:nvPr/>
        </p:nvSpPr>
        <p:spPr>
          <a:xfrm>
            <a:off x="3611880" y="2377440"/>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React 19 SPA</a:t>
            </a:r>
            <a:endParaRPr lang="en-US" sz="1600" dirty="0"/>
          </a:p>
        </p:txBody>
      </p:sp>
      <p:sp>
        <p:nvSpPr>
          <p:cNvPr id="12" name="Text 8"/>
          <p:cNvSpPr txBox="1"/>
          <p:nvPr/>
        </p:nvSpPr>
        <p:spPr>
          <a:xfrm>
            <a:off x="3611880" y="2715768"/>
            <a:ext cx="2011680" cy="320040"/>
          </a:xfrm>
          <a:prstGeom prst="rect">
            <a:avLst/>
          </a:prstGeom>
          <a:noFill/>
          <a:ln/>
        </p:spPr>
        <p:txBody>
          <a:bodyPr wrap="square" lIns="0" tIns="0" rIns="0" bIns="0" rtlCol="0" anchor="t"/>
          <a:lstStyle/>
          <a:p>
            <a:pPr algn="ctr" indent="0" marL="0">
              <a:buNone/>
            </a:pPr>
            <a:r>
              <a:rPr lang="en-US" sz="1200" dirty="0">
                <a:solidFill>
                  <a:schemeClr val="tx2"/>
                </a:solidFill>
              </a:rPr>
              <a:t>Nginx, port 80</a:t>
            </a:r>
            <a:endParaRPr lang="en-US" sz="1200" dirty="0"/>
          </a:p>
        </p:txBody>
      </p:sp>
      <p:sp>
        <p:nvSpPr>
          <p:cNvPr id="13" name="Node Spring Boot API"/>
          <p:cNvSpPr/>
          <p:nvPr/>
        </p:nvSpPr>
        <p:spPr>
          <a:xfrm>
            <a:off x="6446520" y="1554480"/>
            <a:ext cx="2194560" cy="1600200"/>
          </a:xfrm>
          <a:prstGeom prst="roundRect">
            <a:avLst>
              <a:gd name="adj" fmla="val 6857"/>
            </a:avLst>
          </a:prstGeom>
          <a:solidFill>
            <a:schemeClr val="bg2"/>
          </a:solidFill>
          <a:ln w="12700">
            <a:solidFill>
              <a:schemeClr val="bg2"/>
            </a:solidFill>
            <a:prstDash val="solid"/>
          </a:ln>
        </p:spPr>
      </p:sp>
      <p:sp>
        <p:nvSpPr>
          <p:cNvPr id="14" name="Icon circle"/>
          <p:cNvSpPr/>
          <p:nvPr/>
        </p:nvSpPr>
        <p:spPr>
          <a:xfrm>
            <a:off x="7269480" y="1719072"/>
            <a:ext cx="548640" cy="548640"/>
          </a:xfrm>
          <a:prstGeom prst="ellipse">
            <a:avLst/>
          </a:prstGeom>
          <a:solidFill>
            <a:schemeClr val="accent1"/>
          </a:solidFill>
          <a:ln w="12700">
            <a:solidFill>
              <a:schemeClr val="accent1"/>
            </a:solidFill>
            <a:prstDash val="solid"/>
          </a:ln>
        </p:spPr>
      </p:sp>
      <p:pic>
        <p:nvPicPr>
          <p:cNvPr id="15" name="Icon FaJava" descr="Java icon">    </p:cNvPr>
          <p:cNvPicPr>
            <a:picLocks noChangeAspect="1"/>
          </p:cNvPicPr>
          <p:nvPr/>
        </p:nvPicPr>
        <p:blipFill>
          <a:blip r:embed="rId3"/>
          <a:stretch>
            <a:fillRect/>
          </a:stretch>
        </p:blipFill>
        <p:spPr>
          <a:xfrm>
            <a:off x="7406640" y="1856232"/>
            <a:ext cx="274320" cy="274320"/>
          </a:xfrm>
          <a:prstGeom prst="rect">
            <a:avLst/>
          </a:prstGeom>
        </p:spPr>
      </p:pic>
      <p:sp>
        <p:nvSpPr>
          <p:cNvPr id="16" name="Text 11"/>
          <p:cNvSpPr txBox="1"/>
          <p:nvPr/>
        </p:nvSpPr>
        <p:spPr>
          <a:xfrm>
            <a:off x="6537960" y="2377440"/>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Spring Boot API</a:t>
            </a:r>
            <a:endParaRPr lang="en-US" sz="1600" dirty="0"/>
          </a:p>
        </p:txBody>
      </p:sp>
      <p:sp>
        <p:nvSpPr>
          <p:cNvPr id="17" name="Text 12"/>
          <p:cNvSpPr txBox="1"/>
          <p:nvPr/>
        </p:nvSpPr>
        <p:spPr>
          <a:xfrm>
            <a:off x="6537960" y="2715768"/>
            <a:ext cx="2011680" cy="320040"/>
          </a:xfrm>
          <a:prstGeom prst="rect">
            <a:avLst/>
          </a:prstGeom>
          <a:noFill/>
          <a:ln/>
        </p:spPr>
        <p:txBody>
          <a:bodyPr wrap="square" lIns="0" tIns="0" rIns="0" bIns="0" rtlCol="0" anchor="t"/>
          <a:lstStyle/>
          <a:p>
            <a:pPr algn="ctr" indent="0" marL="0">
              <a:buNone/>
            </a:pPr>
            <a:r>
              <a:rPr lang="en-US" sz="1200" dirty="0">
                <a:solidFill>
                  <a:schemeClr val="tx2"/>
                </a:solidFill>
              </a:rPr>
              <a:t>Java 21, port 8080</a:t>
            </a:r>
            <a:endParaRPr lang="en-US" sz="1200" dirty="0"/>
          </a:p>
        </p:txBody>
      </p:sp>
      <p:sp>
        <p:nvSpPr>
          <p:cNvPr id="18" name="Node Flask ML service"/>
          <p:cNvSpPr/>
          <p:nvPr/>
        </p:nvSpPr>
        <p:spPr>
          <a:xfrm>
            <a:off x="9372600" y="1554480"/>
            <a:ext cx="2194560" cy="1600200"/>
          </a:xfrm>
          <a:prstGeom prst="roundRect">
            <a:avLst>
              <a:gd name="adj" fmla="val 6857"/>
            </a:avLst>
          </a:prstGeom>
          <a:solidFill>
            <a:schemeClr val="bg2"/>
          </a:solidFill>
          <a:ln w="12700">
            <a:solidFill>
              <a:schemeClr val="bg2"/>
            </a:solidFill>
            <a:prstDash val="solid"/>
          </a:ln>
        </p:spPr>
      </p:sp>
      <p:sp>
        <p:nvSpPr>
          <p:cNvPr id="19" name="Icon circle"/>
          <p:cNvSpPr/>
          <p:nvPr/>
        </p:nvSpPr>
        <p:spPr>
          <a:xfrm>
            <a:off x="10195560" y="1719072"/>
            <a:ext cx="548640" cy="548640"/>
          </a:xfrm>
          <a:prstGeom prst="ellipse">
            <a:avLst/>
          </a:prstGeom>
          <a:solidFill>
            <a:schemeClr val="accent2"/>
          </a:solidFill>
          <a:ln w="12700">
            <a:solidFill>
              <a:schemeClr val="accent2"/>
            </a:solidFill>
            <a:prstDash val="solid"/>
          </a:ln>
        </p:spPr>
      </p:sp>
      <p:pic>
        <p:nvPicPr>
          <p:cNvPr id="20" name="Icon FaPython" descr="Python icon">    </p:cNvPr>
          <p:cNvPicPr>
            <a:picLocks noChangeAspect="1"/>
          </p:cNvPicPr>
          <p:nvPr/>
        </p:nvPicPr>
        <p:blipFill>
          <a:blip r:embed="rId4"/>
          <a:stretch>
            <a:fillRect/>
          </a:stretch>
        </p:blipFill>
        <p:spPr>
          <a:xfrm>
            <a:off x="10332720" y="1856232"/>
            <a:ext cx="274320" cy="274320"/>
          </a:xfrm>
          <a:prstGeom prst="rect">
            <a:avLst/>
          </a:prstGeom>
        </p:spPr>
      </p:pic>
      <p:sp>
        <p:nvSpPr>
          <p:cNvPr id="21" name="Text 15"/>
          <p:cNvSpPr txBox="1"/>
          <p:nvPr/>
        </p:nvSpPr>
        <p:spPr>
          <a:xfrm>
            <a:off x="9464040" y="2377440"/>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Flask ML service</a:t>
            </a:r>
            <a:endParaRPr lang="en-US" sz="1600" dirty="0"/>
          </a:p>
        </p:txBody>
      </p:sp>
      <p:sp>
        <p:nvSpPr>
          <p:cNvPr id="22" name="Text 16"/>
          <p:cNvSpPr txBox="1"/>
          <p:nvPr/>
        </p:nvSpPr>
        <p:spPr>
          <a:xfrm>
            <a:off x="9464040" y="2715768"/>
            <a:ext cx="2011680" cy="320040"/>
          </a:xfrm>
          <a:prstGeom prst="rect">
            <a:avLst/>
          </a:prstGeom>
          <a:noFill/>
          <a:ln/>
        </p:spPr>
        <p:txBody>
          <a:bodyPr wrap="square" lIns="0" tIns="0" rIns="0" bIns="0" rtlCol="0" anchor="t"/>
          <a:lstStyle/>
          <a:p>
            <a:pPr algn="ctr" indent="0" marL="0">
              <a:buNone/>
            </a:pPr>
            <a:r>
              <a:rPr lang="en-US" sz="1200" dirty="0">
                <a:solidFill>
                  <a:schemeClr val="tx2"/>
                </a:solidFill>
              </a:rPr>
              <a:t>Random Forest, port 5002</a:t>
            </a:r>
            <a:endParaRPr lang="en-US" sz="1200" dirty="0"/>
          </a:p>
        </p:txBody>
      </p:sp>
      <p:sp>
        <p:nvSpPr>
          <p:cNvPr id="23" name="Arrow"/>
          <p:cNvSpPr/>
          <p:nvPr/>
        </p:nvSpPr>
        <p:spPr>
          <a:xfrm>
            <a:off x="2834640" y="2354580"/>
            <a:ext cx="640080" cy="0"/>
          </a:xfrm>
          <a:prstGeom prst="line">
            <a:avLst/>
          </a:prstGeom>
          <a:noFill/>
          <a:ln w="28575">
            <a:solidFill>
              <a:schemeClr val="tx2"/>
            </a:solidFill>
            <a:prstDash val="solid"/>
            <a:tailEnd type="triangle"/>
          </a:ln>
        </p:spPr>
      </p:sp>
      <p:sp>
        <p:nvSpPr>
          <p:cNvPr id="24" name="Arrow"/>
          <p:cNvSpPr/>
          <p:nvPr/>
        </p:nvSpPr>
        <p:spPr>
          <a:xfrm>
            <a:off x="5760720" y="2354580"/>
            <a:ext cx="640080" cy="0"/>
          </a:xfrm>
          <a:prstGeom prst="line">
            <a:avLst/>
          </a:prstGeom>
          <a:noFill/>
          <a:ln w="28575">
            <a:solidFill>
              <a:schemeClr val="tx2"/>
            </a:solidFill>
            <a:prstDash val="solid"/>
            <a:tailEnd type="triangle"/>
          </a:ln>
        </p:spPr>
      </p:sp>
      <p:sp>
        <p:nvSpPr>
          <p:cNvPr id="25" name="Arrow"/>
          <p:cNvSpPr/>
          <p:nvPr/>
        </p:nvSpPr>
        <p:spPr>
          <a:xfrm>
            <a:off x="8686800" y="2354580"/>
            <a:ext cx="640080" cy="0"/>
          </a:xfrm>
          <a:prstGeom prst="line">
            <a:avLst/>
          </a:prstGeom>
          <a:noFill/>
          <a:ln w="28575">
            <a:solidFill>
              <a:schemeClr val="tx2"/>
            </a:solidFill>
            <a:prstDash val="solid"/>
            <a:tailEnd type="triangle"/>
          </a:ln>
        </p:spPr>
      </p:sp>
      <p:sp>
        <p:nvSpPr>
          <p:cNvPr id="26" name="Arrow"/>
          <p:cNvSpPr/>
          <p:nvPr/>
        </p:nvSpPr>
        <p:spPr>
          <a:xfrm>
            <a:off x="7543800" y="3200400"/>
            <a:ext cx="0" cy="822960"/>
          </a:xfrm>
          <a:prstGeom prst="line">
            <a:avLst/>
          </a:prstGeom>
          <a:noFill/>
          <a:ln w="28575">
            <a:solidFill>
              <a:schemeClr val="tx2"/>
            </a:solidFill>
            <a:prstDash val="solid"/>
            <a:headEnd type="triangle"/>
            <a:tailEnd type="triangle"/>
          </a:ln>
        </p:spPr>
      </p:sp>
      <p:sp>
        <p:nvSpPr>
          <p:cNvPr id="27" name="Node PostgreSQL 15"/>
          <p:cNvSpPr/>
          <p:nvPr/>
        </p:nvSpPr>
        <p:spPr>
          <a:xfrm>
            <a:off x="6446520" y="4251960"/>
            <a:ext cx="2194560" cy="1600200"/>
          </a:xfrm>
          <a:prstGeom prst="roundRect">
            <a:avLst>
              <a:gd name="adj" fmla="val 6857"/>
            </a:avLst>
          </a:prstGeom>
          <a:solidFill>
            <a:schemeClr val="bg2"/>
          </a:solidFill>
          <a:ln w="12700">
            <a:solidFill>
              <a:schemeClr val="bg2"/>
            </a:solidFill>
            <a:prstDash val="solid"/>
          </a:ln>
        </p:spPr>
      </p:sp>
      <p:sp>
        <p:nvSpPr>
          <p:cNvPr id="28" name="Icon circle"/>
          <p:cNvSpPr/>
          <p:nvPr/>
        </p:nvSpPr>
        <p:spPr>
          <a:xfrm>
            <a:off x="7269480" y="4416552"/>
            <a:ext cx="548640" cy="548640"/>
          </a:xfrm>
          <a:prstGeom prst="ellipse">
            <a:avLst/>
          </a:prstGeom>
          <a:solidFill>
            <a:schemeClr val="accent1"/>
          </a:solidFill>
          <a:ln w="12700">
            <a:solidFill>
              <a:schemeClr val="accent1"/>
            </a:solidFill>
            <a:prstDash val="solid"/>
          </a:ln>
        </p:spPr>
      </p:sp>
      <p:pic>
        <p:nvPicPr>
          <p:cNvPr id="29" name="Icon FaDatabase" descr="Database icon">    </p:cNvPr>
          <p:cNvPicPr>
            <a:picLocks noChangeAspect="1"/>
          </p:cNvPicPr>
          <p:nvPr/>
        </p:nvPicPr>
        <p:blipFill>
          <a:blip r:embed="rId5"/>
          <a:stretch>
            <a:fillRect/>
          </a:stretch>
        </p:blipFill>
        <p:spPr>
          <a:xfrm>
            <a:off x="7406640" y="4553712"/>
            <a:ext cx="274320" cy="274320"/>
          </a:xfrm>
          <a:prstGeom prst="rect">
            <a:avLst/>
          </a:prstGeom>
        </p:spPr>
      </p:pic>
      <p:sp>
        <p:nvSpPr>
          <p:cNvPr id="30" name="Text 23"/>
          <p:cNvSpPr txBox="1"/>
          <p:nvPr/>
        </p:nvSpPr>
        <p:spPr>
          <a:xfrm>
            <a:off x="6537960" y="5074920"/>
            <a:ext cx="2011680" cy="320040"/>
          </a:xfrm>
          <a:prstGeom prst="rect">
            <a:avLst/>
          </a:prstGeom>
          <a:noFill/>
          <a:ln/>
        </p:spPr>
        <p:txBody>
          <a:bodyPr wrap="square" lIns="0" tIns="0" rIns="0" bIns="0" rtlCol="0" anchor="t"/>
          <a:lstStyle/>
          <a:p>
            <a:pPr algn="ctr" indent="0" marL="0">
              <a:buNone/>
            </a:pPr>
            <a:r>
              <a:rPr lang="en-US" sz="1600" b="1" dirty="0">
                <a:solidFill>
                  <a:schemeClr val="tx1"/>
                </a:solidFill>
              </a:rPr>
              <a:t>PostgreSQL 15</a:t>
            </a:r>
            <a:endParaRPr lang="en-US" sz="1600" dirty="0"/>
          </a:p>
        </p:txBody>
      </p:sp>
      <p:sp>
        <p:nvSpPr>
          <p:cNvPr id="31" name="Text 24"/>
          <p:cNvSpPr txBox="1"/>
          <p:nvPr/>
        </p:nvSpPr>
        <p:spPr>
          <a:xfrm>
            <a:off x="6537960" y="5413248"/>
            <a:ext cx="2011680" cy="320040"/>
          </a:xfrm>
          <a:prstGeom prst="rect">
            <a:avLst/>
          </a:prstGeom>
          <a:noFill/>
          <a:ln/>
        </p:spPr>
        <p:txBody>
          <a:bodyPr wrap="square" lIns="0" tIns="0" rIns="0" bIns="0" rtlCol="0" anchor="t"/>
          <a:lstStyle/>
          <a:p>
            <a:pPr algn="ctr" indent="0" marL="0">
              <a:buNone/>
            </a:pPr>
            <a:r>
              <a:rPr lang="en-US" sz="1200" dirty="0">
                <a:solidFill>
                  <a:schemeClr val="tx2"/>
                </a:solidFill>
              </a:rPr>
              <a:t>Users and history</a:t>
            </a:r>
            <a:endParaRPr lang="en-US" sz="1200" dirty="0"/>
          </a:p>
        </p:txBody>
      </p:sp>
      <p:sp>
        <p:nvSpPr>
          <p:cNvPr id="32" name="Flow note"/>
          <p:cNvSpPr/>
          <p:nvPr/>
        </p:nvSpPr>
        <p:spPr>
          <a:xfrm>
            <a:off x="548640" y="4251960"/>
            <a:ext cx="5577840" cy="1600200"/>
          </a:xfrm>
          <a:prstGeom prst="roundRect">
            <a:avLst>
              <a:gd name="adj" fmla="val 6857"/>
            </a:avLst>
          </a:prstGeom>
          <a:solidFill>
            <a:schemeClr val="accent4"/>
          </a:solidFill>
          <a:ln w="12700">
            <a:solidFill>
              <a:schemeClr val="accent4"/>
            </a:solidFill>
            <a:prstDash val="solid"/>
          </a:ln>
        </p:spPr>
      </p:sp>
      <p:sp>
        <p:nvSpPr>
          <p:cNvPr id="33" name="Text 26"/>
          <p:cNvSpPr txBox="1"/>
          <p:nvPr/>
        </p:nvSpPr>
        <p:spPr>
          <a:xfrm>
            <a:off x="822960" y="4434840"/>
            <a:ext cx="5029200" cy="365760"/>
          </a:xfrm>
          <a:prstGeom prst="rect">
            <a:avLst/>
          </a:prstGeom>
          <a:noFill/>
          <a:ln/>
        </p:spPr>
        <p:txBody>
          <a:bodyPr wrap="square" lIns="0" tIns="0" rIns="0" bIns="0" rtlCol="0" anchor="t"/>
          <a:lstStyle/>
          <a:p>
            <a:pPr indent="0" marL="0">
              <a:buNone/>
            </a:pPr>
            <a:r>
              <a:rPr lang="en-US" sz="1800" b="1" dirty="0">
                <a:solidFill>
                  <a:schemeClr val="accent2"/>
                </a:solidFill>
              </a:rPr>
              <a:t>One prediction</a:t>
            </a:r>
            <a:endParaRPr lang="en-US" sz="1800" dirty="0"/>
          </a:p>
        </p:txBody>
      </p:sp>
      <p:sp>
        <p:nvSpPr>
          <p:cNvPr id="34" name="Text 27"/>
          <p:cNvSpPr txBox="1"/>
          <p:nvPr/>
        </p:nvSpPr>
        <p:spPr>
          <a:xfrm>
            <a:off x="822960" y="4846320"/>
            <a:ext cx="5029200" cy="960120"/>
          </a:xfrm>
          <a:prstGeom prst="rect">
            <a:avLst/>
          </a:prstGeom>
          <a:noFill/>
          <a:ln/>
        </p:spPr>
        <p:txBody>
          <a:bodyPr wrap="square" lIns="0" tIns="0" rIns="0" bIns="0" rtlCol="0" anchor="t"/>
          <a:lstStyle/>
          <a:p>
            <a:pPr indent="0" marL="0">
              <a:buNone/>
            </a:pPr>
            <a:r>
              <a:rPr lang="en-US" sz="1400" dirty="0">
                <a:solidFill>
                  <a:schemeClr val="tx1"/>
                </a:solidFill>
              </a:rPr>
              <a:t>The React form posts 11 clinical values to the Spring Boot API. The API forwards them to the Flask model, saves the returned risk percentage and sends it back to the browser.</a:t>
            </a:r>
            <a:endParaRPr lang="en-US" sz="1400" dirty="0"/>
          </a:p>
        </p:txBody>
      </p:sp>
      <p:sp>
        <p:nvSpPr>
          <p:cNvPr id="35" name="Text 28"/>
          <p:cNvSpPr txBox="1"/>
          <p:nvPr/>
        </p:nvSpPr>
        <p:spPr>
          <a:xfrm>
            <a:off x="8915400" y="4754880"/>
            <a:ext cx="2468880" cy="731520"/>
          </a:xfrm>
          <a:prstGeom prst="rect">
            <a:avLst/>
          </a:prstGeom>
          <a:noFill/>
          <a:ln/>
        </p:spPr>
        <p:txBody>
          <a:bodyPr wrap="square" lIns="0" tIns="0" rIns="0" bIns="0" rtlCol="0" anchor="t"/>
          <a:lstStyle/>
          <a:p>
            <a:pPr indent="0" marL="0">
              <a:buNone/>
            </a:pPr>
            <a:r>
              <a:rPr lang="en-US" sz="1400" dirty="0">
                <a:solidFill>
                  <a:schemeClr val="tx2"/>
                </a:solidFill>
              </a:rPr>
              <a:t>Stored in a Docker volume locally and in Kubernetes for production</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full technology stack</a:t>
            </a:r>
            <a:endParaRPr lang="en-US" sz="3200" dirty="0"/>
          </a:p>
        </p:txBody>
      </p:sp>
      <p:sp>
        <p:nvSpPr>
          <p:cNvPr id="3" name="Stack Frontend"/>
          <p:cNvSpPr/>
          <p:nvPr/>
        </p:nvSpPr>
        <p:spPr>
          <a:xfrm>
            <a:off x="548640" y="1417320"/>
            <a:ext cx="3514344" cy="1463040"/>
          </a:xfrm>
          <a:prstGeom prst="roundRect">
            <a:avLst>
              <a:gd name="adj" fmla="val 7500"/>
            </a:avLst>
          </a:prstGeom>
          <a:solidFill>
            <a:schemeClr val="bg2"/>
          </a:solidFill>
          <a:ln w="12700">
            <a:solidFill>
              <a:schemeClr val="bg2"/>
            </a:solidFill>
            <a:prstDash val="solid"/>
          </a:ln>
        </p:spPr>
      </p:sp>
      <p:sp>
        <p:nvSpPr>
          <p:cNvPr id="4" name="Icon circle"/>
          <p:cNvSpPr/>
          <p:nvPr/>
        </p:nvSpPr>
        <p:spPr>
          <a:xfrm>
            <a:off x="777240" y="1783080"/>
            <a:ext cx="731520" cy="731520"/>
          </a:xfrm>
          <a:prstGeom prst="ellipse">
            <a:avLst/>
          </a:prstGeom>
          <a:solidFill>
            <a:schemeClr val="accent1"/>
          </a:solidFill>
          <a:ln w="12700">
            <a:solidFill>
              <a:schemeClr val="accent1"/>
            </a:solidFill>
            <a:prstDash val="solid"/>
          </a:ln>
        </p:spPr>
      </p:sp>
      <p:pic>
        <p:nvPicPr>
          <p:cNvPr id="5" name="Icon FaReact" descr="React icon">    </p:cNvPr>
          <p:cNvPicPr>
            <a:picLocks noChangeAspect="1"/>
          </p:cNvPicPr>
          <p:nvPr/>
        </p:nvPicPr>
        <p:blipFill>
          <a:blip r:embed="rId1"/>
          <a:stretch>
            <a:fillRect/>
          </a:stretch>
        </p:blipFill>
        <p:spPr>
          <a:xfrm>
            <a:off x="960120" y="1965960"/>
            <a:ext cx="365760" cy="365760"/>
          </a:xfrm>
          <a:prstGeom prst="rect">
            <a:avLst/>
          </a:prstGeom>
        </p:spPr>
      </p:pic>
      <p:sp>
        <p:nvSpPr>
          <p:cNvPr id="6" name="Text 3"/>
          <p:cNvSpPr txBox="1"/>
          <p:nvPr/>
        </p:nvSpPr>
        <p:spPr>
          <a:xfrm>
            <a:off x="1691640" y="1691640"/>
            <a:ext cx="2188464" cy="365760"/>
          </a:xfrm>
          <a:prstGeom prst="rect">
            <a:avLst/>
          </a:prstGeom>
          <a:noFill/>
          <a:ln/>
        </p:spPr>
        <p:txBody>
          <a:bodyPr wrap="square" lIns="0" tIns="0" rIns="0" bIns="0" rtlCol="0" anchor="t"/>
          <a:lstStyle/>
          <a:p>
            <a:pPr indent="0" marL="0">
              <a:buNone/>
            </a:pPr>
            <a:r>
              <a:rPr lang="en-US" sz="1800" b="1" dirty="0">
                <a:solidFill>
                  <a:schemeClr val="tx1"/>
                </a:solidFill>
              </a:rPr>
              <a:t>Frontend</a:t>
            </a:r>
            <a:endParaRPr lang="en-US" sz="1800" dirty="0"/>
          </a:p>
        </p:txBody>
      </p:sp>
      <p:sp>
        <p:nvSpPr>
          <p:cNvPr id="7" name="Text 4"/>
          <p:cNvSpPr txBox="1"/>
          <p:nvPr/>
        </p:nvSpPr>
        <p:spPr>
          <a:xfrm>
            <a:off x="1691640" y="2103120"/>
            <a:ext cx="2188464" cy="685800"/>
          </a:xfrm>
          <a:prstGeom prst="rect">
            <a:avLst/>
          </a:prstGeom>
          <a:noFill/>
          <a:ln/>
        </p:spPr>
        <p:txBody>
          <a:bodyPr wrap="square" lIns="0" tIns="0" rIns="0" bIns="0" rtlCol="0" anchor="t"/>
          <a:lstStyle/>
          <a:p>
            <a:pPr indent="0" marL="0">
              <a:buNone/>
            </a:pPr>
            <a:r>
              <a:rPr lang="en-US" sz="1400" dirty="0">
                <a:solidFill>
                  <a:schemeClr val="tx1"/>
                </a:solidFill>
              </a:rPr>
              <a:t>React 19, react router 7, framer motion</a:t>
            </a:r>
            <a:endParaRPr lang="en-US" sz="1400" dirty="0"/>
          </a:p>
        </p:txBody>
      </p:sp>
      <p:sp>
        <p:nvSpPr>
          <p:cNvPr id="8" name="Stack Backend"/>
          <p:cNvSpPr/>
          <p:nvPr/>
        </p:nvSpPr>
        <p:spPr>
          <a:xfrm>
            <a:off x="4337304" y="1417320"/>
            <a:ext cx="3514344" cy="1463040"/>
          </a:xfrm>
          <a:prstGeom prst="roundRect">
            <a:avLst>
              <a:gd name="adj" fmla="val 7500"/>
            </a:avLst>
          </a:prstGeom>
          <a:solidFill>
            <a:schemeClr val="bg2"/>
          </a:solidFill>
          <a:ln w="12700">
            <a:solidFill>
              <a:schemeClr val="bg2"/>
            </a:solidFill>
            <a:prstDash val="solid"/>
          </a:ln>
        </p:spPr>
      </p:sp>
      <p:sp>
        <p:nvSpPr>
          <p:cNvPr id="9" name="Icon circle"/>
          <p:cNvSpPr/>
          <p:nvPr/>
        </p:nvSpPr>
        <p:spPr>
          <a:xfrm>
            <a:off x="4565904" y="1783080"/>
            <a:ext cx="731520" cy="731520"/>
          </a:xfrm>
          <a:prstGeom prst="ellipse">
            <a:avLst/>
          </a:prstGeom>
          <a:solidFill>
            <a:schemeClr val="accent1"/>
          </a:solidFill>
          <a:ln w="12700">
            <a:solidFill>
              <a:schemeClr val="accent1"/>
            </a:solidFill>
            <a:prstDash val="solid"/>
          </a:ln>
        </p:spPr>
      </p:sp>
      <p:pic>
        <p:nvPicPr>
          <p:cNvPr id="10" name="Icon FaJava" descr="Java icon">    </p:cNvPr>
          <p:cNvPicPr>
            <a:picLocks noChangeAspect="1"/>
          </p:cNvPicPr>
          <p:nvPr/>
        </p:nvPicPr>
        <p:blipFill>
          <a:blip r:embed="rId2"/>
          <a:stretch>
            <a:fillRect/>
          </a:stretch>
        </p:blipFill>
        <p:spPr>
          <a:xfrm>
            <a:off x="4748784" y="1965960"/>
            <a:ext cx="365760" cy="365760"/>
          </a:xfrm>
          <a:prstGeom prst="rect">
            <a:avLst/>
          </a:prstGeom>
        </p:spPr>
      </p:pic>
      <p:sp>
        <p:nvSpPr>
          <p:cNvPr id="11" name="Text 7"/>
          <p:cNvSpPr txBox="1"/>
          <p:nvPr/>
        </p:nvSpPr>
        <p:spPr>
          <a:xfrm>
            <a:off x="5480304" y="1691640"/>
            <a:ext cx="2188464" cy="365760"/>
          </a:xfrm>
          <a:prstGeom prst="rect">
            <a:avLst/>
          </a:prstGeom>
          <a:noFill/>
          <a:ln/>
        </p:spPr>
        <p:txBody>
          <a:bodyPr wrap="square" lIns="0" tIns="0" rIns="0" bIns="0" rtlCol="0" anchor="t"/>
          <a:lstStyle/>
          <a:p>
            <a:pPr indent="0" marL="0">
              <a:buNone/>
            </a:pPr>
            <a:r>
              <a:rPr lang="en-US" sz="1800" b="1" dirty="0">
                <a:solidFill>
                  <a:schemeClr val="tx1"/>
                </a:solidFill>
              </a:rPr>
              <a:t>Backend</a:t>
            </a:r>
            <a:endParaRPr lang="en-US" sz="1800" dirty="0"/>
          </a:p>
        </p:txBody>
      </p:sp>
      <p:sp>
        <p:nvSpPr>
          <p:cNvPr id="12" name="Text 8"/>
          <p:cNvSpPr txBox="1"/>
          <p:nvPr/>
        </p:nvSpPr>
        <p:spPr>
          <a:xfrm>
            <a:off x="5480304" y="2103120"/>
            <a:ext cx="2188464" cy="685800"/>
          </a:xfrm>
          <a:prstGeom prst="rect">
            <a:avLst/>
          </a:prstGeom>
          <a:noFill/>
          <a:ln/>
        </p:spPr>
        <p:txBody>
          <a:bodyPr wrap="square" lIns="0" tIns="0" rIns="0" bIns="0" rtlCol="0" anchor="t"/>
          <a:lstStyle/>
          <a:p>
            <a:pPr indent="0" marL="0">
              <a:buNone/>
            </a:pPr>
            <a:r>
              <a:rPr lang="en-US" sz="1400" dirty="0">
                <a:solidFill>
                  <a:schemeClr val="tx1"/>
                </a:solidFill>
              </a:rPr>
              <a:t>Spring Boot 3.1 on Java 21</a:t>
            </a:r>
            <a:endParaRPr lang="en-US" sz="1400" dirty="0"/>
          </a:p>
        </p:txBody>
      </p:sp>
      <p:sp>
        <p:nvSpPr>
          <p:cNvPr id="13" name="Stack ML service"/>
          <p:cNvSpPr/>
          <p:nvPr/>
        </p:nvSpPr>
        <p:spPr>
          <a:xfrm>
            <a:off x="8125968" y="1417320"/>
            <a:ext cx="3514344" cy="1463040"/>
          </a:xfrm>
          <a:prstGeom prst="roundRect">
            <a:avLst>
              <a:gd name="adj" fmla="val 7500"/>
            </a:avLst>
          </a:prstGeom>
          <a:solidFill>
            <a:schemeClr val="bg2"/>
          </a:solidFill>
          <a:ln w="12700">
            <a:solidFill>
              <a:schemeClr val="bg2"/>
            </a:solidFill>
            <a:prstDash val="solid"/>
          </a:ln>
        </p:spPr>
      </p:sp>
      <p:sp>
        <p:nvSpPr>
          <p:cNvPr id="14" name="Icon circle"/>
          <p:cNvSpPr/>
          <p:nvPr/>
        </p:nvSpPr>
        <p:spPr>
          <a:xfrm>
            <a:off x="8354568" y="1783080"/>
            <a:ext cx="731520" cy="731520"/>
          </a:xfrm>
          <a:prstGeom prst="ellipse">
            <a:avLst/>
          </a:prstGeom>
          <a:solidFill>
            <a:schemeClr val="accent1"/>
          </a:solidFill>
          <a:ln w="12700">
            <a:solidFill>
              <a:schemeClr val="accent1"/>
            </a:solidFill>
            <a:prstDash val="solid"/>
          </a:ln>
        </p:spPr>
      </p:sp>
      <p:pic>
        <p:nvPicPr>
          <p:cNvPr id="15" name="Icon FaPython" descr="Python icon">    </p:cNvPr>
          <p:cNvPicPr>
            <a:picLocks noChangeAspect="1"/>
          </p:cNvPicPr>
          <p:nvPr/>
        </p:nvPicPr>
        <p:blipFill>
          <a:blip r:embed="rId3"/>
          <a:stretch>
            <a:fillRect/>
          </a:stretch>
        </p:blipFill>
        <p:spPr>
          <a:xfrm>
            <a:off x="8537448" y="1965960"/>
            <a:ext cx="365760" cy="365760"/>
          </a:xfrm>
          <a:prstGeom prst="rect">
            <a:avLst/>
          </a:prstGeom>
        </p:spPr>
      </p:pic>
      <p:sp>
        <p:nvSpPr>
          <p:cNvPr id="16" name="Text 11"/>
          <p:cNvSpPr txBox="1"/>
          <p:nvPr/>
        </p:nvSpPr>
        <p:spPr>
          <a:xfrm>
            <a:off x="9268968" y="1691640"/>
            <a:ext cx="2188464" cy="365760"/>
          </a:xfrm>
          <a:prstGeom prst="rect">
            <a:avLst/>
          </a:prstGeom>
          <a:noFill/>
          <a:ln/>
        </p:spPr>
        <p:txBody>
          <a:bodyPr wrap="square" lIns="0" tIns="0" rIns="0" bIns="0" rtlCol="0" anchor="t"/>
          <a:lstStyle/>
          <a:p>
            <a:pPr indent="0" marL="0">
              <a:buNone/>
            </a:pPr>
            <a:r>
              <a:rPr lang="en-US" sz="1800" b="1" dirty="0">
                <a:solidFill>
                  <a:schemeClr val="tx1"/>
                </a:solidFill>
              </a:rPr>
              <a:t>ML service</a:t>
            </a:r>
            <a:endParaRPr lang="en-US" sz="1800" dirty="0"/>
          </a:p>
        </p:txBody>
      </p:sp>
      <p:sp>
        <p:nvSpPr>
          <p:cNvPr id="17" name="Text 12"/>
          <p:cNvSpPr txBox="1"/>
          <p:nvPr/>
        </p:nvSpPr>
        <p:spPr>
          <a:xfrm>
            <a:off x="9268968" y="2103120"/>
            <a:ext cx="2188464" cy="685800"/>
          </a:xfrm>
          <a:prstGeom prst="rect">
            <a:avLst/>
          </a:prstGeom>
          <a:noFill/>
          <a:ln/>
        </p:spPr>
        <p:txBody>
          <a:bodyPr wrap="square" lIns="0" tIns="0" rIns="0" bIns="0" rtlCol="0" anchor="t"/>
          <a:lstStyle/>
          <a:p>
            <a:pPr indent="0" marL="0">
              <a:buNone/>
            </a:pPr>
            <a:r>
              <a:rPr lang="en-US" sz="1400" dirty="0">
                <a:solidFill>
                  <a:schemeClr val="tx1"/>
                </a:solidFill>
              </a:rPr>
              <a:t>Python Flask, custom Random Forest in NumPy</a:t>
            </a:r>
            <a:endParaRPr lang="en-US" sz="1400" dirty="0"/>
          </a:p>
        </p:txBody>
      </p:sp>
      <p:sp>
        <p:nvSpPr>
          <p:cNvPr id="18" name="Stack Database"/>
          <p:cNvSpPr/>
          <p:nvPr/>
        </p:nvSpPr>
        <p:spPr>
          <a:xfrm>
            <a:off x="548640" y="3063240"/>
            <a:ext cx="3514344" cy="1463040"/>
          </a:xfrm>
          <a:prstGeom prst="roundRect">
            <a:avLst>
              <a:gd name="adj" fmla="val 7500"/>
            </a:avLst>
          </a:prstGeom>
          <a:solidFill>
            <a:schemeClr val="bg2"/>
          </a:solidFill>
          <a:ln w="12700">
            <a:solidFill>
              <a:schemeClr val="bg2"/>
            </a:solidFill>
            <a:prstDash val="solid"/>
          </a:ln>
        </p:spPr>
      </p:sp>
      <p:sp>
        <p:nvSpPr>
          <p:cNvPr id="19" name="Icon circle"/>
          <p:cNvSpPr/>
          <p:nvPr/>
        </p:nvSpPr>
        <p:spPr>
          <a:xfrm>
            <a:off x="777240" y="3429000"/>
            <a:ext cx="731520" cy="731520"/>
          </a:xfrm>
          <a:prstGeom prst="ellipse">
            <a:avLst/>
          </a:prstGeom>
          <a:solidFill>
            <a:schemeClr val="accent2"/>
          </a:solidFill>
          <a:ln w="12700">
            <a:solidFill>
              <a:schemeClr val="accent2"/>
            </a:solidFill>
            <a:prstDash val="solid"/>
          </a:ln>
        </p:spPr>
      </p:sp>
      <p:pic>
        <p:nvPicPr>
          <p:cNvPr id="20" name="Icon FaDatabase" descr="Database icon">    </p:cNvPr>
          <p:cNvPicPr>
            <a:picLocks noChangeAspect="1"/>
          </p:cNvPicPr>
          <p:nvPr/>
        </p:nvPicPr>
        <p:blipFill>
          <a:blip r:embed="rId4"/>
          <a:stretch>
            <a:fillRect/>
          </a:stretch>
        </p:blipFill>
        <p:spPr>
          <a:xfrm>
            <a:off x="960120" y="3611880"/>
            <a:ext cx="365760" cy="365760"/>
          </a:xfrm>
          <a:prstGeom prst="rect">
            <a:avLst/>
          </a:prstGeom>
        </p:spPr>
      </p:pic>
      <p:sp>
        <p:nvSpPr>
          <p:cNvPr id="21" name="Text 15"/>
          <p:cNvSpPr txBox="1"/>
          <p:nvPr/>
        </p:nvSpPr>
        <p:spPr>
          <a:xfrm>
            <a:off x="1691640" y="3337560"/>
            <a:ext cx="2188464" cy="365760"/>
          </a:xfrm>
          <a:prstGeom prst="rect">
            <a:avLst/>
          </a:prstGeom>
          <a:noFill/>
          <a:ln/>
        </p:spPr>
        <p:txBody>
          <a:bodyPr wrap="square" lIns="0" tIns="0" rIns="0" bIns="0" rtlCol="0" anchor="t"/>
          <a:lstStyle/>
          <a:p>
            <a:pPr indent="0" marL="0">
              <a:buNone/>
            </a:pPr>
            <a:r>
              <a:rPr lang="en-US" sz="1800" b="1" dirty="0">
                <a:solidFill>
                  <a:schemeClr val="tx1"/>
                </a:solidFill>
              </a:rPr>
              <a:t>Database</a:t>
            </a:r>
            <a:endParaRPr lang="en-US" sz="1800" dirty="0"/>
          </a:p>
        </p:txBody>
      </p:sp>
      <p:sp>
        <p:nvSpPr>
          <p:cNvPr id="22" name="Text 16"/>
          <p:cNvSpPr txBox="1"/>
          <p:nvPr/>
        </p:nvSpPr>
        <p:spPr>
          <a:xfrm>
            <a:off x="1691640" y="3749040"/>
            <a:ext cx="2188464" cy="685800"/>
          </a:xfrm>
          <a:prstGeom prst="rect">
            <a:avLst/>
          </a:prstGeom>
          <a:noFill/>
          <a:ln/>
        </p:spPr>
        <p:txBody>
          <a:bodyPr wrap="square" lIns="0" tIns="0" rIns="0" bIns="0" rtlCol="0" anchor="t"/>
          <a:lstStyle/>
          <a:p>
            <a:pPr indent="0" marL="0">
              <a:buNone/>
            </a:pPr>
            <a:r>
              <a:rPr lang="en-US" sz="1400" dirty="0">
                <a:solidFill>
                  <a:schemeClr val="tx1"/>
                </a:solidFill>
              </a:rPr>
              <a:t>PostgreSQL 15 Alpine in Docker and Kubernetes</a:t>
            </a:r>
            <a:endParaRPr lang="en-US" sz="1400" dirty="0"/>
          </a:p>
        </p:txBody>
      </p:sp>
      <p:sp>
        <p:nvSpPr>
          <p:cNvPr id="23" name="Stack Containers"/>
          <p:cNvSpPr/>
          <p:nvPr/>
        </p:nvSpPr>
        <p:spPr>
          <a:xfrm>
            <a:off x="4337304" y="3063240"/>
            <a:ext cx="3514344" cy="1463040"/>
          </a:xfrm>
          <a:prstGeom prst="roundRect">
            <a:avLst>
              <a:gd name="adj" fmla="val 7500"/>
            </a:avLst>
          </a:prstGeom>
          <a:solidFill>
            <a:schemeClr val="accent4"/>
          </a:solidFill>
          <a:ln w="12700">
            <a:solidFill>
              <a:schemeClr val="accent4"/>
            </a:solidFill>
            <a:prstDash val="solid"/>
          </a:ln>
        </p:spPr>
      </p:sp>
      <p:sp>
        <p:nvSpPr>
          <p:cNvPr id="24" name="Icon circle"/>
          <p:cNvSpPr/>
          <p:nvPr/>
        </p:nvSpPr>
        <p:spPr>
          <a:xfrm>
            <a:off x="4565904" y="3429000"/>
            <a:ext cx="731520" cy="731520"/>
          </a:xfrm>
          <a:prstGeom prst="ellipse">
            <a:avLst/>
          </a:prstGeom>
          <a:solidFill>
            <a:schemeClr val="accent2"/>
          </a:solidFill>
          <a:ln w="12700">
            <a:solidFill>
              <a:schemeClr val="accent2"/>
            </a:solidFill>
            <a:prstDash val="solid"/>
          </a:ln>
        </p:spPr>
      </p:sp>
      <p:pic>
        <p:nvPicPr>
          <p:cNvPr id="25" name="Icon FaDocker" descr="Docker icon">    </p:cNvPr>
          <p:cNvPicPr>
            <a:picLocks noChangeAspect="1"/>
          </p:cNvPicPr>
          <p:nvPr/>
        </p:nvPicPr>
        <p:blipFill>
          <a:blip r:embed="rId5"/>
          <a:stretch>
            <a:fillRect/>
          </a:stretch>
        </p:blipFill>
        <p:spPr>
          <a:xfrm>
            <a:off x="4748784" y="3611880"/>
            <a:ext cx="365760" cy="365760"/>
          </a:xfrm>
          <a:prstGeom prst="rect">
            <a:avLst/>
          </a:prstGeom>
        </p:spPr>
      </p:pic>
      <p:sp>
        <p:nvSpPr>
          <p:cNvPr id="26" name="Text 19"/>
          <p:cNvSpPr txBox="1"/>
          <p:nvPr/>
        </p:nvSpPr>
        <p:spPr>
          <a:xfrm>
            <a:off x="5480304" y="3337560"/>
            <a:ext cx="2188464" cy="365760"/>
          </a:xfrm>
          <a:prstGeom prst="rect">
            <a:avLst/>
          </a:prstGeom>
          <a:noFill/>
          <a:ln/>
        </p:spPr>
        <p:txBody>
          <a:bodyPr wrap="square" lIns="0" tIns="0" rIns="0" bIns="0" rtlCol="0" anchor="t"/>
          <a:lstStyle/>
          <a:p>
            <a:pPr indent="0" marL="0">
              <a:buNone/>
            </a:pPr>
            <a:r>
              <a:rPr lang="en-US" sz="1800" b="1" dirty="0">
                <a:solidFill>
                  <a:schemeClr val="tx1"/>
                </a:solidFill>
              </a:rPr>
              <a:t>Containers</a:t>
            </a:r>
            <a:endParaRPr lang="en-US" sz="1800" dirty="0"/>
          </a:p>
        </p:txBody>
      </p:sp>
      <p:sp>
        <p:nvSpPr>
          <p:cNvPr id="27" name="Text 20"/>
          <p:cNvSpPr txBox="1"/>
          <p:nvPr/>
        </p:nvSpPr>
        <p:spPr>
          <a:xfrm>
            <a:off x="5480304" y="3749040"/>
            <a:ext cx="2188464" cy="685800"/>
          </a:xfrm>
          <a:prstGeom prst="rect">
            <a:avLst/>
          </a:prstGeom>
          <a:noFill/>
          <a:ln/>
        </p:spPr>
        <p:txBody>
          <a:bodyPr wrap="square" lIns="0" tIns="0" rIns="0" bIns="0" rtlCol="0" anchor="t"/>
          <a:lstStyle/>
          <a:p>
            <a:pPr indent="0" marL="0">
              <a:buNone/>
            </a:pPr>
            <a:r>
              <a:rPr lang="en-US" sz="1400" dirty="0">
                <a:solidFill>
                  <a:schemeClr val="tx1"/>
                </a:solidFill>
              </a:rPr>
              <a:t>Docker with 2 multi stage Dockerfiles</a:t>
            </a:r>
            <a:endParaRPr lang="en-US" sz="1400" dirty="0"/>
          </a:p>
        </p:txBody>
      </p:sp>
      <p:sp>
        <p:nvSpPr>
          <p:cNvPr id="28" name="Stack Orchestration"/>
          <p:cNvSpPr/>
          <p:nvPr/>
        </p:nvSpPr>
        <p:spPr>
          <a:xfrm>
            <a:off x="8125968" y="3063240"/>
            <a:ext cx="3514344" cy="1463040"/>
          </a:xfrm>
          <a:prstGeom prst="roundRect">
            <a:avLst>
              <a:gd name="adj" fmla="val 7500"/>
            </a:avLst>
          </a:prstGeom>
          <a:solidFill>
            <a:schemeClr val="bg2"/>
          </a:solidFill>
          <a:ln w="12700">
            <a:solidFill>
              <a:schemeClr val="bg2"/>
            </a:solidFill>
            <a:prstDash val="solid"/>
          </a:ln>
        </p:spPr>
      </p:sp>
      <p:sp>
        <p:nvSpPr>
          <p:cNvPr id="29" name="Icon circle"/>
          <p:cNvSpPr/>
          <p:nvPr/>
        </p:nvSpPr>
        <p:spPr>
          <a:xfrm>
            <a:off x="8354568" y="3429000"/>
            <a:ext cx="731520" cy="731520"/>
          </a:xfrm>
          <a:prstGeom prst="ellipse">
            <a:avLst/>
          </a:prstGeom>
          <a:solidFill>
            <a:schemeClr val="accent2"/>
          </a:solidFill>
          <a:ln w="12700">
            <a:solidFill>
              <a:schemeClr val="accent2"/>
            </a:solidFill>
            <a:prstDash val="solid"/>
          </a:ln>
        </p:spPr>
      </p:sp>
      <p:pic>
        <p:nvPicPr>
          <p:cNvPr id="30" name="Icon FaCubes" descr="Cubes icon">    </p:cNvPr>
          <p:cNvPicPr>
            <a:picLocks noChangeAspect="1"/>
          </p:cNvPicPr>
          <p:nvPr/>
        </p:nvPicPr>
        <p:blipFill>
          <a:blip r:embed="rId6"/>
          <a:stretch>
            <a:fillRect/>
          </a:stretch>
        </p:blipFill>
        <p:spPr>
          <a:xfrm>
            <a:off x="8537448" y="3611880"/>
            <a:ext cx="365760" cy="365760"/>
          </a:xfrm>
          <a:prstGeom prst="rect">
            <a:avLst/>
          </a:prstGeom>
        </p:spPr>
      </p:pic>
      <p:sp>
        <p:nvSpPr>
          <p:cNvPr id="31" name="Text 23"/>
          <p:cNvSpPr txBox="1"/>
          <p:nvPr/>
        </p:nvSpPr>
        <p:spPr>
          <a:xfrm>
            <a:off x="9268968" y="3337560"/>
            <a:ext cx="2188464" cy="365760"/>
          </a:xfrm>
          <a:prstGeom prst="rect">
            <a:avLst/>
          </a:prstGeom>
          <a:noFill/>
          <a:ln/>
        </p:spPr>
        <p:txBody>
          <a:bodyPr wrap="square" lIns="0" tIns="0" rIns="0" bIns="0" rtlCol="0" anchor="t"/>
          <a:lstStyle/>
          <a:p>
            <a:pPr indent="0" marL="0">
              <a:buNone/>
            </a:pPr>
            <a:r>
              <a:rPr lang="en-US" sz="1800" b="1" dirty="0">
                <a:solidFill>
                  <a:schemeClr val="tx1"/>
                </a:solidFill>
              </a:rPr>
              <a:t>Orchestration</a:t>
            </a:r>
            <a:endParaRPr lang="en-US" sz="1800" dirty="0"/>
          </a:p>
        </p:txBody>
      </p:sp>
      <p:sp>
        <p:nvSpPr>
          <p:cNvPr id="32" name="Text 24"/>
          <p:cNvSpPr txBox="1"/>
          <p:nvPr/>
        </p:nvSpPr>
        <p:spPr>
          <a:xfrm>
            <a:off x="9268968" y="3749040"/>
            <a:ext cx="2188464" cy="685800"/>
          </a:xfrm>
          <a:prstGeom prst="rect">
            <a:avLst/>
          </a:prstGeom>
          <a:noFill/>
          <a:ln/>
        </p:spPr>
        <p:txBody>
          <a:bodyPr wrap="square" lIns="0" tIns="0" rIns="0" bIns="0" rtlCol="0" anchor="t"/>
          <a:lstStyle/>
          <a:p>
            <a:pPr indent="0" marL="0">
              <a:buNone/>
            </a:pPr>
            <a:r>
              <a:rPr lang="en-US" sz="1400" dirty="0">
                <a:solidFill>
                  <a:schemeClr val="tx1"/>
                </a:solidFill>
              </a:rPr>
              <a:t>Kubernetes with NGINX Ingress</a:t>
            </a:r>
            <a:endParaRPr lang="en-US" sz="1400" dirty="0"/>
          </a:p>
        </p:txBody>
      </p:sp>
      <p:sp>
        <p:nvSpPr>
          <p:cNvPr id="33" name="Stack CI/CD"/>
          <p:cNvSpPr/>
          <p:nvPr/>
        </p:nvSpPr>
        <p:spPr>
          <a:xfrm>
            <a:off x="548640" y="4709160"/>
            <a:ext cx="3514344" cy="1463040"/>
          </a:xfrm>
          <a:prstGeom prst="roundRect">
            <a:avLst>
              <a:gd name="adj" fmla="val 7500"/>
            </a:avLst>
          </a:prstGeom>
          <a:solidFill>
            <a:schemeClr val="bg2"/>
          </a:solidFill>
          <a:ln w="12700">
            <a:solidFill>
              <a:schemeClr val="bg2"/>
            </a:solidFill>
            <a:prstDash val="solid"/>
          </a:ln>
        </p:spPr>
      </p:sp>
      <p:sp>
        <p:nvSpPr>
          <p:cNvPr id="34" name="Icon circle"/>
          <p:cNvSpPr/>
          <p:nvPr/>
        </p:nvSpPr>
        <p:spPr>
          <a:xfrm>
            <a:off x="777240" y="5074920"/>
            <a:ext cx="731520" cy="731520"/>
          </a:xfrm>
          <a:prstGeom prst="ellipse">
            <a:avLst/>
          </a:prstGeom>
          <a:solidFill>
            <a:schemeClr val="accent1"/>
          </a:solidFill>
          <a:ln w="12700">
            <a:solidFill>
              <a:schemeClr val="accent1"/>
            </a:solidFill>
            <a:prstDash val="solid"/>
          </a:ln>
        </p:spPr>
      </p:sp>
      <p:pic>
        <p:nvPicPr>
          <p:cNvPr id="35" name="Icon FaGithub" descr="Github icon">    </p:cNvPr>
          <p:cNvPicPr>
            <a:picLocks noChangeAspect="1"/>
          </p:cNvPicPr>
          <p:nvPr/>
        </p:nvPicPr>
        <p:blipFill>
          <a:blip r:embed="rId7"/>
          <a:stretch>
            <a:fillRect/>
          </a:stretch>
        </p:blipFill>
        <p:spPr>
          <a:xfrm>
            <a:off x="960120" y="5257800"/>
            <a:ext cx="365760" cy="365760"/>
          </a:xfrm>
          <a:prstGeom prst="rect">
            <a:avLst/>
          </a:prstGeom>
        </p:spPr>
      </p:pic>
      <p:sp>
        <p:nvSpPr>
          <p:cNvPr id="36" name="Text 27"/>
          <p:cNvSpPr txBox="1"/>
          <p:nvPr/>
        </p:nvSpPr>
        <p:spPr>
          <a:xfrm>
            <a:off x="1691640" y="4983480"/>
            <a:ext cx="2188464" cy="365760"/>
          </a:xfrm>
          <a:prstGeom prst="rect">
            <a:avLst/>
          </a:prstGeom>
          <a:noFill/>
          <a:ln/>
        </p:spPr>
        <p:txBody>
          <a:bodyPr wrap="square" lIns="0" tIns="0" rIns="0" bIns="0" rtlCol="0" anchor="t"/>
          <a:lstStyle/>
          <a:p>
            <a:pPr indent="0" marL="0">
              <a:buNone/>
            </a:pPr>
            <a:r>
              <a:rPr lang="en-US" sz="1800" b="1" dirty="0">
                <a:solidFill>
                  <a:schemeClr val="tx1"/>
                </a:solidFill>
              </a:rPr>
              <a:t>CI/CD</a:t>
            </a:r>
            <a:endParaRPr lang="en-US" sz="1800" dirty="0"/>
          </a:p>
        </p:txBody>
      </p:sp>
      <p:sp>
        <p:nvSpPr>
          <p:cNvPr id="37" name="Text 28"/>
          <p:cNvSpPr txBox="1"/>
          <p:nvPr/>
        </p:nvSpPr>
        <p:spPr>
          <a:xfrm>
            <a:off x="1691640" y="5394960"/>
            <a:ext cx="2188464" cy="685800"/>
          </a:xfrm>
          <a:prstGeom prst="rect">
            <a:avLst/>
          </a:prstGeom>
          <a:noFill/>
          <a:ln/>
        </p:spPr>
        <p:txBody>
          <a:bodyPr wrap="square" lIns="0" tIns="0" rIns="0" bIns="0" rtlCol="0" anchor="t"/>
          <a:lstStyle/>
          <a:p>
            <a:pPr indent="0" marL="0">
              <a:buNone/>
            </a:pPr>
            <a:r>
              <a:rPr lang="en-US" sz="1400" dirty="0">
                <a:solidFill>
                  <a:schemeClr val="tx1"/>
                </a:solidFill>
              </a:rPr>
              <a:t>GitHub Actions, 3 job pipeline</a:t>
            </a:r>
            <a:endParaRPr lang="en-US" sz="1400" dirty="0"/>
          </a:p>
        </p:txBody>
      </p:sp>
      <p:sp>
        <p:nvSpPr>
          <p:cNvPr id="38" name="Stack Infrastructure"/>
          <p:cNvSpPr/>
          <p:nvPr/>
        </p:nvSpPr>
        <p:spPr>
          <a:xfrm>
            <a:off x="4337304" y="4709160"/>
            <a:ext cx="3514344" cy="1463040"/>
          </a:xfrm>
          <a:prstGeom prst="roundRect">
            <a:avLst>
              <a:gd name="adj" fmla="val 7500"/>
            </a:avLst>
          </a:prstGeom>
          <a:solidFill>
            <a:schemeClr val="bg2"/>
          </a:solidFill>
          <a:ln w="12700">
            <a:solidFill>
              <a:schemeClr val="bg2"/>
            </a:solidFill>
            <a:prstDash val="solid"/>
          </a:ln>
        </p:spPr>
      </p:sp>
      <p:sp>
        <p:nvSpPr>
          <p:cNvPr id="39" name="Icon circle"/>
          <p:cNvSpPr/>
          <p:nvPr/>
        </p:nvSpPr>
        <p:spPr>
          <a:xfrm>
            <a:off x="4565904" y="5074920"/>
            <a:ext cx="731520" cy="731520"/>
          </a:xfrm>
          <a:prstGeom prst="ellipse">
            <a:avLst/>
          </a:prstGeom>
          <a:solidFill>
            <a:schemeClr val="accent1"/>
          </a:solidFill>
          <a:ln w="12700">
            <a:solidFill>
              <a:schemeClr val="accent1"/>
            </a:solidFill>
            <a:prstDash val="solid"/>
          </a:ln>
        </p:spPr>
      </p:sp>
      <p:pic>
        <p:nvPicPr>
          <p:cNvPr id="40" name="Icon FaCogs" descr="Cogs icon">    </p:cNvPr>
          <p:cNvPicPr>
            <a:picLocks noChangeAspect="1"/>
          </p:cNvPicPr>
          <p:nvPr/>
        </p:nvPicPr>
        <p:blipFill>
          <a:blip r:embed="rId8"/>
          <a:stretch>
            <a:fillRect/>
          </a:stretch>
        </p:blipFill>
        <p:spPr>
          <a:xfrm>
            <a:off x="4748784" y="5257800"/>
            <a:ext cx="365760" cy="365760"/>
          </a:xfrm>
          <a:prstGeom prst="rect">
            <a:avLst/>
          </a:prstGeom>
        </p:spPr>
      </p:pic>
      <p:sp>
        <p:nvSpPr>
          <p:cNvPr id="41" name="Text 31"/>
          <p:cNvSpPr txBox="1"/>
          <p:nvPr/>
        </p:nvSpPr>
        <p:spPr>
          <a:xfrm>
            <a:off x="5480304" y="4983480"/>
            <a:ext cx="2188464" cy="365760"/>
          </a:xfrm>
          <a:prstGeom prst="rect">
            <a:avLst/>
          </a:prstGeom>
          <a:noFill/>
          <a:ln/>
        </p:spPr>
        <p:txBody>
          <a:bodyPr wrap="square" lIns="0" tIns="0" rIns="0" bIns="0" rtlCol="0" anchor="t"/>
          <a:lstStyle/>
          <a:p>
            <a:pPr indent="0" marL="0">
              <a:buNone/>
            </a:pPr>
            <a:r>
              <a:rPr lang="en-US" sz="1800" b="1" dirty="0">
                <a:solidFill>
                  <a:schemeClr val="tx1"/>
                </a:solidFill>
              </a:rPr>
              <a:t>Infrastructure</a:t>
            </a:r>
            <a:endParaRPr lang="en-US" sz="1800" dirty="0"/>
          </a:p>
        </p:txBody>
      </p:sp>
      <p:sp>
        <p:nvSpPr>
          <p:cNvPr id="42" name="Text 32"/>
          <p:cNvSpPr txBox="1"/>
          <p:nvPr/>
        </p:nvSpPr>
        <p:spPr>
          <a:xfrm>
            <a:off x="5480304" y="5394960"/>
            <a:ext cx="2188464" cy="685800"/>
          </a:xfrm>
          <a:prstGeom prst="rect">
            <a:avLst/>
          </a:prstGeom>
          <a:noFill/>
          <a:ln/>
        </p:spPr>
        <p:txBody>
          <a:bodyPr wrap="square" lIns="0" tIns="0" rIns="0" bIns="0" rtlCol="0" anchor="t"/>
          <a:lstStyle/>
          <a:p>
            <a:pPr indent="0" marL="0">
              <a:buNone/>
            </a:pPr>
            <a:r>
              <a:rPr lang="en-US" sz="1400" dirty="0">
                <a:solidFill>
                  <a:schemeClr val="tx1"/>
                </a:solidFill>
              </a:rPr>
              <a:t>Ansible, 10 task playbook</a:t>
            </a:r>
            <a:endParaRPr lang="en-US" sz="1400" dirty="0"/>
          </a:p>
        </p:txBody>
      </p:sp>
      <p:sp>
        <p:nvSpPr>
          <p:cNvPr id="43" name="Stack Monitoring"/>
          <p:cNvSpPr/>
          <p:nvPr/>
        </p:nvSpPr>
        <p:spPr>
          <a:xfrm>
            <a:off x="8125968" y="4709160"/>
            <a:ext cx="3514344" cy="1463040"/>
          </a:xfrm>
          <a:prstGeom prst="roundRect">
            <a:avLst>
              <a:gd name="adj" fmla="val 7500"/>
            </a:avLst>
          </a:prstGeom>
          <a:solidFill>
            <a:schemeClr val="bg2"/>
          </a:solidFill>
          <a:ln w="12700">
            <a:solidFill>
              <a:schemeClr val="bg2"/>
            </a:solidFill>
            <a:prstDash val="solid"/>
          </a:ln>
        </p:spPr>
      </p:sp>
      <p:sp>
        <p:nvSpPr>
          <p:cNvPr id="44" name="Icon circle"/>
          <p:cNvSpPr/>
          <p:nvPr/>
        </p:nvSpPr>
        <p:spPr>
          <a:xfrm>
            <a:off x="8354568" y="5074920"/>
            <a:ext cx="731520" cy="731520"/>
          </a:xfrm>
          <a:prstGeom prst="ellipse">
            <a:avLst/>
          </a:prstGeom>
          <a:solidFill>
            <a:schemeClr val="accent1"/>
          </a:solidFill>
          <a:ln w="12700">
            <a:solidFill>
              <a:schemeClr val="accent1"/>
            </a:solidFill>
            <a:prstDash val="solid"/>
          </a:ln>
        </p:spPr>
      </p:sp>
      <p:pic>
        <p:nvPicPr>
          <p:cNvPr id="45" name="Icon FaChartLine" descr="ChartLine icon">    </p:cNvPr>
          <p:cNvPicPr>
            <a:picLocks noChangeAspect="1"/>
          </p:cNvPicPr>
          <p:nvPr/>
        </p:nvPicPr>
        <p:blipFill>
          <a:blip r:embed="rId9"/>
          <a:stretch>
            <a:fillRect/>
          </a:stretch>
        </p:blipFill>
        <p:spPr>
          <a:xfrm>
            <a:off x="8537448" y="5257800"/>
            <a:ext cx="365760" cy="365760"/>
          </a:xfrm>
          <a:prstGeom prst="rect">
            <a:avLst/>
          </a:prstGeom>
        </p:spPr>
      </p:pic>
      <p:sp>
        <p:nvSpPr>
          <p:cNvPr id="46" name="Text 35"/>
          <p:cNvSpPr txBox="1"/>
          <p:nvPr/>
        </p:nvSpPr>
        <p:spPr>
          <a:xfrm>
            <a:off x="9268968" y="4983480"/>
            <a:ext cx="2188464" cy="365760"/>
          </a:xfrm>
          <a:prstGeom prst="rect">
            <a:avLst/>
          </a:prstGeom>
          <a:noFill/>
          <a:ln/>
        </p:spPr>
        <p:txBody>
          <a:bodyPr wrap="square" lIns="0" tIns="0" rIns="0" bIns="0" rtlCol="0" anchor="t"/>
          <a:lstStyle/>
          <a:p>
            <a:pPr indent="0" marL="0">
              <a:buNone/>
            </a:pPr>
            <a:r>
              <a:rPr lang="en-US" sz="1800" b="1" dirty="0">
                <a:solidFill>
                  <a:schemeClr val="tx1"/>
                </a:solidFill>
              </a:rPr>
              <a:t>Monitoring</a:t>
            </a:r>
            <a:endParaRPr lang="en-US" sz="1800" dirty="0"/>
          </a:p>
        </p:txBody>
      </p:sp>
      <p:sp>
        <p:nvSpPr>
          <p:cNvPr id="47" name="Text 36"/>
          <p:cNvSpPr txBox="1"/>
          <p:nvPr/>
        </p:nvSpPr>
        <p:spPr>
          <a:xfrm>
            <a:off x="9268968" y="5394960"/>
            <a:ext cx="2188464" cy="685800"/>
          </a:xfrm>
          <a:prstGeom prst="rect">
            <a:avLst/>
          </a:prstGeom>
          <a:noFill/>
          <a:ln/>
        </p:spPr>
        <p:txBody>
          <a:bodyPr wrap="square" lIns="0" tIns="0" rIns="0" bIns="0" rtlCol="0" anchor="t"/>
          <a:lstStyle/>
          <a:p>
            <a:pPr indent="0" marL="0">
              <a:buNone/>
            </a:pPr>
            <a:r>
              <a:rPr lang="en-US" sz="1400" dirty="0">
                <a:solidFill>
                  <a:schemeClr val="tx1"/>
                </a:solidFill>
              </a:rPr>
              <a:t>Prometheus and Grafana</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Version control with GitHub</a:t>
            </a:r>
            <a:endParaRPr lang="en-US" sz="3200" dirty="0"/>
          </a:p>
        </p:txBody>
      </p:sp>
      <p:sp>
        <p:nvSpPr>
          <p:cNvPr id="3" name="Icon circle"/>
          <p:cNvSpPr/>
          <p:nvPr/>
        </p:nvSpPr>
        <p:spPr>
          <a:xfrm>
            <a:off x="548640" y="1508760"/>
            <a:ext cx="822960" cy="822960"/>
          </a:xfrm>
          <a:prstGeom prst="ellipse">
            <a:avLst/>
          </a:prstGeom>
          <a:solidFill>
            <a:schemeClr val="accent1"/>
          </a:solidFill>
          <a:ln w="12700">
            <a:solidFill>
              <a:schemeClr val="accent1"/>
            </a:solidFill>
            <a:prstDash val="solid"/>
          </a:ln>
        </p:spPr>
      </p:sp>
      <p:pic>
        <p:nvPicPr>
          <p:cNvPr id="4" name="Icon FaGithub" descr="Github icon">    </p:cNvPr>
          <p:cNvPicPr>
            <a:picLocks noChangeAspect="1"/>
          </p:cNvPicPr>
          <p:nvPr/>
        </p:nvPicPr>
        <p:blipFill>
          <a:blip r:embed="rId1"/>
          <a:stretch>
            <a:fillRect/>
          </a:stretch>
        </p:blipFill>
        <p:spPr>
          <a:xfrm>
            <a:off x="754380" y="1714500"/>
            <a:ext cx="411480" cy="411480"/>
          </a:xfrm>
          <a:prstGeom prst="rect">
            <a:avLst/>
          </a:prstGeom>
        </p:spPr>
      </p:pic>
      <p:sp>
        <p:nvSpPr>
          <p:cNvPr id="5" name="Text 2"/>
          <p:cNvSpPr txBox="1"/>
          <p:nvPr/>
        </p:nvSpPr>
        <p:spPr>
          <a:xfrm>
            <a:off x="1645920" y="1508760"/>
            <a:ext cx="5394960" cy="365760"/>
          </a:xfrm>
          <a:prstGeom prst="rect">
            <a:avLst/>
          </a:prstGeom>
          <a:noFill/>
          <a:ln/>
        </p:spPr>
        <p:txBody>
          <a:bodyPr wrap="square" lIns="0" tIns="0" rIns="0" bIns="0" rtlCol="0" anchor="t"/>
          <a:lstStyle/>
          <a:p>
            <a:pPr indent="0" marL="0">
              <a:buNone/>
            </a:pPr>
            <a:r>
              <a:rPr lang="en-US" sz="2000" b="1" dirty="0">
                <a:solidFill>
                  <a:schemeClr val="tx1"/>
                </a:solidFill>
              </a:rPr>
              <a:t>One repository for everything</a:t>
            </a:r>
            <a:endParaRPr lang="en-US" sz="2000" dirty="0"/>
          </a:p>
        </p:txBody>
      </p:sp>
      <p:sp>
        <p:nvSpPr>
          <p:cNvPr id="6" name="Text 3"/>
          <p:cNvSpPr txBox="1"/>
          <p:nvPr/>
        </p:nvSpPr>
        <p:spPr>
          <a:xfrm>
            <a:off x="1645920" y="1965960"/>
            <a:ext cx="5394960" cy="822960"/>
          </a:xfrm>
          <a:prstGeom prst="rect">
            <a:avLst/>
          </a:prstGeom>
          <a:noFill/>
          <a:ln/>
        </p:spPr>
        <p:txBody>
          <a:bodyPr wrap="square" lIns="0" tIns="0" rIns="0" bIns="0" rtlCol="0" anchor="t"/>
          <a:lstStyle/>
          <a:p>
            <a:pPr indent="0" marL="0">
              <a:buNone/>
            </a:pPr>
            <a:r>
              <a:rPr lang="en-US" sz="1500" dirty="0">
                <a:solidFill>
                  <a:schemeClr val="tx1"/>
                </a:solidFill>
              </a:rPr>
              <a:t>Application code, pipeline, Docker, Kubernetes and Ansible files live together.</a:t>
            </a:r>
            <a:endParaRPr lang="en-US" sz="1500" dirty="0"/>
          </a:p>
        </p:txBody>
      </p:sp>
      <p:sp>
        <p:nvSpPr>
          <p:cNvPr id="7" name="Icon circle"/>
          <p:cNvSpPr/>
          <p:nvPr/>
        </p:nvSpPr>
        <p:spPr>
          <a:xfrm>
            <a:off x="548640" y="3063240"/>
            <a:ext cx="822960" cy="822960"/>
          </a:xfrm>
          <a:prstGeom prst="ellipse">
            <a:avLst/>
          </a:prstGeom>
          <a:solidFill>
            <a:schemeClr val="accent1"/>
          </a:solidFill>
          <a:ln w="12700">
            <a:solidFill>
              <a:schemeClr val="accent1"/>
            </a:solidFill>
            <a:prstDash val="solid"/>
          </a:ln>
        </p:spPr>
      </p:sp>
      <p:pic>
        <p:nvPicPr>
          <p:cNvPr id="8" name="Icon FaPlay" descr="Play icon">    </p:cNvPr>
          <p:cNvPicPr>
            <a:picLocks noChangeAspect="1"/>
          </p:cNvPicPr>
          <p:nvPr/>
        </p:nvPicPr>
        <p:blipFill>
          <a:blip r:embed="rId2"/>
          <a:stretch>
            <a:fillRect/>
          </a:stretch>
        </p:blipFill>
        <p:spPr>
          <a:xfrm>
            <a:off x="754380" y="3268980"/>
            <a:ext cx="411480" cy="411480"/>
          </a:xfrm>
          <a:prstGeom prst="rect">
            <a:avLst/>
          </a:prstGeom>
        </p:spPr>
      </p:pic>
      <p:sp>
        <p:nvSpPr>
          <p:cNvPr id="9" name="Text 5"/>
          <p:cNvSpPr txBox="1"/>
          <p:nvPr/>
        </p:nvSpPr>
        <p:spPr>
          <a:xfrm>
            <a:off x="1645920" y="3063240"/>
            <a:ext cx="5394960" cy="365760"/>
          </a:xfrm>
          <a:prstGeom prst="rect">
            <a:avLst/>
          </a:prstGeom>
          <a:noFill/>
          <a:ln/>
        </p:spPr>
        <p:txBody>
          <a:bodyPr wrap="square" lIns="0" tIns="0" rIns="0" bIns="0" rtlCol="0" anchor="t"/>
          <a:lstStyle/>
          <a:p>
            <a:pPr indent="0" marL="0">
              <a:buNone/>
            </a:pPr>
            <a:r>
              <a:rPr lang="en-US" sz="2000" b="1" dirty="0">
                <a:solidFill>
                  <a:schemeClr val="tx1"/>
                </a:solidFill>
              </a:rPr>
              <a:t>Pipeline triggers</a:t>
            </a:r>
            <a:endParaRPr lang="en-US" sz="2000" dirty="0"/>
          </a:p>
        </p:txBody>
      </p:sp>
      <p:sp>
        <p:nvSpPr>
          <p:cNvPr id="10" name="Text 6"/>
          <p:cNvSpPr txBox="1"/>
          <p:nvPr/>
        </p:nvSpPr>
        <p:spPr>
          <a:xfrm>
            <a:off x="1645920" y="3520440"/>
            <a:ext cx="5394960" cy="822960"/>
          </a:xfrm>
          <a:prstGeom prst="rect">
            <a:avLst/>
          </a:prstGeom>
          <a:noFill/>
          <a:ln/>
        </p:spPr>
        <p:txBody>
          <a:bodyPr wrap="square" lIns="0" tIns="0" rIns="0" bIns="0" rtlCol="0" anchor="t"/>
          <a:lstStyle/>
          <a:p>
            <a:pPr indent="0" marL="0">
              <a:buNone/>
            </a:pPr>
            <a:r>
              <a:rPr lang="en-US" sz="1500" dirty="0">
                <a:solidFill>
                  <a:schemeClr val="tx1"/>
                </a:solidFill>
              </a:rPr>
              <a:t>Every push or pull request to main starts the CI/CD workflow.</a:t>
            </a:r>
            <a:endParaRPr lang="en-US" sz="1500" dirty="0"/>
          </a:p>
        </p:txBody>
      </p:sp>
      <p:sp>
        <p:nvSpPr>
          <p:cNvPr id="11" name="Icon circle"/>
          <p:cNvSpPr/>
          <p:nvPr/>
        </p:nvSpPr>
        <p:spPr>
          <a:xfrm>
            <a:off x="548640" y="4617720"/>
            <a:ext cx="822960" cy="822960"/>
          </a:xfrm>
          <a:prstGeom prst="ellipse">
            <a:avLst/>
          </a:prstGeom>
          <a:solidFill>
            <a:schemeClr val="accent1"/>
          </a:solidFill>
          <a:ln w="12700">
            <a:solidFill>
              <a:schemeClr val="accent1"/>
            </a:solidFill>
            <a:prstDash val="solid"/>
          </a:ln>
        </p:spPr>
      </p:sp>
      <p:pic>
        <p:nvPicPr>
          <p:cNvPr id="12" name="Icon FaFolderOpen" descr="FolderOpen icon">    </p:cNvPr>
          <p:cNvPicPr>
            <a:picLocks noChangeAspect="1"/>
          </p:cNvPicPr>
          <p:nvPr/>
        </p:nvPicPr>
        <p:blipFill>
          <a:blip r:embed="rId3"/>
          <a:stretch>
            <a:fillRect/>
          </a:stretch>
        </p:blipFill>
        <p:spPr>
          <a:xfrm>
            <a:off x="754380" y="4823460"/>
            <a:ext cx="411480" cy="411480"/>
          </a:xfrm>
          <a:prstGeom prst="rect">
            <a:avLst/>
          </a:prstGeom>
        </p:spPr>
      </p:pic>
      <p:sp>
        <p:nvSpPr>
          <p:cNvPr id="13" name="Text 8"/>
          <p:cNvSpPr txBox="1"/>
          <p:nvPr/>
        </p:nvSpPr>
        <p:spPr>
          <a:xfrm>
            <a:off x="1645920" y="4617720"/>
            <a:ext cx="5394960" cy="365760"/>
          </a:xfrm>
          <a:prstGeom prst="rect">
            <a:avLst/>
          </a:prstGeom>
          <a:noFill/>
          <a:ln/>
        </p:spPr>
        <p:txBody>
          <a:bodyPr wrap="square" lIns="0" tIns="0" rIns="0" bIns="0" rtlCol="0" anchor="t"/>
          <a:lstStyle/>
          <a:p>
            <a:pPr indent="0" marL="0">
              <a:buNone/>
            </a:pPr>
            <a:r>
              <a:rPr lang="en-US" sz="2000" b="1" dirty="0">
                <a:solidFill>
                  <a:schemeClr val="tx1"/>
                </a:solidFill>
              </a:rPr>
              <a:t>Clean history</a:t>
            </a:r>
            <a:endParaRPr lang="en-US" sz="2000" dirty="0"/>
          </a:p>
        </p:txBody>
      </p:sp>
      <p:sp>
        <p:nvSpPr>
          <p:cNvPr id="14" name="Text 9"/>
          <p:cNvSpPr txBox="1"/>
          <p:nvPr/>
        </p:nvSpPr>
        <p:spPr>
          <a:xfrm>
            <a:off x="1645920" y="5074920"/>
            <a:ext cx="5394960" cy="822960"/>
          </a:xfrm>
          <a:prstGeom prst="rect">
            <a:avLst/>
          </a:prstGeom>
          <a:noFill/>
          <a:ln/>
        </p:spPr>
        <p:txBody>
          <a:bodyPr wrap="square" lIns="0" tIns="0" rIns="0" bIns="0" rtlCol="0" anchor="t"/>
          <a:lstStyle/>
          <a:p>
            <a:pPr indent="0" marL="0">
              <a:buNone/>
            </a:pPr>
            <a:r>
              <a:rPr lang="en-US" sz="1500" dirty="0">
                <a:solidFill>
                  <a:schemeClr val="tx1"/>
                </a:solidFill>
              </a:rPr>
              <a:t>Build output, node_modules, environment files and logs are kept out of the repo.</a:t>
            </a:r>
            <a:endParaRPr lang="en-US" sz="1500" dirty="0"/>
          </a:p>
        </p:txBody>
      </p:sp>
      <p:sp>
        <p:nvSpPr>
          <p:cNvPr id="15" name="Improvements card"/>
          <p:cNvSpPr/>
          <p:nvPr/>
        </p:nvSpPr>
        <p:spPr>
          <a:xfrm>
            <a:off x="7498080" y="1508760"/>
            <a:ext cx="4142232" cy="3566160"/>
          </a:xfrm>
          <a:prstGeom prst="roundRect">
            <a:avLst>
              <a:gd name="adj" fmla="val 3077"/>
            </a:avLst>
          </a:prstGeom>
          <a:solidFill>
            <a:schemeClr val="accent4"/>
          </a:solidFill>
          <a:ln w="12700">
            <a:solidFill>
              <a:schemeClr val="accent4"/>
            </a:solidFill>
            <a:prstDash val="solid"/>
          </a:ln>
        </p:spPr>
      </p:sp>
      <p:sp>
        <p:nvSpPr>
          <p:cNvPr id="16" name="Icon circle"/>
          <p:cNvSpPr/>
          <p:nvPr/>
        </p:nvSpPr>
        <p:spPr>
          <a:xfrm>
            <a:off x="7772400" y="1783080"/>
            <a:ext cx="640080" cy="640080"/>
          </a:xfrm>
          <a:prstGeom prst="ellipse">
            <a:avLst/>
          </a:prstGeom>
          <a:solidFill>
            <a:schemeClr val="accent2"/>
          </a:solidFill>
          <a:ln w="12700">
            <a:solidFill>
              <a:schemeClr val="accent2"/>
            </a:solidFill>
            <a:prstDash val="solid"/>
          </a:ln>
        </p:spPr>
      </p:sp>
      <p:pic>
        <p:nvPicPr>
          <p:cNvPr id="17" name="Icon FaCodeBranch" descr="CodeBranch icon">    </p:cNvPr>
          <p:cNvPicPr>
            <a:picLocks noChangeAspect="1"/>
          </p:cNvPicPr>
          <p:nvPr/>
        </p:nvPicPr>
        <p:blipFill>
          <a:blip r:embed="rId4"/>
          <a:stretch>
            <a:fillRect/>
          </a:stretch>
        </p:blipFill>
        <p:spPr>
          <a:xfrm>
            <a:off x="7932420" y="1943100"/>
            <a:ext cx="320040" cy="320040"/>
          </a:xfrm>
          <a:prstGeom prst="rect">
            <a:avLst/>
          </a:prstGeom>
        </p:spPr>
      </p:pic>
      <p:sp>
        <p:nvSpPr>
          <p:cNvPr id="18" name="Text 12"/>
          <p:cNvSpPr txBox="1"/>
          <p:nvPr/>
        </p:nvSpPr>
        <p:spPr>
          <a:xfrm>
            <a:off x="8595360" y="1828800"/>
            <a:ext cx="2926080" cy="548640"/>
          </a:xfrm>
          <a:prstGeom prst="rect">
            <a:avLst/>
          </a:prstGeom>
          <a:noFill/>
          <a:ln/>
        </p:spPr>
        <p:txBody>
          <a:bodyPr wrap="square" lIns="0" tIns="0" rIns="0" bIns="0" rtlCol="0" anchor="ctr"/>
          <a:lstStyle/>
          <a:p>
            <a:pPr indent="0" marL="0">
              <a:buNone/>
            </a:pPr>
            <a:r>
              <a:rPr lang="en-US" sz="2000" b="1" dirty="0">
                <a:solidFill>
                  <a:schemeClr val="tx1"/>
                </a:solidFill>
              </a:rPr>
              <a:t>Planned improvements</a:t>
            </a:r>
            <a:endParaRPr lang="en-US" sz="2000" dirty="0"/>
          </a:p>
        </p:txBody>
      </p:sp>
      <p:sp>
        <p:nvSpPr>
          <p:cNvPr id="19" name="Text 13"/>
          <p:cNvSpPr txBox="1"/>
          <p:nvPr/>
        </p:nvSpPr>
        <p:spPr>
          <a:xfrm>
            <a:off x="7772400" y="2743200"/>
            <a:ext cx="361188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Branch protection on main</a:t>
            </a:r>
            <a:endParaRPr lang="en-US" sz="1600" dirty="0"/>
          </a:p>
          <a:p>
            <a:pPr marL="342900" indent="-342900">
              <a:spcAft>
                <a:spcPts val="800"/>
              </a:spcAft>
              <a:buSzPct val="100000"/>
              <a:buChar char="•"/>
            </a:pPr>
            <a:r>
              <a:rPr lang="en-US" sz="1600" dirty="0">
                <a:solidFill>
                  <a:schemeClr val="tx1"/>
                </a:solidFill>
              </a:rPr>
              <a:t>Pull request and issue templates</a:t>
            </a:r>
            <a:endParaRPr lang="en-US" sz="1600" dirty="0"/>
          </a:p>
          <a:p>
            <a:pPr marL="342900" indent="-342900">
              <a:spcAft>
                <a:spcPts val="800"/>
              </a:spcAft>
              <a:buSzPct val="100000"/>
              <a:buChar char="•"/>
            </a:pPr>
            <a:r>
              <a:rPr lang="en-US" sz="1600" dirty="0">
                <a:solidFill>
                  <a:schemeClr val="tx1"/>
                </a:solidFill>
              </a:rPr>
              <a:t>Versioned release tags instead of latest</a:t>
            </a:r>
            <a:endParaRPr lang="en-US" sz="1600" dirty="0"/>
          </a:p>
          <a:p>
            <a:pPr marL="342900" indent="-342900">
              <a:spcAft>
                <a:spcPts val="800"/>
              </a:spcAft>
              <a:buSzPct val="100000"/>
              <a:buChar char="•"/>
            </a:pPr>
            <a:r>
              <a:rPr lang="en-US" sz="1600" dirty="0">
                <a:solidFill>
                  <a:schemeClr val="tx1"/>
                </a:solidFill>
              </a:rPr>
              <a:t>Mandatory code review before merge</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Lean images with multi stage builds</a:t>
            </a:r>
            <a:endParaRPr lang="en-US" sz="3200" dirty="0"/>
          </a:p>
        </p:txBody>
      </p:sp>
      <p:sp>
        <p:nvSpPr>
          <p:cNvPr id="3" name="Lane Backend"/>
          <p:cNvSpPr/>
          <p:nvPr/>
        </p:nvSpPr>
        <p:spPr>
          <a:xfrm>
            <a:off x="548640" y="1417320"/>
            <a:ext cx="2011680" cy="1920240"/>
          </a:xfrm>
          <a:prstGeom prst="roundRect">
            <a:avLst>
              <a:gd name="adj" fmla="val 5714"/>
            </a:avLst>
          </a:prstGeom>
          <a:solidFill>
            <a:schemeClr val="accent1"/>
          </a:solidFill>
          <a:ln w="12700">
            <a:solidFill>
              <a:schemeClr val="accent1"/>
            </a:solidFill>
            <a:prstDash val="solid"/>
          </a:ln>
        </p:spPr>
      </p:sp>
      <p:sp>
        <p:nvSpPr>
          <p:cNvPr id="4" name="Lane icon"/>
          <p:cNvSpPr/>
          <p:nvPr/>
        </p:nvSpPr>
        <p:spPr>
          <a:xfrm>
            <a:off x="1188720" y="1737360"/>
            <a:ext cx="731520" cy="731520"/>
          </a:xfrm>
          <a:prstGeom prst="ellipse">
            <a:avLst/>
          </a:prstGeom>
          <a:solidFill>
            <a:schemeClr val="bg1"/>
          </a:solidFill>
          <a:ln w="12700">
            <a:solidFill>
              <a:schemeClr val="bg1"/>
            </a:solidFill>
            <a:prstDash val="solid"/>
          </a:ln>
        </p:spPr>
      </p:sp>
      <p:pic>
        <p:nvPicPr>
          <p:cNvPr id="5" name="Icon FaJava" descr="Java icon">    </p:cNvPr>
          <p:cNvPicPr>
            <a:picLocks noChangeAspect="1"/>
          </p:cNvPicPr>
          <p:nvPr/>
        </p:nvPicPr>
        <p:blipFill>
          <a:blip r:embed="rId1"/>
          <a:stretch>
            <a:fillRect/>
          </a:stretch>
        </p:blipFill>
        <p:spPr>
          <a:xfrm>
            <a:off x="1371600" y="1920240"/>
            <a:ext cx="365760" cy="365760"/>
          </a:xfrm>
          <a:prstGeom prst="rect">
            <a:avLst/>
          </a:prstGeom>
        </p:spPr>
      </p:pic>
      <p:sp>
        <p:nvSpPr>
          <p:cNvPr id="6" name="Text 3"/>
          <p:cNvSpPr txBox="1"/>
          <p:nvPr/>
        </p:nvSpPr>
        <p:spPr>
          <a:xfrm>
            <a:off x="548640" y="2606040"/>
            <a:ext cx="2011680" cy="457200"/>
          </a:xfrm>
          <a:prstGeom prst="rect">
            <a:avLst/>
          </a:prstGeom>
          <a:noFill/>
          <a:ln/>
        </p:spPr>
        <p:txBody>
          <a:bodyPr wrap="square" lIns="0" tIns="0" rIns="0" bIns="0" rtlCol="0" anchor="t"/>
          <a:lstStyle/>
          <a:p>
            <a:pPr algn="ctr" indent="0" marL="0">
              <a:buNone/>
            </a:pPr>
            <a:r>
              <a:rPr lang="en-US" sz="2000" b="1" dirty="0">
                <a:solidFill>
                  <a:schemeClr val="bg1"/>
                </a:solidFill>
              </a:rPr>
              <a:t>Backend</a:t>
            </a:r>
            <a:endParaRPr lang="en-US" sz="2000" dirty="0"/>
          </a:p>
        </p:txBody>
      </p:sp>
      <p:sp>
        <p:nvSpPr>
          <p:cNvPr id="7" name="Build stage Backend"/>
          <p:cNvSpPr/>
          <p:nvPr/>
        </p:nvSpPr>
        <p:spPr>
          <a:xfrm>
            <a:off x="2834640" y="1417320"/>
            <a:ext cx="3566160" cy="1920240"/>
          </a:xfrm>
          <a:prstGeom prst="roundRect">
            <a:avLst>
              <a:gd name="adj" fmla="val 5714"/>
            </a:avLst>
          </a:prstGeom>
          <a:solidFill>
            <a:schemeClr val="accent5"/>
          </a:solidFill>
          <a:ln w="12700">
            <a:solidFill>
              <a:schemeClr val="accent5"/>
            </a:solidFill>
            <a:prstDash val="solid"/>
          </a:ln>
        </p:spPr>
      </p:sp>
      <p:sp>
        <p:nvSpPr>
          <p:cNvPr id="8" name="Text 5"/>
          <p:cNvSpPr txBox="1"/>
          <p:nvPr/>
        </p:nvSpPr>
        <p:spPr>
          <a:xfrm>
            <a:off x="3063240" y="1645920"/>
            <a:ext cx="1828800" cy="365760"/>
          </a:xfrm>
          <a:prstGeom prst="rect">
            <a:avLst/>
          </a:prstGeom>
          <a:noFill/>
          <a:ln/>
        </p:spPr>
        <p:txBody>
          <a:bodyPr wrap="square" lIns="0" tIns="0" rIns="0" bIns="0" rtlCol="0" anchor="t"/>
          <a:lstStyle/>
          <a:p>
            <a:pPr indent="0" marL="0">
              <a:buNone/>
            </a:pPr>
            <a:r>
              <a:rPr lang="en-US" sz="1700" b="1" dirty="0">
                <a:solidFill>
                  <a:schemeClr val="tx1"/>
                </a:solidFill>
              </a:rPr>
              <a:t>Stage 1: Build</a:t>
            </a:r>
            <a:endParaRPr lang="en-US" sz="1700" dirty="0"/>
          </a:p>
        </p:txBody>
      </p:sp>
      <p:sp>
        <p:nvSpPr>
          <p:cNvPr id="9" name="Pill Discarded"/>
          <p:cNvSpPr txBox="1"/>
          <p:nvPr/>
        </p:nvSpPr>
        <p:spPr>
          <a:xfrm>
            <a:off x="5074920" y="1664208"/>
            <a:ext cx="1143000" cy="310896"/>
          </a:xfrm>
          <a:prstGeom prst="roundRect">
            <a:avLst>
              <a:gd name="adj" fmla="val 58824"/>
            </a:avLst>
          </a:prstGeom>
          <a:solidFill>
            <a:schemeClr val="bg1"/>
          </a:solidFill>
          <a:ln>
            <a:solidFill>
              <a:schemeClr val="bg1"/>
            </a:solidFill>
          </a:ln>
        </p:spPr>
        <p:txBody>
          <a:bodyPr wrap="square" lIns="0" tIns="0" rIns="0" bIns="0" rtlCol="0" anchor="ctr"/>
          <a:lstStyle/>
          <a:p>
            <a:pPr algn="ctr" indent="0" marL="0">
              <a:buNone/>
            </a:pPr>
            <a:r>
              <a:rPr lang="en-US" sz="1200" b="1" dirty="0">
                <a:solidFill>
                  <a:schemeClr val="tx2"/>
                </a:solidFill>
              </a:rPr>
              <a:t>Discarded</a:t>
            </a:r>
            <a:endParaRPr lang="en-US" sz="1200" dirty="0"/>
          </a:p>
        </p:txBody>
      </p:sp>
      <p:sp>
        <p:nvSpPr>
          <p:cNvPr id="10" name="Text 7"/>
          <p:cNvSpPr txBox="1"/>
          <p:nvPr/>
        </p:nvSpPr>
        <p:spPr>
          <a:xfrm>
            <a:off x="3063240" y="2148840"/>
            <a:ext cx="3154680" cy="1005840"/>
          </a:xfrm>
          <a:prstGeom prst="rect">
            <a:avLst/>
          </a:prstGeom>
          <a:noFill/>
          <a:ln/>
        </p:spPr>
        <p:txBody>
          <a:bodyPr wrap="square" lIns="0" tIns="0" rIns="0" bIns="0" rtlCol="0" anchor="t"/>
          <a:lstStyle/>
          <a:p>
            <a:pPr indent="0" marL="0">
              <a:buNone/>
            </a:pPr>
            <a:r>
              <a:rPr lang="en-US" sz="1600" dirty="0">
                <a:solidFill>
                  <a:schemeClr val="tx1"/>
                </a:solidFill>
              </a:rPr>
              <a:t>Maven 3.9.6 with JDK 21. Dependencies are cached as their own layer.</a:t>
            </a:r>
            <a:endParaRPr lang="en-US" sz="1600" dirty="0"/>
          </a:p>
        </p:txBody>
      </p:sp>
      <p:sp>
        <p:nvSpPr>
          <p:cNvPr id="11" name="Arrow"/>
          <p:cNvSpPr/>
          <p:nvPr/>
        </p:nvSpPr>
        <p:spPr>
          <a:xfrm>
            <a:off x="6446520" y="2377440"/>
            <a:ext cx="594360" cy="0"/>
          </a:xfrm>
          <a:prstGeom prst="line">
            <a:avLst/>
          </a:prstGeom>
          <a:noFill/>
          <a:ln w="28575">
            <a:solidFill>
              <a:schemeClr val="tx2"/>
            </a:solidFill>
            <a:prstDash val="solid"/>
            <a:tailEnd type="triangle"/>
          </a:ln>
        </p:spPr>
      </p:sp>
      <p:sp>
        <p:nvSpPr>
          <p:cNvPr id="12" name="Run stage Backend"/>
          <p:cNvSpPr/>
          <p:nvPr/>
        </p:nvSpPr>
        <p:spPr>
          <a:xfrm>
            <a:off x="7086600" y="1417320"/>
            <a:ext cx="4553712" cy="1920240"/>
          </a:xfrm>
          <a:prstGeom prst="roundRect">
            <a:avLst>
              <a:gd name="adj" fmla="val 5714"/>
            </a:avLst>
          </a:prstGeom>
          <a:solidFill>
            <a:schemeClr val="bg2"/>
          </a:solidFill>
          <a:ln w="12700">
            <a:solidFill>
              <a:schemeClr val="bg2"/>
            </a:solidFill>
            <a:prstDash val="solid"/>
          </a:ln>
        </p:spPr>
      </p:sp>
      <p:sp>
        <p:nvSpPr>
          <p:cNvPr id="13" name="Text 10"/>
          <p:cNvSpPr txBox="1"/>
          <p:nvPr/>
        </p:nvSpPr>
        <p:spPr>
          <a:xfrm>
            <a:off x="7315200" y="16459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Stage 2: Run</a:t>
            </a:r>
            <a:endParaRPr lang="en-US" sz="1700" dirty="0"/>
          </a:p>
        </p:txBody>
      </p:sp>
      <p:sp>
        <p:nvSpPr>
          <p:cNvPr id="14" name="Pill Shipped"/>
          <p:cNvSpPr txBox="1"/>
          <p:nvPr/>
        </p:nvSpPr>
        <p:spPr>
          <a:xfrm>
            <a:off x="10241280" y="1664208"/>
            <a:ext cx="1143000" cy="310896"/>
          </a:xfrm>
          <a:prstGeom prst="roundRect">
            <a:avLst>
              <a:gd name="adj" fmla="val 58824"/>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Shipped</a:t>
            </a:r>
            <a:endParaRPr lang="en-US" sz="1200" dirty="0"/>
          </a:p>
        </p:txBody>
      </p:sp>
      <p:sp>
        <p:nvSpPr>
          <p:cNvPr id="15" name="Text 12"/>
          <p:cNvSpPr txBox="1"/>
          <p:nvPr/>
        </p:nvSpPr>
        <p:spPr>
          <a:xfrm>
            <a:off x="7315200" y="2148840"/>
            <a:ext cx="4114800" cy="1005840"/>
          </a:xfrm>
          <a:prstGeom prst="rect">
            <a:avLst/>
          </a:prstGeom>
          <a:noFill/>
          <a:ln/>
        </p:spPr>
        <p:txBody>
          <a:bodyPr wrap="square" lIns="0" tIns="0" rIns="0" bIns="0" rtlCol="0" anchor="t"/>
          <a:lstStyle/>
          <a:p>
            <a:pPr indent="0" marL="0">
              <a:buNone/>
            </a:pPr>
            <a:r>
              <a:rPr lang="en-US" sz="1600" dirty="0">
                <a:solidFill>
                  <a:schemeClr val="tx1"/>
                </a:solidFill>
              </a:rPr>
              <a:t>Eclipse Temurin 21 JRE Alpine. Only the built JAR ships, on port 8080.</a:t>
            </a:r>
            <a:endParaRPr lang="en-US" sz="1600" dirty="0"/>
          </a:p>
        </p:txBody>
      </p:sp>
      <p:sp>
        <p:nvSpPr>
          <p:cNvPr id="16" name="Lane Frontend"/>
          <p:cNvSpPr/>
          <p:nvPr/>
        </p:nvSpPr>
        <p:spPr>
          <a:xfrm>
            <a:off x="548640" y="3611880"/>
            <a:ext cx="2011680" cy="1920240"/>
          </a:xfrm>
          <a:prstGeom prst="roundRect">
            <a:avLst>
              <a:gd name="adj" fmla="val 5714"/>
            </a:avLst>
          </a:prstGeom>
          <a:solidFill>
            <a:schemeClr val="accent1"/>
          </a:solidFill>
          <a:ln w="12700">
            <a:solidFill>
              <a:schemeClr val="accent1"/>
            </a:solidFill>
            <a:prstDash val="solid"/>
          </a:ln>
        </p:spPr>
      </p:sp>
      <p:sp>
        <p:nvSpPr>
          <p:cNvPr id="17" name="Lane icon"/>
          <p:cNvSpPr/>
          <p:nvPr/>
        </p:nvSpPr>
        <p:spPr>
          <a:xfrm>
            <a:off x="1188720" y="3931920"/>
            <a:ext cx="731520" cy="731520"/>
          </a:xfrm>
          <a:prstGeom prst="ellipse">
            <a:avLst/>
          </a:prstGeom>
          <a:solidFill>
            <a:schemeClr val="bg1"/>
          </a:solidFill>
          <a:ln w="12700">
            <a:solidFill>
              <a:schemeClr val="bg1"/>
            </a:solidFill>
            <a:prstDash val="solid"/>
          </a:ln>
        </p:spPr>
      </p:sp>
      <p:pic>
        <p:nvPicPr>
          <p:cNvPr id="18" name="Icon FaReact" descr="React icon">    </p:cNvPr>
          <p:cNvPicPr>
            <a:picLocks noChangeAspect="1"/>
          </p:cNvPicPr>
          <p:nvPr/>
        </p:nvPicPr>
        <p:blipFill>
          <a:blip r:embed="rId2"/>
          <a:stretch>
            <a:fillRect/>
          </a:stretch>
        </p:blipFill>
        <p:spPr>
          <a:xfrm>
            <a:off x="1371600" y="4114800"/>
            <a:ext cx="365760" cy="365760"/>
          </a:xfrm>
          <a:prstGeom prst="rect">
            <a:avLst/>
          </a:prstGeom>
        </p:spPr>
      </p:pic>
      <p:sp>
        <p:nvSpPr>
          <p:cNvPr id="19" name="Text 15"/>
          <p:cNvSpPr txBox="1"/>
          <p:nvPr/>
        </p:nvSpPr>
        <p:spPr>
          <a:xfrm>
            <a:off x="548640" y="4800600"/>
            <a:ext cx="2011680" cy="457200"/>
          </a:xfrm>
          <a:prstGeom prst="rect">
            <a:avLst/>
          </a:prstGeom>
          <a:noFill/>
          <a:ln/>
        </p:spPr>
        <p:txBody>
          <a:bodyPr wrap="square" lIns="0" tIns="0" rIns="0" bIns="0" rtlCol="0" anchor="t"/>
          <a:lstStyle/>
          <a:p>
            <a:pPr algn="ctr" indent="0" marL="0">
              <a:buNone/>
            </a:pPr>
            <a:r>
              <a:rPr lang="en-US" sz="2000" b="1" dirty="0">
                <a:solidFill>
                  <a:schemeClr val="bg1"/>
                </a:solidFill>
              </a:rPr>
              <a:t>Frontend</a:t>
            </a:r>
            <a:endParaRPr lang="en-US" sz="2000" dirty="0"/>
          </a:p>
        </p:txBody>
      </p:sp>
      <p:sp>
        <p:nvSpPr>
          <p:cNvPr id="20" name="Build stage Frontend"/>
          <p:cNvSpPr/>
          <p:nvPr/>
        </p:nvSpPr>
        <p:spPr>
          <a:xfrm>
            <a:off x="2834640" y="3611880"/>
            <a:ext cx="3566160" cy="1920240"/>
          </a:xfrm>
          <a:prstGeom prst="roundRect">
            <a:avLst>
              <a:gd name="adj" fmla="val 5714"/>
            </a:avLst>
          </a:prstGeom>
          <a:solidFill>
            <a:schemeClr val="accent5"/>
          </a:solidFill>
          <a:ln w="12700">
            <a:solidFill>
              <a:schemeClr val="accent5"/>
            </a:solidFill>
            <a:prstDash val="solid"/>
          </a:ln>
        </p:spPr>
      </p:sp>
      <p:sp>
        <p:nvSpPr>
          <p:cNvPr id="21" name="Text 17"/>
          <p:cNvSpPr txBox="1"/>
          <p:nvPr/>
        </p:nvSpPr>
        <p:spPr>
          <a:xfrm>
            <a:off x="3063240" y="3840480"/>
            <a:ext cx="1828800" cy="365760"/>
          </a:xfrm>
          <a:prstGeom prst="rect">
            <a:avLst/>
          </a:prstGeom>
          <a:noFill/>
          <a:ln/>
        </p:spPr>
        <p:txBody>
          <a:bodyPr wrap="square" lIns="0" tIns="0" rIns="0" bIns="0" rtlCol="0" anchor="t"/>
          <a:lstStyle/>
          <a:p>
            <a:pPr indent="0" marL="0">
              <a:buNone/>
            </a:pPr>
            <a:r>
              <a:rPr lang="en-US" sz="1700" b="1" dirty="0">
                <a:solidFill>
                  <a:schemeClr val="tx1"/>
                </a:solidFill>
              </a:rPr>
              <a:t>Stage 1: Build</a:t>
            </a:r>
            <a:endParaRPr lang="en-US" sz="1700" dirty="0"/>
          </a:p>
        </p:txBody>
      </p:sp>
      <p:sp>
        <p:nvSpPr>
          <p:cNvPr id="22" name="Pill Discarded"/>
          <p:cNvSpPr txBox="1"/>
          <p:nvPr/>
        </p:nvSpPr>
        <p:spPr>
          <a:xfrm>
            <a:off x="5074920" y="3858768"/>
            <a:ext cx="1143000" cy="310896"/>
          </a:xfrm>
          <a:prstGeom prst="roundRect">
            <a:avLst>
              <a:gd name="adj" fmla="val 58824"/>
            </a:avLst>
          </a:prstGeom>
          <a:solidFill>
            <a:schemeClr val="bg1"/>
          </a:solidFill>
          <a:ln>
            <a:solidFill>
              <a:schemeClr val="bg1"/>
            </a:solidFill>
          </a:ln>
        </p:spPr>
        <p:txBody>
          <a:bodyPr wrap="square" lIns="0" tIns="0" rIns="0" bIns="0" rtlCol="0" anchor="ctr"/>
          <a:lstStyle/>
          <a:p>
            <a:pPr algn="ctr" indent="0" marL="0">
              <a:buNone/>
            </a:pPr>
            <a:r>
              <a:rPr lang="en-US" sz="1200" b="1" dirty="0">
                <a:solidFill>
                  <a:schemeClr val="tx2"/>
                </a:solidFill>
              </a:rPr>
              <a:t>Discarded</a:t>
            </a:r>
            <a:endParaRPr lang="en-US" sz="1200" dirty="0"/>
          </a:p>
        </p:txBody>
      </p:sp>
      <p:sp>
        <p:nvSpPr>
          <p:cNvPr id="23" name="Text 19"/>
          <p:cNvSpPr txBox="1"/>
          <p:nvPr/>
        </p:nvSpPr>
        <p:spPr>
          <a:xfrm>
            <a:off x="3063240" y="4343400"/>
            <a:ext cx="3154680" cy="1005840"/>
          </a:xfrm>
          <a:prstGeom prst="rect">
            <a:avLst/>
          </a:prstGeom>
          <a:noFill/>
          <a:ln/>
        </p:spPr>
        <p:txBody>
          <a:bodyPr wrap="square" lIns="0" tIns="0" rIns="0" bIns="0" rtlCol="0" anchor="t"/>
          <a:lstStyle/>
          <a:p>
            <a:pPr indent="0" marL="0">
              <a:buNone/>
            </a:pPr>
            <a:r>
              <a:rPr lang="en-US" sz="1600" dirty="0">
                <a:solidFill>
                  <a:schemeClr val="tx1"/>
                </a:solidFill>
              </a:rPr>
              <a:t>Node 18 Alpine. The npm install layer is cached, then npm run build.</a:t>
            </a:r>
            <a:endParaRPr lang="en-US" sz="1600" dirty="0"/>
          </a:p>
        </p:txBody>
      </p:sp>
      <p:sp>
        <p:nvSpPr>
          <p:cNvPr id="24" name="Arrow"/>
          <p:cNvSpPr/>
          <p:nvPr/>
        </p:nvSpPr>
        <p:spPr>
          <a:xfrm>
            <a:off x="6446520" y="4572000"/>
            <a:ext cx="594360" cy="0"/>
          </a:xfrm>
          <a:prstGeom prst="line">
            <a:avLst/>
          </a:prstGeom>
          <a:noFill/>
          <a:ln w="28575">
            <a:solidFill>
              <a:schemeClr val="tx2"/>
            </a:solidFill>
            <a:prstDash val="solid"/>
            <a:tailEnd type="triangle"/>
          </a:ln>
        </p:spPr>
      </p:sp>
      <p:sp>
        <p:nvSpPr>
          <p:cNvPr id="25" name="Run stage Frontend"/>
          <p:cNvSpPr/>
          <p:nvPr/>
        </p:nvSpPr>
        <p:spPr>
          <a:xfrm>
            <a:off x="7086600" y="3611880"/>
            <a:ext cx="4553712" cy="1920240"/>
          </a:xfrm>
          <a:prstGeom prst="roundRect">
            <a:avLst>
              <a:gd name="adj" fmla="val 5714"/>
            </a:avLst>
          </a:prstGeom>
          <a:solidFill>
            <a:schemeClr val="bg2"/>
          </a:solidFill>
          <a:ln w="12700">
            <a:solidFill>
              <a:schemeClr val="bg2"/>
            </a:solidFill>
            <a:prstDash val="solid"/>
          </a:ln>
        </p:spPr>
      </p:sp>
      <p:sp>
        <p:nvSpPr>
          <p:cNvPr id="26" name="Text 22"/>
          <p:cNvSpPr txBox="1"/>
          <p:nvPr/>
        </p:nvSpPr>
        <p:spPr>
          <a:xfrm>
            <a:off x="7315200" y="3840480"/>
            <a:ext cx="2286000" cy="365760"/>
          </a:xfrm>
          <a:prstGeom prst="rect">
            <a:avLst/>
          </a:prstGeom>
          <a:noFill/>
          <a:ln/>
        </p:spPr>
        <p:txBody>
          <a:bodyPr wrap="square" lIns="0" tIns="0" rIns="0" bIns="0" rtlCol="0" anchor="t"/>
          <a:lstStyle/>
          <a:p>
            <a:pPr indent="0" marL="0">
              <a:buNone/>
            </a:pPr>
            <a:r>
              <a:rPr lang="en-US" sz="1700" b="1" dirty="0">
                <a:solidFill>
                  <a:schemeClr val="tx1"/>
                </a:solidFill>
              </a:rPr>
              <a:t>Stage 2: Run</a:t>
            </a:r>
            <a:endParaRPr lang="en-US" sz="1700" dirty="0"/>
          </a:p>
        </p:txBody>
      </p:sp>
      <p:sp>
        <p:nvSpPr>
          <p:cNvPr id="27" name="Pill Shipped"/>
          <p:cNvSpPr txBox="1"/>
          <p:nvPr/>
        </p:nvSpPr>
        <p:spPr>
          <a:xfrm>
            <a:off x="10241280" y="3858768"/>
            <a:ext cx="1143000" cy="310896"/>
          </a:xfrm>
          <a:prstGeom prst="roundRect">
            <a:avLst>
              <a:gd name="adj" fmla="val 58824"/>
            </a:avLst>
          </a:prstGeom>
          <a:solidFill>
            <a:schemeClr val="accent1"/>
          </a:solidFill>
          <a:ln>
            <a:solidFill>
              <a:schemeClr val="accent1"/>
            </a:solidFill>
          </a:ln>
        </p:spPr>
        <p:txBody>
          <a:bodyPr wrap="square" lIns="0" tIns="0" rIns="0" bIns="0" rtlCol="0" anchor="ctr"/>
          <a:lstStyle/>
          <a:p>
            <a:pPr algn="ctr" indent="0" marL="0">
              <a:buNone/>
            </a:pPr>
            <a:r>
              <a:rPr lang="en-US" sz="1200" b="1" dirty="0">
                <a:solidFill>
                  <a:schemeClr val="bg1"/>
                </a:solidFill>
              </a:rPr>
              <a:t>Shipped</a:t>
            </a:r>
            <a:endParaRPr lang="en-US" sz="1200" dirty="0"/>
          </a:p>
        </p:txBody>
      </p:sp>
      <p:sp>
        <p:nvSpPr>
          <p:cNvPr id="28" name="Text 24"/>
          <p:cNvSpPr txBox="1"/>
          <p:nvPr/>
        </p:nvSpPr>
        <p:spPr>
          <a:xfrm>
            <a:off x="7315200" y="4343400"/>
            <a:ext cx="4114800" cy="1005840"/>
          </a:xfrm>
          <a:prstGeom prst="rect">
            <a:avLst/>
          </a:prstGeom>
          <a:noFill/>
          <a:ln/>
        </p:spPr>
        <p:txBody>
          <a:bodyPr wrap="square" lIns="0" tIns="0" rIns="0" bIns="0" rtlCol="0" anchor="t"/>
          <a:lstStyle/>
          <a:p>
            <a:pPr indent="0" marL="0">
              <a:buNone/>
            </a:pPr>
            <a:r>
              <a:rPr lang="en-US" sz="1600" dirty="0">
                <a:solidFill>
                  <a:schemeClr val="tx1"/>
                </a:solidFill>
              </a:rPr>
              <a:t>Nginx Alpine serves the static build with a try_files rule for single page routing, on port 80.</a:t>
            </a:r>
            <a:endParaRPr lang="en-US" sz="1600" dirty="0"/>
          </a:p>
        </p:txBody>
      </p:sp>
      <p:sp>
        <p:nvSpPr>
          <p:cNvPr id="29" name="Text 25"/>
          <p:cNvSpPr txBox="1"/>
          <p:nvPr/>
        </p:nvSpPr>
        <p:spPr>
          <a:xfrm>
            <a:off x="548640" y="5760720"/>
            <a:ext cx="11091672" cy="320040"/>
          </a:xfrm>
          <a:prstGeom prst="rect">
            <a:avLst/>
          </a:prstGeom>
          <a:noFill/>
          <a:ln/>
        </p:spPr>
        <p:txBody>
          <a:bodyPr wrap="square" lIns="0" tIns="0" rIns="0" bIns="0" rtlCol="0" anchor="t"/>
          <a:lstStyle/>
          <a:p>
            <a:pPr indent="0" marL="0">
              <a:buNone/>
            </a:pPr>
            <a:r>
              <a:rPr lang="en-US" sz="1400" dirty="0">
                <a:solidFill>
                  <a:schemeClr val="tx2"/>
                </a:solidFill>
              </a:rPr>
              <a:t>Images are published to Docker Hub under the gunveer06 account.</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One command local stack with Docker Compose</a:t>
            </a:r>
            <a:endParaRPr lang="en-US" sz="3200" dirty="0"/>
          </a:p>
        </p:txBody>
      </p:sp>
      <p:sp>
        <p:nvSpPr>
          <p:cNvPr id="3" name="Node frontend"/>
          <p:cNvSpPr/>
          <p:nvPr/>
        </p:nvSpPr>
        <p:spPr>
          <a:xfrm>
            <a:off x="548640" y="1417320"/>
            <a:ext cx="3227832" cy="1645920"/>
          </a:xfrm>
          <a:prstGeom prst="roundRect">
            <a:avLst>
              <a:gd name="adj" fmla="val 6667"/>
            </a:avLst>
          </a:prstGeom>
          <a:solidFill>
            <a:schemeClr val="bg2"/>
          </a:solidFill>
          <a:ln w="12700">
            <a:solidFill>
              <a:schemeClr val="bg2"/>
            </a:solidFill>
            <a:prstDash val="solid"/>
          </a:ln>
        </p:spPr>
      </p:sp>
      <p:sp>
        <p:nvSpPr>
          <p:cNvPr id="4" name="Icon circle"/>
          <p:cNvSpPr/>
          <p:nvPr/>
        </p:nvSpPr>
        <p:spPr>
          <a:xfrm>
            <a:off x="1888236" y="1581912"/>
            <a:ext cx="548640" cy="548640"/>
          </a:xfrm>
          <a:prstGeom prst="ellipse">
            <a:avLst/>
          </a:prstGeom>
          <a:solidFill>
            <a:schemeClr val="accent1"/>
          </a:solidFill>
          <a:ln w="12700">
            <a:solidFill>
              <a:schemeClr val="accent1"/>
            </a:solidFill>
            <a:prstDash val="solid"/>
          </a:ln>
        </p:spPr>
      </p:sp>
      <p:pic>
        <p:nvPicPr>
          <p:cNvPr id="5" name="Icon FaReact" descr="React icon">    </p:cNvPr>
          <p:cNvPicPr>
            <a:picLocks noChangeAspect="1"/>
          </p:cNvPicPr>
          <p:nvPr/>
        </p:nvPicPr>
        <p:blipFill>
          <a:blip r:embed="rId1"/>
          <a:stretch>
            <a:fillRect/>
          </a:stretch>
        </p:blipFill>
        <p:spPr>
          <a:xfrm>
            <a:off x="2025396" y="1719072"/>
            <a:ext cx="274320" cy="274320"/>
          </a:xfrm>
          <a:prstGeom prst="rect">
            <a:avLst/>
          </a:prstGeom>
        </p:spPr>
      </p:pic>
      <p:sp>
        <p:nvSpPr>
          <p:cNvPr id="6" name="Text 3"/>
          <p:cNvSpPr txBox="1"/>
          <p:nvPr/>
        </p:nvSpPr>
        <p:spPr>
          <a:xfrm>
            <a:off x="64008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frontend</a:t>
            </a:r>
            <a:endParaRPr lang="en-US" sz="1600" dirty="0"/>
          </a:p>
        </p:txBody>
      </p:sp>
      <p:sp>
        <p:nvSpPr>
          <p:cNvPr id="7" name="Text 4"/>
          <p:cNvSpPr txBox="1"/>
          <p:nvPr/>
        </p:nvSpPr>
        <p:spPr>
          <a:xfrm>
            <a:off x="64008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Nginx, port 80</a:t>
            </a:r>
            <a:endParaRPr lang="en-US" sz="1200" dirty="0"/>
          </a:p>
        </p:txBody>
      </p:sp>
      <p:sp>
        <p:nvSpPr>
          <p:cNvPr id="8" name="Node backend"/>
          <p:cNvSpPr/>
          <p:nvPr/>
        </p:nvSpPr>
        <p:spPr>
          <a:xfrm>
            <a:off x="4480560" y="1417320"/>
            <a:ext cx="3227832" cy="1645920"/>
          </a:xfrm>
          <a:prstGeom prst="roundRect">
            <a:avLst>
              <a:gd name="adj" fmla="val 6667"/>
            </a:avLst>
          </a:prstGeom>
          <a:solidFill>
            <a:schemeClr val="bg2"/>
          </a:solidFill>
          <a:ln w="12700">
            <a:solidFill>
              <a:schemeClr val="bg2"/>
            </a:solidFill>
            <a:prstDash val="solid"/>
          </a:ln>
        </p:spPr>
      </p:sp>
      <p:sp>
        <p:nvSpPr>
          <p:cNvPr id="9" name="Icon circle"/>
          <p:cNvSpPr/>
          <p:nvPr/>
        </p:nvSpPr>
        <p:spPr>
          <a:xfrm>
            <a:off x="5820156" y="1581912"/>
            <a:ext cx="548640" cy="548640"/>
          </a:xfrm>
          <a:prstGeom prst="ellipse">
            <a:avLst/>
          </a:prstGeom>
          <a:solidFill>
            <a:schemeClr val="accent1"/>
          </a:solidFill>
          <a:ln w="12700">
            <a:solidFill>
              <a:schemeClr val="accent1"/>
            </a:solidFill>
            <a:prstDash val="solid"/>
          </a:ln>
        </p:spPr>
      </p:sp>
      <p:pic>
        <p:nvPicPr>
          <p:cNvPr id="10" name="Icon FaJava" descr="Java icon">    </p:cNvPr>
          <p:cNvPicPr>
            <a:picLocks noChangeAspect="1"/>
          </p:cNvPicPr>
          <p:nvPr/>
        </p:nvPicPr>
        <p:blipFill>
          <a:blip r:embed="rId2"/>
          <a:stretch>
            <a:fillRect/>
          </a:stretch>
        </p:blipFill>
        <p:spPr>
          <a:xfrm>
            <a:off x="5957316" y="1719072"/>
            <a:ext cx="274320" cy="274320"/>
          </a:xfrm>
          <a:prstGeom prst="rect">
            <a:avLst/>
          </a:prstGeom>
        </p:spPr>
      </p:pic>
      <p:sp>
        <p:nvSpPr>
          <p:cNvPr id="11" name="Text 7"/>
          <p:cNvSpPr txBox="1"/>
          <p:nvPr/>
        </p:nvSpPr>
        <p:spPr>
          <a:xfrm>
            <a:off x="457200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backend</a:t>
            </a:r>
            <a:endParaRPr lang="en-US" sz="1600" dirty="0"/>
          </a:p>
        </p:txBody>
      </p:sp>
      <p:sp>
        <p:nvSpPr>
          <p:cNvPr id="12" name="Text 8"/>
          <p:cNvSpPr txBox="1"/>
          <p:nvPr/>
        </p:nvSpPr>
        <p:spPr>
          <a:xfrm>
            <a:off x="457200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Spring Boot, port 8080</a:t>
            </a:r>
            <a:endParaRPr lang="en-US" sz="1200" dirty="0"/>
          </a:p>
        </p:txBody>
      </p:sp>
      <p:sp>
        <p:nvSpPr>
          <p:cNvPr id="13" name="Node db"/>
          <p:cNvSpPr/>
          <p:nvPr/>
        </p:nvSpPr>
        <p:spPr>
          <a:xfrm>
            <a:off x="8412480" y="1417320"/>
            <a:ext cx="3227832" cy="1645920"/>
          </a:xfrm>
          <a:prstGeom prst="roundRect">
            <a:avLst>
              <a:gd name="adj" fmla="val 6667"/>
            </a:avLst>
          </a:prstGeom>
          <a:solidFill>
            <a:schemeClr val="bg2"/>
          </a:solidFill>
          <a:ln w="12700">
            <a:solidFill>
              <a:schemeClr val="bg2"/>
            </a:solidFill>
            <a:prstDash val="solid"/>
          </a:ln>
        </p:spPr>
      </p:sp>
      <p:sp>
        <p:nvSpPr>
          <p:cNvPr id="14" name="Icon circle"/>
          <p:cNvSpPr/>
          <p:nvPr/>
        </p:nvSpPr>
        <p:spPr>
          <a:xfrm>
            <a:off x="9752076" y="1581912"/>
            <a:ext cx="548640" cy="548640"/>
          </a:xfrm>
          <a:prstGeom prst="ellipse">
            <a:avLst/>
          </a:prstGeom>
          <a:solidFill>
            <a:schemeClr val="accent2"/>
          </a:solidFill>
          <a:ln w="12700">
            <a:solidFill>
              <a:schemeClr val="accent2"/>
            </a:solidFill>
            <a:prstDash val="solid"/>
          </a:ln>
        </p:spPr>
      </p:sp>
      <p:pic>
        <p:nvPicPr>
          <p:cNvPr id="15" name="Icon FaDatabase" descr="Database icon">    </p:cNvPr>
          <p:cNvPicPr>
            <a:picLocks noChangeAspect="1"/>
          </p:cNvPicPr>
          <p:nvPr/>
        </p:nvPicPr>
        <p:blipFill>
          <a:blip r:embed="rId3"/>
          <a:stretch>
            <a:fillRect/>
          </a:stretch>
        </p:blipFill>
        <p:spPr>
          <a:xfrm>
            <a:off x="9889236" y="1719072"/>
            <a:ext cx="274320" cy="274320"/>
          </a:xfrm>
          <a:prstGeom prst="rect">
            <a:avLst/>
          </a:prstGeom>
        </p:spPr>
      </p:pic>
      <p:sp>
        <p:nvSpPr>
          <p:cNvPr id="16" name="Text 11"/>
          <p:cNvSpPr txBox="1"/>
          <p:nvPr/>
        </p:nvSpPr>
        <p:spPr>
          <a:xfrm>
            <a:off x="850392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db</a:t>
            </a:r>
            <a:endParaRPr lang="en-US" sz="1600" dirty="0"/>
          </a:p>
        </p:txBody>
      </p:sp>
      <p:sp>
        <p:nvSpPr>
          <p:cNvPr id="17" name="Text 12"/>
          <p:cNvSpPr txBox="1"/>
          <p:nvPr/>
        </p:nvSpPr>
        <p:spPr>
          <a:xfrm>
            <a:off x="850392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PostgreSQL 15, port 5432</a:t>
            </a:r>
            <a:endParaRPr lang="en-US" sz="1200" dirty="0"/>
          </a:p>
        </p:txBody>
      </p:sp>
      <p:sp>
        <p:nvSpPr>
          <p:cNvPr id="18" name="Arrow"/>
          <p:cNvSpPr/>
          <p:nvPr/>
        </p:nvSpPr>
        <p:spPr>
          <a:xfrm>
            <a:off x="3822192" y="2240280"/>
            <a:ext cx="658368" cy="0"/>
          </a:xfrm>
          <a:prstGeom prst="line">
            <a:avLst/>
          </a:prstGeom>
          <a:noFill/>
          <a:ln w="28575">
            <a:solidFill>
              <a:schemeClr val="tx2"/>
            </a:solidFill>
            <a:prstDash val="solid"/>
            <a:tailEnd type="triangle"/>
          </a:ln>
        </p:spPr>
      </p:sp>
      <p:sp>
        <p:nvSpPr>
          <p:cNvPr id="19" name="Arrow"/>
          <p:cNvSpPr/>
          <p:nvPr/>
        </p:nvSpPr>
        <p:spPr>
          <a:xfrm>
            <a:off x="7754112" y="2240280"/>
            <a:ext cx="658368" cy="0"/>
          </a:xfrm>
          <a:prstGeom prst="line">
            <a:avLst/>
          </a:prstGeom>
          <a:noFill/>
          <a:ln w="28575">
            <a:solidFill>
              <a:schemeClr val="tx2"/>
            </a:solidFill>
            <a:prstDash val="solid"/>
            <a:tailEnd type="triangle"/>
          </a:ln>
        </p:spPr>
      </p:sp>
      <p:sp>
        <p:nvSpPr>
          <p:cNvPr id="20" name="Text 15"/>
          <p:cNvSpPr txBox="1"/>
          <p:nvPr/>
        </p:nvSpPr>
        <p:spPr>
          <a:xfrm>
            <a:off x="548640" y="3246120"/>
            <a:ext cx="11091672" cy="320040"/>
          </a:xfrm>
          <a:prstGeom prst="rect">
            <a:avLst/>
          </a:prstGeom>
          <a:noFill/>
          <a:ln/>
        </p:spPr>
        <p:txBody>
          <a:bodyPr wrap="square" lIns="0" tIns="0" rIns="0" bIns="0" rtlCol="0" anchor="t"/>
          <a:lstStyle/>
          <a:p>
            <a:pPr indent="0" marL="0">
              <a:buNone/>
            </a:pPr>
            <a:r>
              <a:rPr lang="en-US" sz="1400" dirty="0">
                <a:solidFill>
                  <a:schemeClr val="tx2"/>
                </a:solidFill>
              </a:rPr>
              <a:t>Frontend waits for backend, backend waits for database</a:t>
            </a:r>
            <a:endParaRPr lang="en-US" sz="1400" dirty="0"/>
          </a:p>
        </p:txBody>
      </p:sp>
      <p:sp>
        <p:nvSpPr>
          <p:cNvPr id="21" name="Card Persistence"/>
          <p:cNvSpPr/>
          <p:nvPr/>
        </p:nvSpPr>
        <p:spPr>
          <a:xfrm>
            <a:off x="548640" y="3794760"/>
            <a:ext cx="3514344" cy="2103120"/>
          </a:xfrm>
          <a:prstGeom prst="roundRect">
            <a:avLst>
              <a:gd name="adj" fmla="val 5217"/>
            </a:avLst>
          </a:prstGeom>
          <a:solidFill>
            <a:schemeClr val="bg2"/>
          </a:solidFill>
          <a:ln w="12700">
            <a:solidFill>
              <a:schemeClr val="bg2"/>
            </a:solidFill>
            <a:prstDash val="solid"/>
          </a:ln>
        </p:spPr>
      </p:sp>
      <p:sp>
        <p:nvSpPr>
          <p:cNvPr id="22" name="Icon circle"/>
          <p:cNvSpPr/>
          <p:nvPr/>
        </p:nvSpPr>
        <p:spPr>
          <a:xfrm>
            <a:off x="822960" y="4023360"/>
            <a:ext cx="640080" cy="640080"/>
          </a:xfrm>
          <a:prstGeom prst="ellipse">
            <a:avLst/>
          </a:prstGeom>
          <a:solidFill>
            <a:schemeClr val="accent1"/>
          </a:solidFill>
          <a:ln w="12700">
            <a:solidFill>
              <a:schemeClr val="accent1"/>
            </a:solidFill>
            <a:prstDash val="solid"/>
          </a:ln>
        </p:spPr>
      </p:sp>
      <p:pic>
        <p:nvPicPr>
          <p:cNvPr id="23" name="Icon FaLayerGroup" descr="LayerGroup icon">    </p:cNvPr>
          <p:cNvPicPr>
            <a:picLocks noChangeAspect="1"/>
          </p:cNvPicPr>
          <p:nvPr/>
        </p:nvPicPr>
        <p:blipFill>
          <a:blip r:embed="rId4"/>
          <a:stretch>
            <a:fillRect/>
          </a:stretch>
        </p:blipFill>
        <p:spPr>
          <a:xfrm>
            <a:off x="982980" y="4183380"/>
            <a:ext cx="320040" cy="320040"/>
          </a:xfrm>
          <a:prstGeom prst="rect">
            <a:avLst/>
          </a:prstGeom>
        </p:spPr>
      </p:pic>
      <p:sp>
        <p:nvSpPr>
          <p:cNvPr id="24" name="Text 18"/>
          <p:cNvSpPr txBox="1"/>
          <p:nvPr/>
        </p:nvSpPr>
        <p:spPr>
          <a:xfrm>
            <a:off x="1645920" y="4069080"/>
            <a:ext cx="2234184" cy="548640"/>
          </a:xfrm>
          <a:prstGeom prst="rect">
            <a:avLst/>
          </a:prstGeom>
          <a:noFill/>
          <a:ln/>
        </p:spPr>
        <p:txBody>
          <a:bodyPr wrap="square" lIns="0" tIns="0" rIns="0" bIns="0" rtlCol="0" anchor="ctr"/>
          <a:lstStyle/>
          <a:p>
            <a:pPr indent="0" marL="0">
              <a:buNone/>
            </a:pPr>
            <a:r>
              <a:rPr lang="en-US" sz="1800" b="1" dirty="0">
                <a:solidFill>
                  <a:schemeClr val="tx1"/>
                </a:solidFill>
              </a:rPr>
              <a:t>Persistence</a:t>
            </a:r>
            <a:endParaRPr lang="en-US" sz="1800" dirty="0"/>
          </a:p>
        </p:txBody>
      </p:sp>
      <p:sp>
        <p:nvSpPr>
          <p:cNvPr id="25" name="Text 19"/>
          <p:cNvSpPr txBox="1"/>
          <p:nvPr/>
        </p:nvSpPr>
        <p:spPr>
          <a:xfrm>
            <a:off x="822960" y="4846320"/>
            <a:ext cx="2965704" cy="1005840"/>
          </a:xfrm>
          <a:prstGeom prst="rect">
            <a:avLst/>
          </a:prstGeom>
          <a:noFill/>
          <a:ln/>
        </p:spPr>
        <p:txBody>
          <a:bodyPr wrap="square" lIns="0" tIns="0" rIns="0" bIns="0" rtlCol="0" anchor="t"/>
          <a:lstStyle/>
          <a:p>
            <a:pPr indent="0" marL="0">
              <a:buNone/>
            </a:pPr>
            <a:r>
              <a:rPr lang="en-US" sz="1600" dirty="0">
                <a:solidFill>
                  <a:schemeClr val="tx1"/>
                </a:solidFill>
              </a:rPr>
              <a:t>A named volume keeps database data across restarts.</a:t>
            </a:r>
            <a:endParaRPr lang="en-US" sz="1600" dirty="0"/>
          </a:p>
        </p:txBody>
      </p:sp>
      <p:sp>
        <p:nvSpPr>
          <p:cNvPr id="26" name="Card Wiring"/>
          <p:cNvSpPr/>
          <p:nvPr/>
        </p:nvSpPr>
        <p:spPr>
          <a:xfrm>
            <a:off x="4337304" y="3794760"/>
            <a:ext cx="3514344" cy="2103120"/>
          </a:xfrm>
          <a:prstGeom prst="roundRect">
            <a:avLst>
              <a:gd name="adj" fmla="val 5217"/>
            </a:avLst>
          </a:prstGeom>
          <a:solidFill>
            <a:schemeClr val="bg2"/>
          </a:solidFill>
          <a:ln w="12700">
            <a:solidFill>
              <a:schemeClr val="bg2"/>
            </a:solidFill>
            <a:prstDash val="solid"/>
          </a:ln>
        </p:spPr>
      </p:sp>
      <p:sp>
        <p:nvSpPr>
          <p:cNvPr id="27" name="Icon circle"/>
          <p:cNvSpPr/>
          <p:nvPr/>
        </p:nvSpPr>
        <p:spPr>
          <a:xfrm>
            <a:off x="4611624" y="4023360"/>
            <a:ext cx="640080" cy="640080"/>
          </a:xfrm>
          <a:prstGeom prst="ellipse">
            <a:avLst/>
          </a:prstGeom>
          <a:solidFill>
            <a:schemeClr val="accent1"/>
          </a:solidFill>
          <a:ln w="12700">
            <a:solidFill>
              <a:schemeClr val="accent1"/>
            </a:solidFill>
            <a:prstDash val="solid"/>
          </a:ln>
        </p:spPr>
      </p:sp>
      <p:pic>
        <p:nvPicPr>
          <p:cNvPr id="28" name="Icon FaPlug" descr="Plug icon">    </p:cNvPr>
          <p:cNvPicPr>
            <a:picLocks noChangeAspect="1"/>
          </p:cNvPicPr>
          <p:nvPr/>
        </p:nvPicPr>
        <p:blipFill>
          <a:blip r:embed="rId5"/>
          <a:stretch>
            <a:fillRect/>
          </a:stretch>
        </p:blipFill>
        <p:spPr>
          <a:xfrm>
            <a:off x="4771644" y="4183380"/>
            <a:ext cx="320040" cy="320040"/>
          </a:xfrm>
          <a:prstGeom prst="rect">
            <a:avLst/>
          </a:prstGeom>
        </p:spPr>
      </p:pic>
      <p:sp>
        <p:nvSpPr>
          <p:cNvPr id="29" name="Text 22"/>
          <p:cNvSpPr txBox="1"/>
          <p:nvPr/>
        </p:nvSpPr>
        <p:spPr>
          <a:xfrm>
            <a:off x="5434584" y="4069080"/>
            <a:ext cx="2234184" cy="548640"/>
          </a:xfrm>
          <a:prstGeom prst="rect">
            <a:avLst/>
          </a:prstGeom>
          <a:noFill/>
          <a:ln/>
        </p:spPr>
        <p:txBody>
          <a:bodyPr wrap="square" lIns="0" tIns="0" rIns="0" bIns="0" rtlCol="0" anchor="ctr"/>
          <a:lstStyle/>
          <a:p>
            <a:pPr indent="0" marL="0">
              <a:buNone/>
            </a:pPr>
            <a:r>
              <a:rPr lang="en-US" sz="1800" b="1" dirty="0">
                <a:solidFill>
                  <a:schemeClr val="tx1"/>
                </a:solidFill>
              </a:rPr>
              <a:t>Wiring</a:t>
            </a:r>
            <a:endParaRPr lang="en-US" sz="1800" dirty="0"/>
          </a:p>
        </p:txBody>
      </p:sp>
      <p:sp>
        <p:nvSpPr>
          <p:cNvPr id="30" name="Text 23"/>
          <p:cNvSpPr txBox="1"/>
          <p:nvPr/>
        </p:nvSpPr>
        <p:spPr>
          <a:xfrm>
            <a:off x="4611624" y="4846320"/>
            <a:ext cx="2965704" cy="1005840"/>
          </a:xfrm>
          <a:prstGeom prst="rect">
            <a:avLst/>
          </a:prstGeom>
          <a:noFill/>
          <a:ln/>
        </p:spPr>
        <p:txBody>
          <a:bodyPr wrap="square" lIns="0" tIns="0" rIns="0" bIns="0" rtlCol="0" anchor="t"/>
          <a:lstStyle/>
          <a:p>
            <a:pPr indent="0" marL="0">
              <a:buNone/>
            </a:pPr>
            <a:r>
              <a:rPr lang="en-US" sz="1600" dirty="0">
                <a:solidFill>
                  <a:schemeClr val="tx1"/>
                </a:solidFill>
              </a:rPr>
              <a:t>The backend receives its datasource URL and credentials through environment variables.</a:t>
            </a:r>
            <a:endParaRPr lang="en-US" sz="1600" dirty="0"/>
          </a:p>
        </p:txBody>
      </p:sp>
      <p:sp>
        <p:nvSpPr>
          <p:cNvPr id="31" name="Card Startup order"/>
          <p:cNvSpPr/>
          <p:nvPr/>
        </p:nvSpPr>
        <p:spPr>
          <a:xfrm>
            <a:off x="8125968" y="3794760"/>
            <a:ext cx="3514344" cy="2103120"/>
          </a:xfrm>
          <a:prstGeom prst="roundRect">
            <a:avLst>
              <a:gd name="adj" fmla="val 5217"/>
            </a:avLst>
          </a:prstGeom>
          <a:solidFill>
            <a:schemeClr val="bg2"/>
          </a:solidFill>
          <a:ln w="12700">
            <a:solidFill>
              <a:schemeClr val="bg2"/>
            </a:solidFill>
            <a:prstDash val="solid"/>
          </a:ln>
        </p:spPr>
      </p:sp>
      <p:sp>
        <p:nvSpPr>
          <p:cNvPr id="32" name="Icon circle"/>
          <p:cNvSpPr/>
          <p:nvPr/>
        </p:nvSpPr>
        <p:spPr>
          <a:xfrm>
            <a:off x="8400288" y="4023360"/>
            <a:ext cx="640080" cy="640080"/>
          </a:xfrm>
          <a:prstGeom prst="ellipse">
            <a:avLst/>
          </a:prstGeom>
          <a:solidFill>
            <a:schemeClr val="accent1"/>
          </a:solidFill>
          <a:ln w="12700">
            <a:solidFill>
              <a:schemeClr val="accent1"/>
            </a:solidFill>
            <a:prstDash val="solid"/>
          </a:ln>
        </p:spPr>
      </p:sp>
      <p:pic>
        <p:nvPicPr>
          <p:cNvPr id="33" name="Icon FaStream" descr="Stream icon">    </p:cNvPr>
          <p:cNvPicPr>
            <a:picLocks noChangeAspect="1"/>
          </p:cNvPicPr>
          <p:nvPr/>
        </p:nvPicPr>
        <p:blipFill>
          <a:blip r:embed="rId6"/>
          <a:stretch>
            <a:fillRect/>
          </a:stretch>
        </p:blipFill>
        <p:spPr>
          <a:xfrm>
            <a:off x="8560308" y="4183380"/>
            <a:ext cx="320040" cy="320040"/>
          </a:xfrm>
          <a:prstGeom prst="rect">
            <a:avLst/>
          </a:prstGeom>
        </p:spPr>
      </p:pic>
      <p:sp>
        <p:nvSpPr>
          <p:cNvPr id="34" name="Text 26"/>
          <p:cNvSpPr txBox="1"/>
          <p:nvPr/>
        </p:nvSpPr>
        <p:spPr>
          <a:xfrm>
            <a:off x="9223248" y="4069080"/>
            <a:ext cx="2234184" cy="548640"/>
          </a:xfrm>
          <a:prstGeom prst="rect">
            <a:avLst/>
          </a:prstGeom>
          <a:noFill/>
          <a:ln/>
        </p:spPr>
        <p:txBody>
          <a:bodyPr wrap="square" lIns="0" tIns="0" rIns="0" bIns="0" rtlCol="0" anchor="ctr"/>
          <a:lstStyle/>
          <a:p>
            <a:pPr indent="0" marL="0">
              <a:buNone/>
            </a:pPr>
            <a:r>
              <a:rPr lang="en-US" sz="1800" b="1" dirty="0">
                <a:solidFill>
                  <a:schemeClr val="tx1"/>
                </a:solidFill>
              </a:rPr>
              <a:t>Startup order</a:t>
            </a:r>
            <a:endParaRPr lang="en-US" sz="1800" dirty="0"/>
          </a:p>
        </p:txBody>
      </p:sp>
      <p:sp>
        <p:nvSpPr>
          <p:cNvPr id="35" name="Text 27"/>
          <p:cNvSpPr txBox="1"/>
          <p:nvPr/>
        </p:nvSpPr>
        <p:spPr>
          <a:xfrm>
            <a:off x="8400288" y="4846320"/>
            <a:ext cx="2965704" cy="1005840"/>
          </a:xfrm>
          <a:prstGeom prst="rect">
            <a:avLst/>
          </a:prstGeom>
          <a:noFill/>
          <a:ln/>
        </p:spPr>
        <p:txBody>
          <a:bodyPr wrap="square" lIns="0" tIns="0" rIns="0" bIns="0" rtlCol="0" anchor="t"/>
          <a:lstStyle/>
          <a:p>
            <a:pPr indent="0" marL="0">
              <a:buNone/>
            </a:pPr>
            <a:r>
              <a:rPr lang="en-US" sz="1600" dirty="0">
                <a:solidFill>
                  <a:schemeClr val="tx1"/>
                </a:solidFill>
              </a:rPr>
              <a:t>depends_on starts the services in sequence, from database to frontend.</a:t>
            </a:r>
            <a:endParaRPr lang="en-US" sz="16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Evidence: building the Docker images</a:t>
            </a:r>
            <a:endParaRPr lang="en-US" sz="3200" dirty="0"/>
          </a:p>
        </p:txBody>
      </p:sp>
      <p:sp>
        <p:nvSpPr>
          <p:cNvPr id="3" name="Frame image8.png"/>
          <p:cNvSpPr/>
          <p:nvPr/>
        </p:nvSpPr>
        <p:spPr>
          <a:xfrm>
            <a:off x="548640" y="1435608"/>
            <a:ext cx="7187184" cy="2435670"/>
          </a:xfrm>
          <a:prstGeom prst="roundRect">
            <a:avLst>
              <a:gd name="adj" fmla="val 2253"/>
            </a:avLst>
          </a:prstGeom>
          <a:solidFill>
            <a:srgbClr val="FFFFFF"/>
          </a:solidFill>
          <a:ln w="12700">
            <a:solidFill>
              <a:srgbClr val="BFDDE0"/>
            </a:solidFill>
            <a:prstDash val="solid"/>
          </a:ln>
        </p:spPr>
      </p:sp>
      <p:pic>
        <p:nvPicPr>
          <p:cNvPr id="4" name="Screenshot image8.png" descr="Terminal output of docker compose build">    </p:cNvPr>
          <p:cNvPicPr>
            <a:picLocks noChangeAspect="1"/>
          </p:cNvPicPr>
          <p:nvPr/>
        </p:nvPicPr>
        <p:blipFill>
          <a:blip r:embed="rId1"/>
          <a:stretch>
            <a:fillRect/>
          </a:stretch>
        </p:blipFill>
        <p:spPr>
          <a:xfrm>
            <a:off x="621792" y="1508760"/>
            <a:ext cx="7040880" cy="2289366"/>
          </a:xfrm>
          <a:prstGeom prst="rect">
            <a:avLst/>
          </a:prstGeom>
        </p:spPr>
      </p:pic>
      <p:sp>
        <p:nvSpPr>
          <p:cNvPr id="5" name="Frame image9.png"/>
          <p:cNvSpPr/>
          <p:nvPr/>
        </p:nvSpPr>
        <p:spPr>
          <a:xfrm>
            <a:off x="548640" y="4133088"/>
            <a:ext cx="7187184" cy="2030960"/>
          </a:xfrm>
          <a:prstGeom prst="roundRect">
            <a:avLst>
              <a:gd name="adj" fmla="val 2701"/>
            </a:avLst>
          </a:prstGeom>
          <a:solidFill>
            <a:srgbClr val="FFFFFF"/>
          </a:solidFill>
          <a:ln w="12700">
            <a:solidFill>
              <a:srgbClr val="BFDDE0"/>
            </a:solidFill>
            <a:prstDash val="solid"/>
          </a:ln>
        </p:spPr>
      </p:sp>
      <p:pic>
        <p:nvPicPr>
          <p:cNvPr id="6" name="Screenshot image9.png" descr="Terminal output showing both images built">    </p:cNvPr>
          <p:cNvPicPr>
            <a:picLocks noChangeAspect="1"/>
          </p:cNvPicPr>
          <p:nvPr/>
        </p:nvPicPr>
        <p:blipFill>
          <a:blip r:embed="rId2"/>
          <a:stretch>
            <a:fillRect/>
          </a:stretch>
        </p:blipFill>
        <p:spPr>
          <a:xfrm>
            <a:off x="621792" y="4206240"/>
            <a:ext cx="7040880" cy="1884656"/>
          </a:xfrm>
          <a:prstGeom prst="rect">
            <a:avLst/>
          </a:prstGeom>
        </p:spPr>
      </p:pic>
      <p:sp>
        <p:nvSpPr>
          <p:cNvPr id="7" name="Build facts card"/>
          <p:cNvSpPr/>
          <p:nvPr/>
        </p:nvSpPr>
        <p:spPr>
          <a:xfrm>
            <a:off x="8092440" y="1417320"/>
            <a:ext cx="3547872" cy="4572000"/>
          </a:xfrm>
          <a:prstGeom prst="roundRect">
            <a:avLst>
              <a:gd name="adj" fmla="val 3093"/>
            </a:avLst>
          </a:prstGeom>
          <a:solidFill>
            <a:schemeClr val="bg2"/>
          </a:solidFill>
          <a:ln w="12700">
            <a:solidFill>
              <a:schemeClr val="bg2"/>
            </a:solidFill>
            <a:prstDash val="solid"/>
          </a:ln>
        </p:spPr>
      </p:sp>
      <p:sp>
        <p:nvSpPr>
          <p:cNvPr id="8" name="Icon circle"/>
          <p:cNvSpPr/>
          <p:nvPr/>
        </p:nvSpPr>
        <p:spPr>
          <a:xfrm>
            <a:off x="8366760" y="1691640"/>
            <a:ext cx="640080" cy="640080"/>
          </a:xfrm>
          <a:prstGeom prst="ellipse">
            <a:avLst/>
          </a:prstGeom>
          <a:solidFill>
            <a:schemeClr val="accent1"/>
          </a:solidFill>
          <a:ln w="12700">
            <a:solidFill>
              <a:schemeClr val="accent1"/>
            </a:solidFill>
            <a:prstDash val="solid"/>
          </a:ln>
        </p:spPr>
      </p:sp>
      <p:pic>
        <p:nvPicPr>
          <p:cNvPr id="9" name="Icon FaDocker" descr="Docker icon">    </p:cNvPr>
          <p:cNvPicPr>
            <a:picLocks noChangeAspect="1"/>
          </p:cNvPicPr>
          <p:nvPr/>
        </p:nvPicPr>
        <p:blipFill>
          <a:blip r:embed="rId3"/>
          <a:stretch>
            <a:fillRect/>
          </a:stretch>
        </p:blipFill>
        <p:spPr>
          <a:xfrm>
            <a:off x="8526780" y="1851660"/>
            <a:ext cx="320040" cy="320040"/>
          </a:xfrm>
          <a:prstGeom prst="rect">
            <a:avLst/>
          </a:prstGeom>
        </p:spPr>
      </p:pic>
      <p:sp>
        <p:nvSpPr>
          <p:cNvPr id="10" name="Text 5"/>
          <p:cNvSpPr txBox="1"/>
          <p:nvPr/>
        </p:nvSpPr>
        <p:spPr>
          <a:xfrm>
            <a:off x="9189720" y="1691640"/>
            <a:ext cx="2331720" cy="640080"/>
          </a:xfrm>
          <a:prstGeom prst="rect">
            <a:avLst/>
          </a:prstGeom>
          <a:noFill/>
          <a:ln/>
        </p:spPr>
        <p:txBody>
          <a:bodyPr wrap="square" lIns="0" tIns="0" rIns="0" bIns="0" rtlCol="0" anchor="ctr"/>
          <a:lstStyle/>
          <a:p>
            <a:pPr indent="0" marL="0">
              <a:buNone/>
            </a:pPr>
            <a:r>
              <a:rPr lang="en-US" sz="1800" b="1" dirty="0">
                <a:solidFill>
                  <a:schemeClr val="tx1"/>
                </a:solidFill>
              </a:rPr>
              <a:t>What the build shows</a:t>
            </a:r>
            <a:endParaRPr lang="en-US" sz="1800" dirty="0"/>
          </a:p>
        </p:txBody>
      </p:sp>
      <p:sp>
        <p:nvSpPr>
          <p:cNvPr id="11" name="Text 6"/>
          <p:cNvSpPr txBox="1"/>
          <p:nvPr/>
        </p:nvSpPr>
        <p:spPr>
          <a:xfrm>
            <a:off x="8366760" y="2606040"/>
            <a:ext cx="301752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Compose built both the backend and frontend images</a:t>
            </a:r>
            <a:endParaRPr lang="en-US" sz="1400" dirty="0"/>
          </a:p>
          <a:p>
            <a:pPr marL="342900" indent="-342900">
              <a:spcAft>
                <a:spcPts val="800"/>
              </a:spcAft>
              <a:buSzPct val="100000"/>
              <a:buChar char="•"/>
            </a:pPr>
            <a:r>
              <a:rPr lang="en-US" sz="1400" dirty="0">
                <a:solidFill>
                  <a:schemeClr val="tx1"/>
                </a:solidFill>
              </a:rPr>
              <a:t>Backend base image: Maven 3.9.6 on Eclipse Temurin 21</a:t>
            </a:r>
            <a:endParaRPr lang="en-US" sz="1400" dirty="0"/>
          </a:p>
          <a:p>
            <a:pPr marL="342900" indent="-342900">
              <a:spcAft>
                <a:spcPts val="800"/>
              </a:spcAft>
              <a:buSzPct val="100000"/>
              <a:buChar char="•"/>
            </a:pPr>
            <a:r>
              <a:rPr lang="en-US" sz="1400" dirty="0">
                <a:solidFill>
                  <a:schemeClr val="tx1"/>
                </a:solidFill>
              </a:rPr>
              <a:t>Each image finished in about 7 seconds</a:t>
            </a:r>
            <a:endParaRPr lang="en-US" sz="1400" dirty="0"/>
          </a:p>
          <a:p>
            <a:pPr marL="342900" indent="-342900">
              <a:spcAft>
                <a:spcPts val="800"/>
              </a:spcAft>
              <a:buSzPct val="100000"/>
              <a:buChar char="•"/>
            </a:pPr>
            <a:r>
              <a:rPr lang="en-US" sz="1400" dirty="0">
                <a:solidFill>
                  <a:schemeClr val="tx1"/>
                </a:solidFill>
              </a:rPr>
              <a:t>Compose flags the version attribute as obsolete, a small cleanup item</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Automated CI/CD with GitHub Actions</a:t>
            </a:r>
            <a:endParaRPr lang="en-US" sz="3200" dirty="0"/>
          </a:p>
        </p:txBody>
      </p:sp>
      <p:sp>
        <p:nvSpPr>
          <p:cNvPr id="3" name="Job Build and test"/>
          <p:cNvSpPr/>
          <p:nvPr/>
        </p:nvSpPr>
        <p:spPr>
          <a:xfrm>
            <a:off x="548640" y="1417320"/>
            <a:ext cx="3227832" cy="3063240"/>
          </a:xfrm>
          <a:prstGeom prst="roundRect">
            <a:avLst>
              <a:gd name="adj" fmla="val 3582"/>
            </a:avLst>
          </a:prstGeom>
          <a:solidFill>
            <a:schemeClr val="bg2"/>
          </a:solidFill>
          <a:ln w="12700">
            <a:solidFill>
              <a:schemeClr val="bg2"/>
            </a:solidFill>
            <a:prstDash val="solid"/>
          </a:ln>
        </p:spPr>
      </p:sp>
      <p:sp>
        <p:nvSpPr>
          <p:cNvPr id="4" name="Initials 1"/>
          <p:cNvSpPr txBox="1"/>
          <p:nvPr/>
        </p:nvSpPr>
        <p:spPr>
          <a:xfrm>
            <a:off x="777240" y="1645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645920"/>
            <a:ext cx="2103120" cy="548640"/>
          </a:xfrm>
          <a:prstGeom prst="rect">
            <a:avLst/>
          </a:prstGeom>
          <a:noFill/>
          <a:ln/>
        </p:spPr>
        <p:txBody>
          <a:bodyPr wrap="square" lIns="0" tIns="0" rIns="0" bIns="0" rtlCol="0" anchor="ctr"/>
          <a:lstStyle/>
          <a:p>
            <a:pPr indent="0" marL="0">
              <a:buNone/>
            </a:pPr>
            <a:r>
              <a:rPr lang="en-US" sz="1800" b="1" dirty="0">
                <a:solidFill>
                  <a:schemeClr val="tx1"/>
                </a:solidFill>
              </a:rPr>
              <a:t>Build and test</a:t>
            </a:r>
            <a:endParaRPr lang="en-US" sz="1800" dirty="0"/>
          </a:p>
        </p:txBody>
      </p:sp>
      <p:sp>
        <p:nvSpPr>
          <p:cNvPr id="6" name="Text 4"/>
          <p:cNvSpPr txBox="1"/>
          <p:nvPr/>
        </p:nvSpPr>
        <p:spPr>
          <a:xfrm>
            <a:off x="822960" y="2468880"/>
            <a:ext cx="27432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Set up Java 21 and build with the Maven wrapper</a:t>
            </a:r>
            <a:endParaRPr lang="en-US" sz="1500" dirty="0"/>
          </a:p>
          <a:p>
            <a:pPr marL="342900" indent="-342900">
              <a:spcAft>
                <a:spcPts val="800"/>
              </a:spcAft>
              <a:buSzPct val="100000"/>
              <a:buChar char="•"/>
            </a:pPr>
            <a:r>
              <a:rPr lang="en-US" sz="1500" dirty="0">
                <a:solidFill>
                  <a:schemeClr val="tx1"/>
                </a:solidFill>
              </a:rPr>
              <a:t>Set up Node 18, npm install and build the React app</a:t>
            </a:r>
            <a:endParaRPr lang="en-US" sz="1500" dirty="0"/>
          </a:p>
        </p:txBody>
      </p:sp>
      <p:sp>
        <p:nvSpPr>
          <p:cNvPr id="7" name="Arrow"/>
          <p:cNvSpPr/>
          <p:nvPr/>
        </p:nvSpPr>
        <p:spPr>
          <a:xfrm>
            <a:off x="3822192" y="2926080"/>
            <a:ext cx="612648" cy="0"/>
          </a:xfrm>
          <a:prstGeom prst="line">
            <a:avLst/>
          </a:prstGeom>
          <a:noFill/>
          <a:ln w="28575">
            <a:solidFill>
              <a:schemeClr val="tx2"/>
            </a:solidFill>
            <a:prstDash val="solid"/>
            <a:tailEnd type="triangle"/>
          </a:ln>
        </p:spPr>
      </p:sp>
      <p:sp>
        <p:nvSpPr>
          <p:cNvPr id="8" name="Job Dockerize and push"/>
          <p:cNvSpPr/>
          <p:nvPr/>
        </p:nvSpPr>
        <p:spPr>
          <a:xfrm>
            <a:off x="4480560" y="1417320"/>
            <a:ext cx="3227832" cy="3063240"/>
          </a:xfrm>
          <a:prstGeom prst="roundRect">
            <a:avLst>
              <a:gd name="adj" fmla="val 3582"/>
            </a:avLst>
          </a:prstGeom>
          <a:solidFill>
            <a:schemeClr val="bg2"/>
          </a:solidFill>
          <a:ln w="12700">
            <a:solidFill>
              <a:schemeClr val="bg2"/>
            </a:solidFill>
            <a:prstDash val="solid"/>
          </a:ln>
        </p:spPr>
      </p:sp>
      <p:sp>
        <p:nvSpPr>
          <p:cNvPr id="9" name="Initials 2"/>
          <p:cNvSpPr txBox="1"/>
          <p:nvPr/>
        </p:nvSpPr>
        <p:spPr>
          <a:xfrm>
            <a:off x="4709160" y="1645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5440680" y="1645920"/>
            <a:ext cx="2103120" cy="548640"/>
          </a:xfrm>
          <a:prstGeom prst="rect">
            <a:avLst/>
          </a:prstGeom>
          <a:noFill/>
          <a:ln/>
        </p:spPr>
        <p:txBody>
          <a:bodyPr wrap="square" lIns="0" tIns="0" rIns="0" bIns="0" rtlCol="0" anchor="ctr"/>
          <a:lstStyle/>
          <a:p>
            <a:pPr indent="0" marL="0">
              <a:buNone/>
            </a:pPr>
            <a:r>
              <a:rPr lang="en-US" sz="1800" b="1" dirty="0">
                <a:solidFill>
                  <a:schemeClr val="tx1"/>
                </a:solidFill>
              </a:rPr>
              <a:t>Dockerize and push</a:t>
            </a:r>
            <a:endParaRPr lang="en-US" sz="1800" dirty="0"/>
          </a:p>
        </p:txBody>
      </p:sp>
      <p:sp>
        <p:nvSpPr>
          <p:cNvPr id="11" name="Text 9"/>
          <p:cNvSpPr txBox="1"/>
          <p:nvPr/>
        </p:nvSpPr>
        <p:spPr>
          <a:xfrm>
            <a:off x="4754880" y="2468880"/>
            <a:ext cx="27432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Log in to Docker Hub with secrets</a:t>
            </a:r>
            <a:endParaRPr lang="en-US" sz="1500" dirty="0"/>
          </a:p>
          <a:p>
            <a:pPr marL="342900" indent="-342900">
              <a:spcAft>
                <a:spcPts val="800"/>
              </a:spcAft>
              <a:buSzPct val="100000"/>
              <a:buChar char="•"/>
            </a:pPr>
            <a:r>
              <a:rPr lang="en-US" sz="1500" dirty="0">
                <a:solidFill>
                  <a:schemeClr val="tx1"/>
                </a:solidFill>
              </a:rPr>
              <a:t>Build and push the backend image</a:t>
            </a:r>
            <a:endParaRPr lang="en-US" sz="1500" dirty="0"/>
          </a:p>
          <a:p>
            <a:pPr marL="342900" indent="-342900">
              <a:spcAft>
                <a:spcPts val="800"/>
              </a:spcAft>
              <a:buSzPct val="100000"/>
              <a:buChar char="•"/>
            </a:pPr>
            <a:r>
              <a:rPr lang="en-US" sz="1500" dirty="0">
                <a:solidFill>
                  <a:schemeClr val="tx1"/>
                </a:solidFill>
              </a:rPr>
              <a:t>Build and push the frontend image</a:t>
            </a:r>
            <a:endParaRPr lang="en-US" sz="1500" dirty="0"/>
          </a:p>
        </p:txBody>
      </p:sp>
      <p:sp>
        <p:nvSpPr>
          <p:cNvPr id="12" name="Arrow"/>
          <p:cNvSpPr/>
          <p:nvPr/>
        </p:nvSpPr>
        <p:spPr>
          <a:xfrm>
            <a:off x="7754112" y="2926080"/>
            <a:ext cx="612648" cy="0"/>
          </a:xfrm>
          <a:prstGeom prst="line">
            <a:avLst/>
          </a:prstGeom>
          <a:noFill/>
          <a:ln w="28575">
            <a:solidFill>
              <a:schemeClr val="tx2"/>
            </a:solidFill>
            <a:prstDash val="solid"/>
            <a:tailEnd type="triangle"/>
          </a:ln>
        </p:spPr>
      </p:sp>
      <p:sp>
        <p:nvSpPr>
          <p:cNvPr id="13" name="Job Deploy to Kubernetes"/>
          <p:cNvSpPr/>
          <p:nvPr/>
        </p:nvSpPr>
        <p:spPr>
          <a:xfrm>
            <a:off x="8412480" y="1417320"/>
            <a:ext cx="3227832" cy="3063240"/>
          </a:xfrm>
          <a:prstGeom prst="roundRect">
            <a:avLst>
              <a:gd name="adj" fmla="val 3582"/>
            </a:avLst>
          </a:prstGeom>
          <a:solidFill>
            <a:schemeClr val="bg2"/>
          </a:solidFill>
          <a:ln w="12700">
            <a:solidFill>
              <a:schemeClr val="bg2"/>
            </a:solidFill>
            <a:prstDash val="solid"/>
          </a:ln>
        </p:spPr>
      </p:sp>
      <p:sp>
        <p:nvSpPr>
          <p:cNvPr id="14" name="Initials 3"/>
          <p:cNvSpPr txBox="1"/>
          <p:nvPr/>
        </p:nvSpPr>
        <p:spPr>
          <a:xfrm>
            <a:off x="8641080" y="164592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9372600" y="1645920"/>
            <a:ext cx="2103120" cy="548640"/>
          </a:xfrm>
          <a:prstGeom prst="rect">
            <a:avLst/>
          </a:prstGeom>
          <a:noFill/>
          <a:ln/>
        </p:spPr>
        <p:txBody>
          <a:bodyPr wrap="square" lIns="0" tIns="0" rIns="0" bIns="0" rtlCol="0" anchor="ctr"/>
          <a:lstStyle/>
          <a:p>
            <a:pPr indent="0" marL="0">
              <a:buNone/>
            </a:pPr>
            <a:r>
              <a:rPr lang="en-US" sz="1800" b="1" dirty="0">
                <a:solidFill>
                  <a:schemeClr val="tx1"/>
                </a:solidFill>
              </a:rPr>
              <a:t>Deploy to Kubernetes</a:t>
            </a:r>
            <a:endParaRPr lang="en-US" sz="1800" dirty="0"/>
          </a:p>
        </p:txBody>
      </p:sp>
      <p:sp>
        <p:nvSpPr>
          <p:cNvPr id="16" name="Text 14"/>
          <p:cNvSpPr txBox="1"/>
          <p:nvPr/>
        </p:nvSpPr>
        <p:spPr>
          <a:xfrm>
            <a:off x="8686800" y="2468880"/>
            <a:ext cx="27432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Write the kubeconfig from a secret</a:t>
            </a:r>
            <a:endParaRPr lang="en-US" sz="1500" dirty="0"/>
          </a:p>
          <a:p>
            <a:pPr marL="342900" indent="-342900">
              <a:spcAft>
                <a:spcPts val="800"/>
              </a:spcAft>
              <a:buSzPct val="100000"/>
              <a:buChar char="•"/>
            </a:pPr>
            <a:r>
              <a:rPr lang="en-US" sz="1500" dirty="0">
                <a:solidFill>
                  <a:schemeClr val="tx1"/>
                </a:solidFill>
              </a:rPr>
              <a:t>kubectl apply on 4 manifests</a:t>
            </a:r>
            <a:endParaRPr lang="en-US" sz="1500" dirty="0"/>
          </a:p>
          <a:p>
            <a:pPr marL="342900" indent="-342900">
              <a:spcAft>
                <a:spcPts val="800"/>
              </a:spcAft>
              <a:buSzPct val="100000"/>
              <a:buChar char="•"/>
            </a:pPr>
            <a:r>
              <a:rPr lang="en-US" sz="1500" dirty="0">
                <a:solidFill>
                  <a:schemeClr val="tx1"/>
                </a:solidFill>
              </a:rPr>
              <a:t>Rollout restart of both deployments</a:t>
            </a:r>
            <a:endParaRPr lang="en-US" sz="1500" dirty="0"/>
          </a:p>
        </p:txBody>
      </p:sp>
      <p:sp>
        <p:nvSpPr>
          <p:cNvPr id="17" name="Trigger card"/>
          <p:cNvSpPr/>
          <p:nvPr/>
        </p:nvSpPr>
        <p:spPr>
          <a:xfrm>
            <a:off x="548640" y="4754880"/>
            <a:ext cx="5394960" cy="1280160"/>
          </a:xfrm>
          <a:prstGeom prst="roundRect">
            <a:avLst>
              <a:gd name="adj" fmla="val 8571"/>
            </a:avLst>
          </a:prstGeom>
          <a:solidFill>
            <a:schemeClr val="accent4"/>
          </a:solidFill>
          <a:ln w="12700">
            <a:solidFill>
              <a:schemeClr val="accent4"/>
            </a:solidFill>
            <a:prstDash val="solid"/>
          </a:ln>
        </p:spPr>
      </p:sp>
      <p:sp>
        <p:nvSpPr>
          <p:cNvPr id="18" name="Icon circle"/>
          <p:cNvSpPr/>
          <p:nvPr/>
        </p:nvSpPr>
        <p:spPr>
          <a:xfrm>
            <a:off x="822960" y="5074920"/>
            <a:ext cx="640080" cy="640080"/>
          </a:xfrm>
          <a:prstGeom prst="ellipse">
            <a:avLst/>
          </a:prstGeom>
          <a:solidFill>
            <a:schemeClr val="accent2"/>
          </a:solidFill>
          <a:ln w="12700">
            <a:solidFill>
              <a:schemeClr val="accent2"/>
            </a:solidFill>
            <a:prstDash val="solid"/>
          </a:ln>
        </p:spPr>
      </p:sp>
      <p:pic>
        <p:nvPicPr>
          <p:cNvPr id="19" name="Icon FaPlay" descr="Play icon">    </p:cNvPr>
          <p:cNvPicPr>
            <a:picLocks noChangeAspect="1"/>
          </p:cNvPicPr>
          <p:nvPr/>
        </p:nvPicPr>
        <p:blipFill>
          <a:blip r:embed="rId1"/>
          <a:stretch>
            <a:fillRect/>
          </a:stretch>
        </p:blipFill>
        <p:spPr>
          <a:xfrm>
            <a:off x="982980" y="5234940"/>
            <a:ext cx="320040" cy="320040"/>
          </a:xfrm>
          <a:prstGeom prst="rect">
            <a:avLst/>
          </a:prstGeom>
        </p:spPr>
      </p:pic>
      <p:sp>
        <p:nvSpPr>
          <p:cNvPr id="20" name="Text 17"/>
          <p:cNvSpPr txBox="1"/>
          <p:nvPr/>
        </p:nvSpPr>
        <p:spPr>
          <a:xfrm>
            <a:off x="1737360" y="4937760"/>
            <a:ext cx="3931920" cy="365760"/>
          </a:xfrm>
          <a:prstGeom prst="rect">
            <a:avLst/>
          </a:prstGeom>
          <a:noFill/>
          <a:ln/>
        </p:spPr>
        <p:txBody>
          <a:bodyPr wrap="square" lIns="0" tIns="0" rIns="0" bIns="0" rtlCol="0" anchor="t"/>
          <a:lstStyle/>
          <a:p>
            <a:pPr indent="0" marL="0">
              <a:buNone/>
            </a:pPr>
            <a:r>
              <a:rPr lang="en-US" sz="1800" b="1" dirty="0">
                <a:solidFill>
                  <a:schemeClr val="tx1"/>
                </a:solidFill>
              </a:rPr>
              <a:t>Trigger</a:t>
            </a:r>
            <a:endParaRPr lang="en-US" sz="1800" dirty="0"/>
          </a:p>
        </p:txBody>
      </p:sp>
      <p:sp>
        <p:nvSpPr>
          <p:cNvPr id="21" name="Text 18"/>
          <p:cNvSpPr txBox="1"/>
          <p:nvPr/>
        </p:nvSpPr>
        <p:spPr>
          <a:xfrm>
            <a:off x="1737360" y="5349240"/>
            <a:ext cx="4023360" cy="548640"/>
          </a:xfrm>
          <a:prstGeom prst="rect">
            <a:avLst/>
          </a:prstGeom>
          <a:noFill/>
          <a:ln/>
        </p:spPr>
        <p:txBody>
          <a:bodyPr wrap="square" lIns="0" tIns="0" rIns="0" bIns="0" rtlCol="0" anchor="t"/>
          <a:lstStyle/>
          <a:p>
            <a:pPr indent="0" marL="0">
              <a:buNone/>
            </a:pPr>
            <a:r>
              <a:rPr lang="en-US" sz="1400" dirty="0">
                <a:solidFill>
                  <a:schemeClr val="tx1"/>
                </a:solidFill>
              </a:rPr>
              <a:t>Push or pull request to the main branch</a:t>
            </a:r>
            <a:endParaRPr lang="en-US" sz="1400" dirty="0"/>
          </a:p>
        </p:txBody>
      </p:sp>
      <p:sp>
        <p:nvSpPr>
          <p:cNvPr id="22" name="Secrets card"/>
          <p:cNvSpPr/>
          <p:nvPr/>
        </p:nvSpPr>
        <p:spPr>
          <a:xfrm>
            <a:off x="6245352" y="4754880"/>
            <a:ext cx="5394960" cy="1280160"/>
          </a:xfrm>
          <a:prstGeom prst="roundRect">
            <a:avLst>
              <a:gd name="adj" fmla="val 8571"/>
            </a:avLst>
          </a:prstGeom>
          <a:solidFill>
            <a:schemeClr val="accent4"/>
          </a:solidFill>
          <a:ln w="12700">
            <a:solidFill>
              <a:schemeClr val="accent4"/>
            </a:solidFill>
            <a:prstDash val="solid"/>
          </a:ln>
        </p:spPr>
      </p:sp>
      <p:sp>
        <p:nvSpPr>
          <p:cNvPr id="23" name="Icon circle"/>
          <p:cNvSpPr/>
          <p:nvPr/>
        </p:nvSpPr>
        <p:spPr>
          <a:xfrm>
            <a:off x="6519672" y="5074920"/>
            <a:ext cx="640080" cy="640080"/>
          </a:xfrm>
          <a:prstGeom prst="ellipse">
            <a:avLst/>
          </a:prstGeom>
          <a:solidFill>
            <a:schemeClr val="accent2"/>
          </a:solidFill>
          <a:ln w="12700">
            <a:solidFill>
              <a:schemeClr val="accent2"/>
            </a:solidFill>
            <a:prstDash val="solid"/>
          </a:ln>
        </p:spPr>
      </p:sp>
      <p:pic>
        <p:nvPicPr>
          <p:cNvPr id="24" name="Icon FaKey" descr="Key icon">    </p:cNvPr>
          <p:cNvPicPr>
            <a:picLocks noChangeAspect="1"/>
          </p:cNvPicPr>
          <p:nvPr/>
        </p:nvPicPr>
        <p:blipFill>
          <a:blip r:embed="rId2"/>
          <a:stretch>
            <a:fillRect/>
          </a:stretch>
        </p:blipFill>
        <p:spPr>
          <a:xfrm>
            <a:off x="6679692" y="5234940"/>
            <a:ext cx="320040" cy="320040"/>
          </a:xfrm>
          <a:prstGeom prst="rect">
            <a:avLst/>
          </a:prstGeom>
        </p:spPr>
      </p:pic>
      <p:sp>
        <p:nvSpPr>
          <p:cNvPr id="25" name="Text 21"/>
          <p:cNvSpPr txBox="1"/>
          <p:nvPr/>
        </p:nvSpPr>
        <p:spPr>
          <a:xfrm>
            <a:off x="7434072" y="4937760"/>
            <a:ext cx="4023360" cy="365760"/>
          </a:xfrm>
          <a:prstGeom prst="rect">
            <a:avLst/>
          </a:prstGeom>
          <a:noFill/>
          <a:ln/>
        </p:spPr>
        <p:txBody>
          <a:bodyPr wrap="square" lIns="0" tIns="0" rIns="0" bIns="0" rtlCol="0" anchor="t"/>
          <a:lstStyle/>
          <a:p>
            <a:pPr indent="0" marL="0">
              <a:buNone/>
            </a:pPr>
            <a:r>
              <a:rPr lang="en-US" sz="1800" b="1" dirty="0">
                <a:solidFill>
                  <a:schemeClr val="tx1"/>
                </a:solidFill>
              </a:rPr>
              <a:t>3 repository secrets</a:t>
            </a:r>
            <a:endParaRPr lang="en-US" sz="1800" dirty="0"/>
          </a:p>
        </p:txBody>
      </p:sp>
      <p:sp>
        <p:nvSpPr>
          <p:cNvPr id="26" name="Text 22"/>
          <p:cNvSpPr txBox="1"/>
          <p:nvPr/>
        </p:nvSpPr>
        <p:spPr>
          <a:xfrm>
            <a:off x="7434072" y="5349240"/>
            <a:ext cx="4023360" cy="548640"/>
          </a:xfrm>
          <a:prstGeom prst="rect">
            <a:avLst/>
          </a:prstGeom>
          <a:noFill/>
          <a:ln/>
        </p:spPr>
        <p:txBody>
          <a:bodyPr wrap="square" lIns="0" tIns="0" rIns="0" bIns="0" rtlCol="0" anchor="t"/>
          <a:lstStyle/>
          <a:p>
            <a:pPr indent="0" marL="0">
              <a:buNone/>
            </a:pPr>
            <a:r>
              <a:rPr lang="en-US" sz="1400" dirty="0">
                <a:solidFill>
                  <a:schemeClr val="tx1"/>
                </a:solidFill>
              </a:rPr>
              <a:t>DOCKER_USERNAME, DOCKER_PASSWORD and KUBECONFIG</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Kubernetes deployment and rolling updates</a:t>
            </a:r>
            <a:endParaRPr lang="en-US" sz="3200" dirty="0"/>
          </a:p>
        </p:txBody>
      </p:sp>
      <p:sp>
        <p:nvSpPr>
          <p:cNvPr id="3" name="Users node"/>
          <p:cNvSpPr/>
          <p:nvPr/>
        </p:nvSpPr>
        <p:spPr>
          <a:xfrm>
            <a:off x="548640" y="2743200"/>
            <a:ext cx="2011680" cy="1280160"/>
          </a:xfrm>
          <a:prstGeom prst="roundRect">
            <a:avLst>
              <a:gd name="adj" fmla="val 8571"/>
            </a:avLst>
          </a:prstGeom>
          <a:solidFill>
            <a:schemeClr val="bg2"/>
          </a:solidFill>
          <a:ln w="12700">
            <a:solidFill>
              <a:schemeClr val="bg2"/>
            </a:solidFill>
            <a:prstDash val="solid"/>
          </a:ln>
        </p:spPr>
      </p:sp>
      <p:sp>
        <p:nvSpPr>
          <p:cNvPr id="4" name="Icon circle"/>
          <p:cNvSpPr/>
          <p:nvPr/>
        </p:nvSpPr>
        <p:spPr>
          <a:xfrm>
            <a:off x="1280160" y="2834640"/>
            <a:ext cx="548640" cy="548640"/>
          </a:xfrm>
          <a:prstGeom prst="ellipse">
            <a:avLst/>
          </a:prstGeom>
          <a:solidFill>
            <a:schemeClr val="accent1"/>
          </a:solidFill>
          <a:ln w="12700">
            <a:solidFill>
              <a:schemeClr val="accent1"/>
            </a:solidFill>
            <a:prstDash val="solid"/>
          </a:ln>
        </p:spPr>
      </p:sp>
      <p:pic>
        <p:nvPicPr>
          <p:cNvPr id="5" name="Icon FaGlobe" descr="Globe icon">    </p:cNvPr>
          <p:cNvPicPr>
            <a:picLocks noChangeAspect="1"/>
          </p:cNvPicPr>
          <p:nvPr/>
        </p:nvPicPr>
        <p:blipFill>
          <a:blip r:embed="rId1"/>
          <a:stretch>
            <a:fillRect/>
          </a:stretch>
        </p:blipFill>
        <p:spPr>
          <a:xfrm>
            <a:off x="1417320" y="2971800"/>
            <a:ext cx="274320" cy="274320"/>
          </a:xfrm>
          <a:prstGeom prst="rect">
            <a:avLst/>
          </a:prstGeom>
        </p:spPr>
      </p:pic>
      <p:sp>
        <p:nvSpPr>
          <p:cNvPr id="6" name="Text 3"/>
          <p:cNvSpPr txBox="1"/>
          <p:nvPr/>
        </p:nvSpPr>
        <p:spPr>
          <a:xfrm>
            <a:off x="548640" y="3474720"/>
            <a:ext cx="2011680" cy="365760"/>
          </a:xfrm>
          <a:prstGeom prst="rect">
            <a:avLst/>
          </a:prstGeom>
          <a:noFill/>
          <a:ln/>
        </p:spPr>
        <p:txBody>
          <a:bodyPr wrap="square" lIns="0" tIns="0" rIns="0" bIns="0" rtlCol="0" anchor="t"/>
          <a:lstStyle/>
          <a:p>
            <a:pPr algn="ctr" indent="0" marL="0">
              <a:buNone/>
            </a:pPr>
            <a:r>
              <a:rPr lang="en-US" sz="1600" b="1" dirty="0">
                <a:solidFill>
                  <a:schemeClr val="tx1"/>
                </a:solidFill>
              </a:rPr>
              <a:t>Users</a:t>
            </a:r>
            <a:endParaRPr lang="en-US" sz="1600" dirty="0"/>
          </a:p>
        </p:txBody>
      </p:sp>
      <p:sp>
        <p:nvSpPr>
          <p:cNvPr id="7" name="Arrow"/>
          <p:cNvSpPr/>
          <p:nvPr/>
        </p:nvSpPr>
        <p:spPr>
          <a:xfrm>
            <a:off x="2606040" y="3383280"/>
            <a:ext cx="548640" cy="0"/>
          </a:xfrm>
          <a:prstGeom prst="line">
            <a:avLst/>
          </a:prstGeom>
          <a:noFill/>
          <a:ln w="28575">
            <a:solidFill>
              <a:schemeClr val="tx2"/>
            </a:solidFill>
            <a:prstDash val="solid"/>
            <a:tailEnd type="triangle"/>
          </a:ln>
        </p:spPr>
      </p:sp>
      <p:sp>
        <p:nvSpPr>
          <p:cNvPr id="8" name="Ingress node"/>
          <p:cNvSpPr/>
          <p:nvPr/>
        </p:nvSpPr>
        <p:spPr>
          <a:xfrm>
            <a:off x="3200400" y="1737360"/>
            <a:ext cx="1828800" cy="3291840"/>
          </a:xfrm>
          <a:prstGeom prst="roundRect">
            <a:avLst>
              <a:gd name="adj" fmla="val 6000"/>
            </a:avLst>
          </a:prstGeom>
          <a:solidFill>
            <a:schemeClr val="accent4"/>
          </a:solidFill>
          <a:ln w="12700">
            <a:solidFill>
              <a:schemeClr val="accent4"/>
            </a:solidFill>
            <a:prstDash val="solid"/>
          </a:ln>
        </p:spPr>
      </p:sp>
      <p:sp>
        <p:nvSpPr>
          <p:cNvPr id="9" name="Icon circle"/>
          <p:cNvSpPr/>
          <p:nvPr/>
        </p:nvSpPr>
        <p:spPr>
          <a:xfrm>
            <a:off x="3840480" y="2286000"/>
            <a:ext cx="548640" cy="548640"/>
          </a:xfrm>
          <a:prstGeom prst="ellipse">
            <a:avLst/>
          </a:prstGeom>
          <a:solidFill>
            <a:schemeClr val="accent2"/>
          </a:solidFill>
          <a:ln w="12700">
            <a:solidFill>
              <a:schemeClr val="accent2"/>
            </a:solidFill>
            <a:prstDash val="solid"/>
          </a:ln>
        </p:spPr>
      </p:sp>
      <p:pic>
        <p:nvPicPr>
          <p:cNvPr id="10" name="Icon FaNetworkWired" descr="NetworkWired icon">    </p:cNvPr>
          <p:cNvPicPr>
            <a:picLocks noChangeAspect="1"/>
          </p:cNvPicPr>
          <p:nvPr/>
        </p:nvPicPr>
        <p:blipFill>
          <a:blip r:embed="rId2"/>
          <a:stretch>
            <a:fillRect/>
          </a:stretch>
        </p:blipFill>
        <p:spPr>
          <a:xfrm>
            <a:off x="3977640" y="2423160"/>
            <a:ext cx="274320" cy="274320"/>
          </a:xfrm>
          <a:prstGeom prst="rect">
            <a:avLst/>
          </a:prstGeom>
        </p:spPr>
      </p:pic>
      <p:sp>
        <p:nvSpPr>
          <p:cNvPr id="11" name="Text 7"/>
          <p:cNvSpPr txBox="1"/>
          <p:nvPr/>
        </p:nvSpPr>
        <p:spPr>
          <a:xfrm>
            <a:off x="3246120" y="301752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NGINX Ingress</a:t>
            </a:r>
            <a:endParaRPr lang="en-US" sz="1600" dirty="0"/>
          </a:p>
        </p:txBody>
      </p:sp>
      <p:sp>
        <p:nvSpPr>
          <p:cNvPr id="12" name="Text 8"/>
          <p:cNvSpPr txBox="1"/>
          <p:nvPr/>
        </p:nvSpPr>
        <p:spPr>
          <a:xfrm>
            <a:off x="3246120" y="3429000"/>
            <a:ext cx="1737360" cy="548640"/>
          </a:xfrm>
          <a:prstGeom prst="rect">
            <a:avLst/>
          </a:prstGeom>
          <a:noFill/>
          <a:ln/>
        </p:spPr>
        <p:txBody>
          <a:bodyPr wrap="square" lIns="0" tIns="0" rIns="0" bIns="0" rtlCol="0" anchor="t"/>
          <a:lstStyle/>
          <a:p>
            <a:pPr algn="ctr" indent="0" marL="0">
              <a:buNone/>
            </a:pPr>
            <a:r>
              <a:rPr lang="en-US" sz="1200" dirty="0">
                <a:solidFill>
                  <a:schemeClr val="tx2"/>
                </a:solidFill>
              </a:rPr>
              <a:t>app.heartintel.com</a:t>
            </a:r>
            <a:endParaRPr lang="en-US" sz="1200" dirty="0"/>
          </a:p>
        </p:txBody>
      </p:sp>
      <p:sp>
        <p:nvSpPr>
          <p:cNvPr id="13" name="Text 9"/>
          <p:cNvSpPr txBox="1"/>
          <p:nvPr/>
        </p:nvSpPr>
        <p:spPr>
          <a:xfrm>
            <a:off x="5029200" y="1920240"/>
            <a:ext cx="640080" cy="274320"/>
          </a:xfrm>
          <a:prstGeom prst="rect">
            <a:avLst/>
          </a:prstGeom>
          <a:noFill/>
          <a:ln/>
        </p:spPr>
        <p:txBody>
          <a:bodyPr wrap="square" lIns="0" tIns="0" rIns="0" bIns="0" rtlCol="0" anchor="t"/>
          <a:lstStyle/>
          <a:p>
            <a:pPr algn="ctr" indent="0" marL="0">
              <a:buNone/>
            </a:pPr>
            <a:r>
              <a:rPr lang="en-US" sz="1300" b="1" dirty="0">
                <a:solidFill>
                  <a:schemeClr val="accent2"/>
                </a:solidFill>
              </a:rPr>
              <a:t>/</a:t>
            </a:r>
            <a:endParaRPr lang="en-US" sz="1300" dirty="0"/>
          </a:p>
        </p:txBody>
      </p:sp>
      <p:sp>
        <p:nvSpPr>
          <p:cNvPr id="14" name="Arrow"/>
          <p:cNvSpPr/>
          <p:nvPr/>
        </p:nvSpPr>
        <p:spPr>
          <a:xfrm>
            <a:off x="5074920" y="2286000"/>
            <a:ext cx="548640" cy="0"/>
          </a:xfrm>
          <a:prstGeom prst="line">
            <a:avLst/>
          </a:prstGeom>
          <a:noFill/>
          <a:ln w="28575">
            <a:solidFill>
              <a:schemeClr val="tx2"/>
            </a:solidFill>
            <a:prstDash val="solid"/>
            <a:tailEnd type="triangle"/>
          </a:ln>
        </p:spPr>
      </p:sp>
      <p:sp>
        <p:nvSpPr>
          <p:cNvPr id="15" name="Frontend service"/>
          <p:cNvSpPr/>
          <p:nvPr/>
        </p:nvSpPr>
        <p:spPr>
          <a:xfrm>
            <a:off x="5669280" y="1737360"/>
            <a:ext cx="2103120" cy="1097280"/>
          </a:xfrm>
          <a:prstGeom prst="roundRect">
            <a:avLst>
              <a:gd name="adj" fmla="val 10000"/>
            </a:avLst>
          </a:prstGeom>
          <a:solidFill>
            <a:schemeClr val="accent1"/>
          </a:solidFill>
          <a:ln w="12700">
            <a:solidFill>
              <a:schemeClr val="accent1"/>
            </a:solidFill>
            <a:prstDash val="solid"/>
          </a:ln>
        </p:spPr>
      </p:sp>
      <p:sp>
        <p:nvSpPr>
          <p:cNvPr id="16" name="Text 12"/>
          <p:cNvSpPr txBox="1"/>
          <p:nvPr/>
        </p:nvSpPr>
        <p:spPr>
          <a:xfrm>
            <a:off x="5669280" y="196596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Frontend service</a:t>
            </a:r>
            <a:endParaRPr lang="en-US" sz="1600" dirty="0"/>
          </a:p>
        </p:txBody>
      </p:sp>
      <p:sp>
        <p:nvSpPr>
          <p:cNvPr id="17" name="Text 13"/>
          <p:cNvSpPr txBox="1"/>
          <p:nvPr/>
        </p:nvSpPr>
        <p:spPr>
          <a:xfrm>
            <a:off x="5669280" y="2377440"/>
            <a:ext cx="2103120" cy="274320"/>
          </a:xfrm>
          <a:prstGeom prst="rect">
            <a:avLst/>
          </a:prstGeom>
          <a:noFill/>
          <a:ln/>
        </p:spPr>
        <p:txBody>
          <a:bodyPr wrap="square" lIns="0" tIns="0" rIns="0" bIns="0" rtlCol="0" anchor="t"/>
          <a:lstStyle/>
          <a:p>
            <a:pPr algn="ctr" indent="0" marL="0">
              <a:buNone/>
            </a:pPr>
            <a:r>
              <a:rPr lang="en-US" sz="1200" dirty="0">
                <a:solidFill>
                  <a:schemeClr val="bg1"/>
                </a:solidFill>
              </a:rPr>
              <a:t>Nginx, port 80</a:t>
            </a:r>
            <a:endParaRPr lang="en-US" sz="1200" dirty="0"/>
          </a:p>
        </p:txBody>
      </p:sp>
      <p:sp>
        <p:nvSpPr>
          <p:cNvPr id="18" name="Pill Pod 1"/>
          <p:cNvSpPr txBox="1"/>
          <p:nvPr/>
        </p:nvSpPr>
        <p:spPr>
          <a:xfrm>
            <a:off x="8046720" y="1920240"/>
            <a:ext cx="960120" cy="73152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Pod 1</a:t>
            </a:r>
            <a:endParaRPr lang="en-US" sz="1400" dirty="0"/>
          </a:p>
        </p:txBody>
      </p:sp>
      <p:sp>
        <p:nvSpPr>
          <p:cNvPr id="19" name="Pill Pod 2"/>
          <p:cNvSpPr txBox="1"/>
          <p:nvPr/>
        </p:nvSpPr>
        <p:spPr>
          <a:xfrm>
            <a:off x="9098280" y="1920240"/>
            <a:ext cx="960120" cy="73152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Pod 2</a:t>
            </a:r>
            <a:endParaRPr lang="en-US" sz="1400" dirty="0"/>
          </a:p>
        </p:txBody>
      </p:sp>
      <p:sp>
        <p:nvSpPr>
          <p:cNvPr id="20" name="Text 16"/>
          <p:cNvSpPr txBox="1"/>
          <p:nvPr/>
        </p:nvSpPr>
        <p:spPr>
          <a:xfrm>
            <a:off x="8046720" y="2743200"/>
            <a:ext cx="2743200" cy="274320"/>
          </a:xfrm>
          <a:prstGeom prst="rect">
            <a:avLst/>
          </a:prstGeom>
          <a:noFill/>
          <a:ln/>
        </p:spPr>
        <p:txBody>
          <a:bodyPr wrap="square" lIns="0" tIns="0" rIns="0" bIns="0" rtlCol="0" anchor="t"/>
          <a:lstStyle/>
          <a:p>
            <a:pPr indent="0" marL="0">
              <a:buNone/>
            </a:pPr>
            <a:r>
              <a:rPr lang="en-US" sz="1200" dirty="0">
                <a:solidFill>
                  <a:schemeClr val="tx2"/>
                </a:solidFill>
              </a:rPr>
              <a:t>2 replicas</a:t>
            </a:r>
            <a:endParaRPr lang="en-US" sz="1200" dirty="0"/>
          </a:p>
        </p:txBody>
      </p:sp>
      <p:sp>
        <p:nvSpPr>
          <p:cNvPr id="21" name="Text 17"/>
          <p:cNvSpPr txBox="1"/>
          <p:nvPr/>
        </p:nvSpPr>
        <p:spPr>
          <a:xfrm>
            <a:off x="5029200" y="4114800"/>
            <a:ext cx="640080" cy="274320"/>
          </a:xfrm>
          <a:prstGeom prst="rect">
            <a:avLst/>
          </a:prstGeom>
          <a:noFill/>
          <a:ln/>
        </p:spPr>
        <p:txBody>
          <a:bodyPr wrap="square" lIns="0" tIns="0" rIns="0" bIns="0" rtlCol="0" anchor="t"/>
          <a:lstStyle/>
          <a:p>
            <a:pPr algn="ctr" indent="0" marL="0">
              <a:buNone/>
            </a:pPr>
            <a:r>
              <a:rPr lang="en-US" sz="1300" b="1" dirty="0">
                <a:solidFill>
                  <a:schemeClr val="accent2"/>
                </a:solidFill>
              </a:rPr>
              <a:t>/api</a:t>
            </a:r>
            <a:endParaRPr lang="en-US" sz="1300" dirty="0"/>
          </a:p>
        </p:txBody>
      </p:sp>
      <p:sp>
        <p:nvSpPr>
          <p:cNvPr id="22" name="Arrow"/>
          <p:cNvSpPr/>
          <p:nvPr/>
        </p:nvSpPr>
        <p:spPr>
          <a:xfrm>
            <a:off x="5074920" y="4480560"/>
            <a:ext cx="548640" cy="0"/>
          </a:xfrm>
          <a:prstGeom prst="line">
            <a:avLst/>
          </a:prstGeom>
          <a:noFill/>
          <a:ln w="28575">
            <a:solidFill>
              <a:schemeClr val="tx2"/>
            </a:solidFill>
            <a:prstDash val="solid"/>
            <a:tailEnd type="triangle"/>
          </a:ln>
        </p:spPr>
      </p:sp>
      <p:sp>
        <p:nvSpPr>
          <p:cNvPr id="23" name="Backend service"/>
          <p:cNvSpPr/>
          <p:nvPr/>
        </p:nvSpPr>
        <p:spPr>
          <a:xfrm>
            <a:off x="5669280" y="3931920"/>
            <a:ext cx="2103120" cy="1097280"/>
          </a:xfrm>
          <a:prstGeom prst="roundRect">
            <a:avLst>
              <a:gd name="adj" fmla="val 10000"/>
            </a:avLst>
          </a:prstGeom>
          <a:solidFill>
            <a:schemeClr val="accent1"/>
          </a:solidFill>
          <a:ln w="12700">
            <a:solidFill>
              <a:schemeClr val="accent1"/>
            </a:solidFill>
            <a:prstDash val="solid"/>
          </a:ln>
        </p:spPr>
      </p:sp>
      <p:sp>
        <p:nvSpPr>
          <p:cNvPr id="24" name="Text 20"/>
          <p:cNvSpPr txBox="1"/>
          <p:nvPr/>
        </p:nvSpPr>
        <p:spPr>
          <a:xfrm>
            <a:off x="5669280" y="4160520"/>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Backend service</a:t>
            </a:r>
            <a:endParaRPr lang="en-US" sz="1600" dirty="0"/>
          </a:p>
        </p:txBody>
      </p:sp>
      <p:sp>
        <p:nvSpPr>
          <p:cNvPr id="25" name="Text 21"/>
          <p:cNvSpPr txBox="1"/>
          <p:nvPr/>
        </p:nvSpPr>
        <p:spPr>
          <a:xfrm>
            <a:off x="5669280" y="4572000"/>
            <a:ext cx="2103120" cy="274320"/>
          </a:xfrm>
          <a:prstGeom prst="rect">
            <a:avLst/>
          </a:prstGeom>
          <a:noFill/>
          <a:ln/>
        </p:spPr>
        <p:txBody>
          <a:bodyPr wrap="square" lIns="0" tIns="0" rIns="0" bIns="0" rtlCol="0" anchor="t"/>
          <a:lstStyle/>
          <a:p>
            <a:pPr algn="ctr" indent="0" marL="0">
              <a:buNone/>
            </a:pPr>
            <a:r>
              <a:rPr lang="en-US" sz="1200" dirty="0">
                <a:solidFill>
                  <a:schemeClr val="bg1"/>
                </a:solidFill>
              </a:rPr>
              <a:t>Spring Boot, port 8080</a:t>
            </a:r>
            <a:endParaRPr lang="en-US" sz="1200" dirty="0"/>
          </a:p>
        </p:txBody>
      </p:sp>
      <p:sp>
        <p:nvSpPr>
          <p:cNvPr id="26" name="Pill Pod 1"/>
          <p:cNvSpPr txBox="1"/>
          <p:nvPr/>
        </p:nvSpPr>
        <p:spPr>
          <a:xfrm>
            <a:off x="8046720" y="4114800"/>
            <a:ext cx="960120" cy="73152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Pod 1</a:t>
            </a:r>
            <a:endParaRPr lang="en-US" sz="1400" dirty="0"/>
          </a:p>
        </p:txBody>
      </p:sp>
      <p:sp>
        <p:nvSpPr>
          <p:cNvPr id="27" name="Pill Pod 2"/>
          <p:cNvSpPr txBox="1"/>
          <p:nvPr/>
        </p:nvSpPr>
        <p:spPr>
          <a:xfrm>
            <a:off x="9098280" y="4114800"/>
            <a:ext cx="960120" cy="73152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Pod 2</a:t>
            </a:r>
            <a:endParaRPr lang="en-US" sz="1400" dirty="0"/>
          </a:p>
        </p:txBody>
      </p:sp>
      <p:sp>
        <p:nvSpPr>
          <p:cNvPr id="28" name="Pill Pod 3"/>
          <p:cNvSpPr txBox="1"/>
          <p:nvPr/>
        </p:nvSpPr>
        <p:spPr>
          <a:xfrm>
            <a:off x="10149840" y="4114800"/>
            <a:ext cx="960120" cy="731520"/>
          </a:xfrm>
          <a:prstGeom prst="roundRect">
            <a:avLst>
              <a:gd name="adj" fmla="val 25000"/>
            </a:avLst>
          </a:prstGeom>
          <a:solidFill>
            <a:schemeClr val="bg2"/>
          </a:solidFill>
          <a:ln>
            <a:solidFill>
              <a:schemeClr val="bg2"/>
            </a:solidFill>
          </a:ln>
        </p:spPr>
        <p:txBody>
          <a:bodyPr wrap="square" lIns="0" tIns="0" rIns="0" bIns="0" rtlCol="0" anchor="ctr"/>
          <a:lstStyle/>
          <a:p>
            <a:pPr algn="ctr" indent="0" marL="0">
              <a:buNone/>
            </a:pPr>
            <a:r>
              <a:rPr lang="en-US" sz="1400" b="1" dirty="0">
                <a:solidFill>
                  <a:schemeClr val="accent1"/>
                </a:solidFill>
              </a:rPr>
              <a:t>Pod 3</a:t>
            </a:r>
            <a:endParaRPr lang="en-US" sz="1400" dirty="0"/>
          </a:p>
        </p:txBody>
      </p:sp>
      <p:sp>
        <p:nvSpPr>
          <p:cNvPr id="29" name="Text 25"/>
          <p:cNvSpPr txBox="1"/>
          <p:nvPr/>
        </p:nvSpPr>
        <p:spPr>
          <a:xfrm>
            <a:off x="8046720" y="4937760"/>
            <a:ext cx="3566160" cy="274320"/>
          </a:xfrm>
          <a:prstGeom prst="rect">
            <a:avLst/>
          </a:prstGeom>
          <a:noFill/>
          <a:ln/>
        </p:spPr>
        <p:txBody>
          <a:bodyPr wrap="square" lIns="0" tIns="0" rIns="0" bIns="0" rtlCol="0" anchor="t"/>
          <a:lstStyle/>
          <a:p>
            <a:pPr indent="0" marL="0">
              <a:buNone/>
            </a:pPr>
            <a:r>
              <a:rPr lang="en-US" sz="1200" dirty="0">
                <a:solidFill>
                  <a:schemeClr val="tx2"/>
                </a:solidFill>
              </a:rPr>
              <a:t>3 replicas, limits of 500m CPU and 512Mi memory</a:t>
            </a:r>
            <a:endParaRPr lang="en-US" sz="1200" dirty="0"/>
          </a:p>
        </p:txBody>
      </p:sp>
      <p:sp>
        <p:nvSpPr>
          <p:cNvPr id="30" name="Fact 0"/>
          <p:cNvSpPr/>
          <p:nvPr/>
        </p:nvSpPr>
        <p:spPr>
          <a:xfrm>
            <a:off x="548640" y="5440680"/>
            <a:ext cx="3514344" cy="777240"/>
          </a:xfrm>
          <a:prstGeom prst="roundRect">
            <a:avLst>
              <a:gd name="adj" fmla="val 14118"/>
            </a:avLst>
          </a:prstGeom>
          <a:solidFill>
            <a:schemeClr val="bg2"/>
          </a:solidFill>
          <a:ln w="12700">
            <a:solidFill>
              <a:schemeClr val="bg2"/>
            </a:solidFill>
            <a:prstDash val="solid"/>
          </a:ln>
        </p:spPr>
      </p:sp>
      <p:sp>
        <p:nvSpPr>
          <p:cNvPr id="31" name="Icon circle"/>
          <p:cNvSpPr/>
          <p:nvPr/>
        </p:nvSpPr>
        <p:spPr>
          <a:xfrm>
            <a:off x="731520" y="5550408"/>
            <a:ext cx="548640" cy="548640"/>
          </a:xfrm>
          <a:prstGeom prst="ellipse">
            <a:avLst/>
          </a:prstGeom>
          <a:solidFill>
            <a:schemeClr val="accent2"/>
          </a:solidFill>
          <a:ln w="12700">
            <a:solidFill>
              <a:schemeClr val="accent2"/>
            </a:solidFill>
            <a:prstDash val="solid"/>
          </a:ln>
        </p:spPr>
      </p:sp>
      <p:pic>
        <p:nvPicPr>
          <p:cNvPr id="32" name="Icon FaSyncAlt" descr="SyncAlt icon">    </p:cNvPr>
          <p:cNvPicPr>
            <a:picLocks noChangeAspect="1"/>
          </p:cNvPicPr>
          <p:nvPr/>
        </p:nvPicPr>
        <p:blipFill>
          <a:blip r:embed="rId3"/>
          <a:stretch>
            <a:fillRect/>
          </a:stretch>
        </p:blipFill>
        <p:spPr>
          <a:xfrm>
            <a:off x="868680" y="5687568"/>
            <a:ext cx="274320" cy="274320"/>
          </a:xfrm>
          <a:prstGeom prst="rect">
            <a:avLst/>
          </a:prstGeom>
        </p:spPr>
      </p:pic>
      <p:sp>
        <p:nvSpPr>
          <p:cNvPr id="33" name="Text 28"/>
          <p:cNvSpPr txBox="1"/>
          <p:nvPr/>
        </p:nvSpPr>
        <p:spPr>
          <a:xfrm>
            <a:off x="1463040" y="5440680"/>
            <a:ext cx="2462784" cy="777240"/>
          </a:xfrm>
          <a:prstGeom prst="rect">
            <a:avLst/>
          </a:prstGeom>
          <a:noFill/>
          <a:ln/>
        </p:spPr>
        <p:txBody>
          <a:bodyPr wrap="square" lIns="0" tIns="0" rIns="0" bIns="0" rtlCol="0" anchor="ctr"/>
          <a:lstStyle/>
          <a:p>
            <a:pPr indent="0" marL="0">
              <a:buNone/>
            </a:pPr>
            <a:r>
              <a:rPr lang="en-US" sz="1400" dirty="0">
                <a:solidFill>
                  <a:schemeClr val="tx1"/>
                </a:solidFill>
              </a:rPr>
              <a:t>Rolling updates, surge 1, unavailable 1</a:t>
            </a:r>
            <a:endParaRPr lang="en-US" sz="1400" dirty="0"/>
          </a:p>
        </p:txBody>
      </p:sp>
      <p:sp>
        <p:nvSpPr>
          <p:cNvPr id="34" name="Fact 1"/>
          <p:cNvSpPr/>
          <p:nvPr/>
        </p:nvSpPr>
        <p:spPr>
          <a:xfrm>
            <a:off x="4337304" y="5440680"/>
            <a:ext cx="3514344" cy="777240"/>
          </a:xfrm>
          <a:prstGeom prst="roundRect">
            <a:avLst>
              <a:gd name="adj" fmla="val 14118"/>
            </a:avLst>
          </a:prstGeom>
          <a:solidFill>
            <a:schemeClr val="bg2"/>
          </a:solidFill>
          <a:ln w="12700">
            <a:solidFill>
              <a:schemeClr val="bg2"/>
            </a:solidFill>
            <a:prstDash val="solid"/>
          </a:ln>
        </p:spPr>
      </p:sp>
      <p:sp>
        <p:nvSpPr>
          <p:cNvPr id="35" name="Icon circle"/>
          <p:cNvSpPr/>
          <p:nvPr/>
        </p:nvSpPr>
        <p:spPr>
          <a:xfrm>
            <a:off x="4520184" y="5550408"/>
            <a:ext cx="548640" cy="548640"/>
          </a:xfrm>
          <a:prstGeom prst="ellipse">
            <a:avLst/>
          </a:prstGeom>
          <a:solidFill>
            <a:schemeClr val="accent2"/>
          </a:solidFill>
          <a:ln w="12700">
            <a:solidFill>
              <a:schemeClr val="accent2"/>
            </a:solidFill>
            <a:prstDash val="solid"/>
          </a:ln>
        </p:spPr>
      </p:sp>
      <p:pic>
        <p:nvPicPr>
          <p:cNvPr id="36" name="Icon FaMicrochip" descr="Microchip icon">    </p:cNvPr>
          <p:cNvPicPr>
            <a:picLocks noChangeAspect="1"/>
          </p:cNvPicPr>
          <p:nvPr/>
        </p:nvPicPr>
        <p:blipFill>
          <a:blip r:embed="rId4"/>
          <a:stretch>
            <a:fillRect/>
          </a:stretch>
        </p:blipFill>
        <p:spPr>
          <a:xfrm>
            <a:off x="4657344" y="5687568"/>
            <a:ext cx="274320" cy="274320"/>
          </a:xfrm>
          <a:prstGeom prst="rect">
            <a:avLst/>
          </a:prstGeom>
        </p:spPr>
      </p:pic>
      <p:sp>
        <p:nvSpPr>
          <p:cNvPr id="37" name="Text 31"/>
          <p:cNvSpPr txBox="1"/>
          <p:nvPr/>
        </p:nvSpPr>
        <p:spPr>
          <a:xfrm>
            <a:off x="5251704" y="5440680"/>
            <a:ext cx="2462784" cy="777240"/>
          </a:xfrm>
          <a:prstGeom prst="rect">
            <a:avLst/>
          </a:prstGeom>
          <a:noFill/>
          <a:ln/>
        </p:spPr>
        <p:txBody>
          <a:bodyPr wrap="square" lIns="0" tIns="0" rIns="0" bIns="0" rtlCol="0" anchor="ctr"/>
          <a:lstStyle/>
          <a:p>
            <a:pPr indent="0" marL="0">
              <a:buNone/>
            </a:pPr>
            <a:r>
              <a:rPr lang="en-US" sz="1400" dirty="0">
                <a:solidFill>
                  <a:schemeClr val="tx1"/>
                </a:solidFill>
              </a:rPr>
              <a:t>Requests and limits on every pod</a:t>
            </a:r>
            <a:endParaRPr lang="en-US" sz="1400" dirty="0"/>
          </a:p>
        </p:txBody>
      </p:sp>
      <p:sp>
        <p:nvSpPr>
          <p:cNvPr id="38" name="Fact 2"/>
          <p:cNvSpPr/>
          <p:nvPr/>
        </p:nvSpPr>
        <p:spPr>
          <a:xfrm>
            <a:off x="8125968" y="5440680"/>
            <a:ext cx="3514344" cy="777240"/>
          </a:xfrm>
          <a:prstGeom prst="roundRect">
            <a:avLst>
              <a:gd name="adj" fmla="val 14118"/>
            </a:avLst>
          </a:prstGeom>
          <a:solidFill>
            <a:schemeClr val="bg2"/>
          </a:solidFill>
          <a:ln w="12700">
            <a:solidFill>
              <a:schemeClr val="bg2"/>
            </a:solidFill>
            <a:prstDash val="solid"/>
          </a:ln>
        </p:spPr>
      </p:sp>
      <p:sp>
        <p:nvSpPr>
          <p:cNvPr id="39" name="Icon circle"/>
          <p:cNvSpPr/>
          <p:nvPr/>
        </p:nvSpPr>
        <p:spPr>
          <a:xfrm>
            <a:off x="8308848" y="5550408"/>
            <a:ext cx="548640" cy="548640"/>
          </a:xfrm>
          <a:prstGeom prst="ellipse">
            <a:avLst/>
          </a:prstGeom>
          <a:solidFill>
            <a:schemeClr val="accent2"/>
          </a:solidFill>
          <a:ln w="12700">
            <a:solidFill>
              <a:schemeClr val="accent2"/>
            </a:solidFill>
            <a:prstDash val="solid"/>
          </a:ln>
        </p:spPr>
      </p:sp>
      <p:pic>
        <p:nvPicPr>
          <p:cNvPr id="40" name="Icon FaUndo" descr="Undo icon">    </p:cNvPr>
          <p:cNvPicPr>
            <a:picLocks noChangeAspect="1"/>
          </p:cNvPicPr>
          <p:nvPr/>
        </p:nvPicPr>
        <p:blipFill>
          <a:blip r:embed="rId5"/>
          <a:stretch>
            <a:fillRect/>
          </a:stretch>
        </p:blipFill>
        <p:spPr>
          <a:xfrm>
            <a:off x="8446008" y="5687568"/>
            <a:ext cx="274320" cy="274320"/>
          </a:xfrm>
          <a:prstGeom prst="rect">
            <a:avLst/>
          </a:prstGeom>
        </p:spPr>
      </p:pic>
      <p:sp>
        <p:nvSpPr>
          <p:cNvPr id="41" name="Text 34"/>
          <p:cNvSpPr txBox="1"/>
          <p:nvPr/>
        </p:nvSpPr>
        <p:spPr>
          <a:xfrm>
            <a:off x="9040368" y="5440680"/>
            <a:ext cx="2462784" cy="777240"/>
          </a:xfrm>
          <a:prstGeom prst="rect">
            <a:avLst/>
          </a:prstGeom>
          <a:noFill/>
          <a:ln/>
        </p:spPr>
        <p:txBody>
          <a:bodyPr wrap="square" lIns="0" tIns="0" rIns="0" bIns="0" rtlCol="0" anchor="ctr"/>
          <a:lstStyle/>
          <a:p>
            <a:pPr indent="0" marL="0">
              <a:buNone/>
            </a:pPr>
            <a:r>
              <a:rPr lang="en-US" sz="1400" dirty="0">
                <a:solidFill>
                  <a:schemeClr val="tx1"/>
                </a:solidFill>
              </a:rPr>
              <a:t>Rollback with kubectl rollout undo</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Evidence: applying the Kubernetes manifests</a:t>
            </a:r>
            <a:endParaRPr lang="en-US" sz="3200" dirty="0"/>
          </a:p>
        </p:txBody>
      </p:sp>
      <p:sp>
        <p:nvSpPr>
          <p:cNvPr id="3" name="Frame image10.png"/>
          <p:cNvSpPr/>
          <p:nvPr/>
        </p:nvSpPr>
        <p:spPr>
          <a:xfrm>
            <a:off x="548640" y="1435608"/>
            <a:ext cx="7461504" cy="782408"/>
          </a:xfrm>
          <a:prstGeom prst="roundRect">
            <a:avLst>
              <a:gd name="adj" fmla="val 7012"/>
            </a:avLst>
          </a:prstGeom>
          <a:solidFill>
            <a:srgbClr val="FFFFFF"/>
          </a:solidFill>
          <a:ln w="12700">
            <a:solidFill>
              <a:srgbClr val="BFDDE0"/>
            </a:solidFill>
            <a:prstDash val="solid"/>
          </a:ln>
        </p:spPr>
      </p:sp>
      <p:pic>
        <p:nvPicPr>
          <p:cNvPr id="4" name="Screenshot image10.png" descr="kubectl apply for namespace, config and secret">    </p:cNvPr>
          <p:cNvPicPr>
            <a:picLocks noChangeAspect="1"/>
          </p:cNvPicPr>
          <p:nvPr/>
        </p:nvPicPr>
        <p:blipFill>
          <a:blip r:embed="rId1"/>
          <a:stretch>
            <a:fillRect/>
          </a:stretch>
        </p:blipFill>
        <p:spPr>
          <a:xfrm>
            <a:off x="621792" y="1508760"/>
            <a:ext cx="7315200" cy="636104"/>
          </a:xfrm>
          <a:prstGeom prst="rect">
            <a:avLst/>
          </a:prstGeom>
        </p:spPr>
      </p:pic>
      <p:sp>
        <p:nvSpPr>
          <p:cNvPr id="5" name="Frame image11.png"/>
          <p:cNvSpPr/>
          <p:nvPr/>
        </p:nvSpPr>
        <p:spPr>
          <a:xfrm>
            <a:off x="548640" y="2441448"/>
            <a:ext cx="7461504" cy="1388695"/>
          </a:xfrm>
          <a:prstGeom prst="roundRect">
            <a:avLst>
              <a:gd name="adj" fmla="val 3951"/>
            </a:avLst>
          </a:prstGeom>
          <a:solidFill>
            <a:srgbClr val="FFFFFF"/>
          </a:solidFill>
          <a:ln w="12700">
            <a:solidFill>
              <a:srgbClr val="BFDDE0"/>
            </a:solidFill>
            <a:prstDash val="solid"/>
          </a:ln>
        </p:spPr>
      </p:sp>
      <p:pic>
        <p:nvPicPr>
          <p:cNvPr id="6" name="Screenshot image11.png" descr="kubectl apply for deployments, services and ingress">    </p:cNvPr>
          <p:cNvPicPr>
            <a:picLocks noChangeAspect="1"/>
          </p:cNvPicPr>
          <p:nvPr/>
        </p:nvPicPr>
        <p:blipFill>
          <a:blip r:embed="rId2"/>
          <a:stretch>
            <a:fillRect/>
          </a:stretch>
        </p:blipFill>
        <p:spPr>
          <a:xfrm>
            <a:off x="621792" y="2514600"/>
            <a:ext cx="7315200" cy="1242391"/>
          </a:xfrm>
          <a:prstGeom prst="rect">
            <a:avLst/>
          </a:prstGeom>
        </p:spPr>
      </p:pic>
      <p:sp>
        <p:nvSpPr>
          <p:cNvPr id="7" name="Frame image12.png"/>
          <p:cNvSpPr/>
          <p:nvPr/>
        </p:nvSpPr>
        <p:spPr>
          <a:xfrm>
            <a:off x="548640" y="4041648"/>
            <a:ext cx="7461504" cy="1116688"/>
          </a:xfrm>
          <a:prstGeom prst="roundRect">
            <a:avLst>
              <a:gd name="adj" fmla="val 4913"/>
            </a:avLst>
          </a:prstGeom>
          <a:solidFill>
            <a:srgbClr val="FFFFFF"/>
          </a:solidFill>
          <a:ln w="12700">
            <a:solidFill>
              <a:srgbClr val="BFDDE0"/>
            </a:solidFill>
            <a:prstDash val="solid"/>
          </a:ln>
        </p:spPr>
      </p:sp>
      <p:pic>
        <p:nvPicPr>
          <p:cNvPr id="8" name="Screenshot image12.png" descr="kubectl apply for the monitoring stack">    </p:cNvPr>
          <p:cNvPicPr>
            <a:picLocks noChangeAspect="1"/>
          </p:cNvPicPr>
          <p:nvPr/>
        </p:nvPicPr>
        <p:blipFill>
          <a:blip r:embed="rId3"/>
          <a:stretch>
            <a:fillRect/>
          </a:stretch>
        </p:blipFill>
        <p:spPr>
          <a:xfrm>
            <a:off x="621792" y="4114800"/>
            <a:ext cx="7315200" cy="970384"/>
          </a:xfrm>
          <a:prstGeom prst="rect">
            <a:avLst/>
          </a:prstGeom>
        </p:spPr>
      </p:pic>
      <p:sp>
        <p:nvSpPr>
          <p:cNvPr id="9" name="Apply facts card"/>
          <p:cNvSpPr/>
          <p:nvPr/>
        </p:nvSpPr>
        <p:spPr>
          <a:xfrm>
            <a:off x="8229600" y="1417320"/>
            <a:ext cx="3410712" cy="4572000"/>
          </a:xfrm>
          <a:prstGeom prst="roundRect">
            <a:avLst>
              <a:gd name="adj" fmla="val 3217"/>
            </a:avLst>
          </a:prstGeom>
          <a:solidFill>
            <a:schemeClr val="bg2"/>
          </a:solidFill>
          <a:ln w="12700">
            <a:solidFill>
              <a:schemeClr val="bg2"/>
            </a:solidFill>
            <a:prstDash val="solid"/>
          </a:ln>
        </p:spPr>
      </p:sp>
      <p:sp>
        <p:nvSpPr>
          <p:cNvPr id="10" name="Icon circle"/>
          <p:cNvSpPr/>
          <p:nvPr/>
        </p:nvSpPr>
        <p:spPr>
          <a:xfrm>
            <a:off x="8503920" y="1691640"/>
            <a:ext cx="640080" cy="640080"/>
          </a:xfrm>
          <a:prstGeom prst="ellipse">
            <a:avLst/>
          </a:prstGeom>
          <a:solidFill>
            <a:schemeClr val="accent1"/>
          </a:solidFill>
          <a:ln w="12700">
            <a:solidFill>
              <a:schemeClr val="accent1"/>
            </a:solidFill>
            <a:prstDash val="solid"/>
          </a:ln>
        </p:spPr>
      </p:sp>
      <p:pic>
        <p:nvPicPr>
          <p:cNvPr id="11" name="Icon FaCubes" descr="Cubes icon">    </p:cNvPr>
          <p:cNvPicPr>
            <a:picLocks noChangeAspect="1"/>
          </p:cNvPicPr>
          <p:nvPr/>
        </p:nvPicPr>
        <p:blipFill>
          <a:blip r:embed="rId4"/>
          <a:stretch>
            <a:fillRect/>
          </a:stretch>
        </p:blipFill>
        <p:spPr>
          <a:xfrm>
            <a:off x="8663940" y="1851660"/>
            <a:ext cx="320040" cy="320040"/>
          </a:xfrm>
          <a:prstGeom prst="rect">
            <a:avLst/>
          </a:prstGeom>
        </p:spPr>
      </p:pic>
      <p:sp>
        <p:nvSpPr>
          <p:cNvPr id="12" name="Text 6"/>
          <p:cNvSpPr txBox="1"/>
          <p:nvPr/>
        </p:nvSpPr>
        <p:spPr>
          <a:xfrm>
            <a:off x="9326880" y="1691640"/>
            <a:ext cx="2194560" cy="640080"/>
          </a:xfrm>
          <a:prstGeom prst="rect">
            <a:avLst/>
          </a:prstGeom>
          <a:noFill/>
          <a:ln/>
        </p:spPr>
        <p:txBody>
          <a:bodyPr wrap="square" lIns="0" tIns="0" rIns="0" bIns="0" rtlCol="0" anchor="ctr"/>
          <a:lstStyle/>
          <a:p>
            <a:pPr indent="0" marL="0">
              <a:buNone/>
            </a:pPr>
            <a:r>
              <a:rPr lang="en-US" sz="1800" b="1" dirty="0">
                <a:solidFill>
                  <a:schemeClr val="tx1"/>
                </a:solidFill>
              </a:rPr>
              <a:t>What it shows</a:t>
            </a:r>
            <a:endParaRPr lang="en-US" sz="1800" dirty="0"/>
          </a:p>
        </p:txBody>
      </p:sp>
      <p:sp>
        <p:nvSpPr>
          <p:cNvPr id="13" name="Text 7"/>
          <p:cNvSpPr txBox="1"/>
          <p:nvPr/>
        </p:nvSpPr>
        <p:spPr>
          <a:xfrm>
            <a:off x="8503920" y="2606040"/>
            <a:ext cx="292608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Namespace, ConfigMap and Secret applied first</a:t>
            </a:r>
            <a:endParaRPr lang="en-US" sz="1400" dirty="0"/>
          </a:p>
          <a:p>
            <a:pPr marL="342900" indent="-342900">
              <a:spcAft>
                <a:spcPts val="800"/>
              </a:spcAft>
              <a:buSzPct val="100000"/>
              <a:buChar char="•"/>
            </a:pPr>
            <a:r>
              <a:rPr lang="en-US" sz="1400" dirty="0">
                <a:solidFill>
                  <a:schemeClr val="tx1"/>
                </a:solidFill>
              </a:rPr>
              <a:t>Deployments, services and ingress applied from the manifests folder</a:t>
            </a:r>
            <a:endParaRPr lang="en-US" sz="1400" dirty="0"/>
          </a:p>
          <a:p>
            <a:pPr marL="342900" indent="-342900">
              <a:spcAft>
                <a:spcPts val="800"/>
              </a:spcAft>
              <a:buSzPct val="100000"/>
              <a:buChar char="•"/>
            </a:pPr>
            <a:r>
              <a:rPr lang="en-US" sz="1400" dirty="0">
                <a:solidFill>
                  <a:schemeClr val="tx1"/>
                </a:solidFill>
              </a:rPr>
              <a:t>Prometheus and Grafana applied from their own manifest</a:t>
            </a:r>
            <a:endParaRPr lang="en-US" sz="1400" dirty="0"/>
          </a:p>
          <a:p>
            <a:pPr marL="342900" indent="-342900">
              <a:spcAft>
                <a:spcPts val="800"/>
              </a:spcAft>
              <a:buSzPct val="100000"/>
              <a:buChar char="•"/>
            </a:pPr>
            <a:r>
              <a:rPr lang="en-US" sz="1400" dirty="0">
                <a:solidFill>
                  <a:schemeClr val="tx1"/>
                </a:solidFill>
              </a:rPr>
              <a:t>Output reads unchanged, so the cluster already matched the files</a:t>
            </a:r>
            <a:endParaRPr lang="en-US" sz="1400" dirty="0"/>
          </a:p>
        </p:txBody>
      </p:sp>
      <p:sp>
        <p:nvSpPr>
          <p:cNvPr id="14" name="Note"/>
          <p:cNvSpPr/>
          <p:nvPr/>
        </p:nvSpPr>
        <p:spPr>
          <a:xfrm>
            <a:off x="548640" y="5440680"/>
            <a:ext cx="7498080" cy="640080"/>
          </a:xfrm>
          <a:prstGeom prst="roundRect">
            <a:avLst>
              <a:gd name="adj" fmla="val 17143"/>
            </a:avLst>
          </a:prstGeom>
          <a:solidFill>
            <a:schemeClr val="accent5"/>
          </a:solidFill>
          <a:ln w="12700">
            <a:solidFill>
              <a:schemeClr val="accent5"/>
            </a:solidFill>
            <a:prstDash val="solid"/>
          </a:ln>
        </p:spPr>
      </p:sp>
      <p:sp>
        <p:nvSpPr>
          <p:cNvPr id="15" name="Text 9"/>
          <p:cNvSpPr txBox="1"/>
          <p:nvPr/>
        </p:nvSpPr>
        <p:spPr>
          <a:xfrm>
            <a:off x="822960" y="5440680"/>
            <a:ext cx="6949440" cy="640080"/>
          </a:xfrm>
          <a:prstGeom prst="rect">
            <a:avLst/>
          </a:prstGeom>
          <a:noFill/>
          <a:ln/>
        </p:spPr>
        <p:txBody>
          <a:bodyPr wrap="square" lIns="0" tIns="0" rIns="0" bIns="0" rtlCol="0" anchor="ctr"/>
          <a:lstStyle/>
          <a:p>
            <a:pPr indent="0" marL="0">
              <a:buNone/>
            </a:pPr>
            <a:r>
              <a:rPr lang="en-US" sz="1400" dirty="0">
                <a:solidFill>
                  <a:schemeClr val="tx1"/>
                </a:solidFill>
              </a:rPr>
              <a:t>Commands were run from the devops submission folder.</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Evidence: rolling update to version 2</a:t>
            </a:r>
            <a:endParaRPr lang="en-US" sz="3200" dirty="0"/>
          </a:p>
        </p:txBody>
      </p:sp>
      <p:sp>
        <p:nvSpPr>
          <p:cNvPr id="3" name="Node Set image to v2"/>
          <p:cNvSpPr/>
          <p:nvPr/>
        </p:nvSpPr>
        <p:spPr>
          <a:xfrm>
            <a:off x="548640" y="1417320"/>
            <a:ext cx="3227832" cy="1554480"/>
          </a:xfrm>
          <a:prstGeom prst="roundRect">
            <a:avLst>
              <a:gd name="adj" fmla="val 7059"/>
            </a:avLst>
          </a:prstGeom>
          <a:solidFill>
            <a:schemeClr val="bg2"/>
          </a:solidFill>
          <a:ln w="12700">
            <a:solidFill>
              <a:schemeClr val="bg2"/>
            </a:solidFill>
            <a:prstDash val="solid"/>
          </a:ln>
        </p:spPr>
      </p:sp>
      <p:sp>
        <p:nvSpPr>
          <p:cNvPr id="4" name="Icon circle"/>
          <p:cNvSpPr/>
          <p:nvPr/>
        </p:nvSpPr>
        <p:spPr>
          <a:xfrm>
            <a:off x="1888236" y="1581912"/>
            <a:ext cx="548640" cy="548640"/>
          </a:xfrm>
          <a:prstGeom prst="ellipse">
            <a:avLst/>
          </a:prstGeom>
          <a:solidFill>
            <a:schemeClr val="accent1"/>
          </a:solidFill>
          <a:ln w="12700">
            <a:solidFill>
              <a:schemeClr val="accent1"/>
            </a:solidFill>
            <a:prstDash val="solid"/>
          </a:ln>
        </p:spPr>
      </p:sp>
      <p:pic>
        <p:nvPicPr>
          <p:cNvPr id="5" name="Icon FaDocker" descr="Docker icon">    </p:cNvPr>
          <p:cNvPicPr>
            <a:picLocks noChangeAspect="1"/>
          </p:cNvPicPr>
          <p:nvPr/>
        </p:nvPicPr>
        <p:blipFill>
          <a:blip r:embed="rId1"/>
          <a:stretch>
            <a:fillRect/>
          </a:stretch>
        </p:blipFill>
        <p:spPr>
          <a:xfrm>
            <a:off x="2025396" y="1719072"/>
            <a:ext cx="274320" cy="274320"/>
          </a:xfrm>
          <a:prstGeom prst="rect">
            <a:avLst/>
          </a:prstGeom>
        </p:spPr>
      </p:pic>
      <p:sp>
        <p:nvSpPr>
          <p:cNvPr id="6" name="Text 3"/>
          <p:cNvSpPr txBox="1"/>
          <p:nvPr/>
        </p:nvSpPr>
        <p:spPr>
          <a:xfrm>
            <a:off x="64008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Set image to v2</a:t>
            </a:r>
            <a:endParaRPr lang="en-US" sz="1600" dirty="0"/>
          </a:p>
        </p:txBody>
      </p:sp>
      <p:sp>
        <p:nvSpPr>
          <p:cNvPr id="7" name="Text 4"/>
          <p:cNvSpPr txBox="1"/>
          <p:nvPr/>
        </p:nvSpPr>
        <p:spPr>
          <a:xfrm>
            <a:off x="64008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kubectl set image</a:t>
            </a:r>
            <a:endParaRPr lang="en-US" sz="1200" dirty="0"/>
          </a:p>
        </p:txBody>
      </p:sp>
      <p:sp>
        <p:nvSpPr>
          <p:cNvPr id="8" name="Node Pods replaced gradually"/>
          <p:cNvSpPr/>
          <p:nvPr/>
        </p:nvSpPr>
        <p:spPr>
          <a:xfrm>
            <a:off x="4480560" y="1417320"/>
            <a:ext cx="3227832" cy="1554480"/>
          </a:xfrm>
          <a:prstGeom prst="roundRect">
            <a:avLst>
              <a:gd name="adj" fmla="val 7059"/>
            </a:avLst>
          </a:prstGeom>
          <a:solidFill>
            <a:schemeClr val="bg2"/>
          </a:solidFill>
          <a:ln w="12700">
            <a:solidFill>
              <a:schemeClr val="bg2"/>
            </a:solidFill>
            <a:prstDash val="solid"/>
          </a:ln>
        </p:spPr>
      </p:sp>
      <p:sp>
        <p:nvSpPr>
          <p:cNvPr id="9" name="Icon circle"/>
          <p:cNvSpPr/>
          <p:nvPr/>
        </p:nvSpPr>
        <p:spPr>
          <a:xfrm>
            <a:off x="5820156" y="1581912"/>
            <a:ext cx="548640" cy="548640"/>
          </a:xfrm>
          <a:prstGeom prst="ellipse">
            <a:avLst/>
          </a:prstGeom>
          <a:solidFill>
            <a:schemeClr val="accent2"/>
          </a:solidFill>
          <a:ln w="12700">
            <a:solidFill>
              <a:schemeClr val="accent2"/>
            </a:solidFill>
            <a:prstDash val="solid"/>
          </a:ln>
        </p:spPr>
      </p:sp>
      <p:pic>
        <p:nvPicPr>
          <p:cNvPr id="10" name="Icon FaSyncAlt" descr="SyncAlt icon">    </p:cNvPr>
          <p:cNvPicPr>
            <a:picLocks noChangeAspect="1"/>
          </p:cNvPicPr>
          <p:nvPr/>
        </p:nvPicPr>
        <p:blipFill>
          <a:blip r:embed="rId2"/>
          <a:stretch>
            <a:fillRect/>
          </a:stretch>
        </p:blipFill>
        <p:spPr>
          <a:xfrm>
            <a:off x="5957316" y="1719072"/>
            <a:ext cx="274320" cy="274320"/>
          </a:xfrm>
          <a:prstGeom prst="rect">
            <a:avLst/>
          </a:prstGeom>
        </p:spPr>
      </p:pic>
      <p:sp>
        <p:nvSpPr>
          <p:cNvPr id="11" name="Text 7"/>
          <p:cNvSpPr txBox="1"/>
          <p:nvPr/>
        </p:nvSpPr>
        <p:spPr>
          <a:xfrm>
            <a:off x="457200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Pods replaced gradually</a:t>
            </a:r>
            <a:endParaRPr lang="en-US" sz="1600" dirty="0"/>
          </a:p>
        </p:txBody>
      </p:sp>
      <p:sp>
        <p:nvSpPr>
          <p:cNvPr id="12" name="Text 8"/>
          <p:cNvSpPr txBox="1"/>
          <p:nvPr/>
        </p:nvSpPr>
        <p:spPr>
          <a:xfrm>
            <a:off x="457200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Surge 1, unavailable 1</a:t>
            </a:r>
            <a:endParaRPr lang="en-US" sz="1200" dirty="0"/>
          </a:p>
        </p:txBody>
      </p:sp>
      <p:sp>
        <p:nvSpPr>
          <p:cNvPr id="13" name="Node Rollout status"/>
          <p:cNvSpPr/>
          <p:nvPr/>
        </p:nvSpPr>
        <p:spPr>
          <a:xfrm>
            <a:off x="8412480" y="1417320"/>
            <a:ext cx="3227832" cy="1554480"/>
          </a:xfrm>
          <a:prstGeom prst="roundRect">
            <a:avLst>
              <a:gd name="adj" fmla="val 7059"/>
            </a:avLst>
          </a:prstGeom>
          <a:solidFill>
            <a:schemeClr val="bg2"/>
          </a:solidFill>
          <a:ln w="12700">
            <a:solidFill>
              <a:schemeClr val="bg2"/>
            </a:solidFill>
            <a:prstDash val="solid"/>
          </a:ln>
        </p:spPr>
      </p:sp>
      <p:sp>
        <p:nvSpPr>
          <p:cNvPr id="14" name="Icon circle"/>
          <p:cNvSpPr/>
          <p:nvPr/>
        </p:nvSpPr>
        <p:spPr>
          <a:xfrm>
            <a:off x="9752076" y="1581912"/>
            <a:ext cx="548640" cy="548640"/>
          </a:xfrm>
          <a:prstGeom prst="ellipse">
            <a:avLst/>
          </a:prstGeom>
          <a:solidFill>
            <a:schemeClr val="accent1"/>
          </a:solidFill>
          <a:ln w="12700">
            <a:solidFill>
              <a:schemeClr val="accent1"/>
            </a:solidFill>
            <a:prstDash val="solid"/>
          </a:ln>
        </p:spPr>
      </p:sp>
      <p:pic>
        <p:nvPicPr>
          <p:cNvPr id="15" name="Icon FaCheckCircle" descr="CheckCircle icon">    </p:cNvPr>
          <p:cNvPicPr>
            <a:picLocks noChangeAspect="1"/>
          </p:cNvPicPr>
          <p:nvPr/>
        </p:nvPicPr>
        <p:blipFill>
          <a:blip r:embed="rId3"/>
          <a:stretch>
            <a:fillRect/>
          </a:stretch>
        </p:blipFill>
        <p:spPr>
          <a:xfrm>
            <a:off x="9889236" y="1719072"/>
            <a:ext cx="274320" cy="274320"/>
          </a:xfrm>
          <a:prstGeom prst="rect">
            <a:avLst/>
          </a:prstGeom>
        </p:spPr>
      </p:pic>
      <p:sp>
        <p:nvSpPr>
          <p:cNvPr id="16" name="Text 11"/>
          <p:cNvSpPr txBox="1"/>
          <p:nvPr/>
        </p:nvSpPr>
        <p:spPr>
          <a:xfrm>
            <a:off x="850392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Rollout status</a:t>
            </a:r>
            <a:endParaRPr lang="en-US" sz="1600" dirty="0"/>
          </a:p>
        </p:txBody>
      </p:sp>
      <p:sp>
        <p:nvSpPr>
          <p:cNvPr id="17" name="Text 12"/>
          <p:cNvSpPr txBox="1"/>
          <p:nvPr/>
        </p:nvSpPr>
        <p:spPr>
          <a:xfrm>
            <a:off x="850392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2 of 3 replicas updated</a:t>
            </a:r>
            <a:endParaRPr lang="en-US" sz="1200" dirty="0"/>
          </a:p>
        </p:txBody>
      </p:sp>
      <p:sp>
        <p:nvSpPr>
          <p:cNvPr id="18" name="Arrow"/>
          <p:cNvSpPr/>
          <p:nvPr/>
        </p:nvSpPr>
        <p:spPr>
          <a:xfrm>
            <a:off x="3822192" y="2194560"/>
            <a:ext cx="658368" cy="0"/>
          </a:xfrm>
          <a:prstGeom prst="line">
            <a:avLst/>
          </a:prstGeom>
          <a:noFill/>
          <a:ln w="28575">
            <a:solidFill>
              <a:schemeClr val="tx2"/>
            </a:solidFill>
            <a:prstDash val="solid"/>
            <a:tailEnd type="triangle"/>
          </a:ln>
        </p:spPr>
      </p:sp>
      <p:sp>
        <p:nvSpPr>
          <p:cNvPr id="19" name="Arrow"/>
          <p:cNvSpPr/>
          <p:nvPr/>
        </p:nvSpPr>
        <p:spPr>
          <a:xfrm>
            <a:off x="7754112" y="2194560"/>
            <a:ext cx="658368" cy="0"/>
          </a:xfrm>
          <a:prstGeom prst="line">
            <a:avLst/>
          </a:prstGeom>
          <a:noFill/>
          <a:ln w="28575">
            <a:solidFill>
              <a:schemeClr val="tx2"/>
            </a:solidFill>
            <a:prstDash val="solid"/>
            <a:tailEnd type="triangle"/>
          </a:ln>
        </p:spPr>
      </p:sp>
      <p:sp>
        <p:nvSpPr>
          <p:cNvPr id="20" name="Text 15"/>
          <p:cNvSpPr txBox="1"/>
          <p:nvPr/>
        </p:nvSpPr>
        <p:spPr>
          <a:xfrm>
            <a:off x="548640" y="3246120"/>
            <a:ext cx="11091672" cy="274320"/>
          </a:xfrm>
          <a:prstGeom prst="rect">
            <a:avLst/>
          </a:prstGeom>
          <a:noFill/>
          <a:ln/>
        </p:spPr>
        <p:txBody>
          <a:bodyPr wrap="square" lIns="0" tIns="0" rIns="0" bIns="0" rtlCol="0" anchor="t"/>
          <a:lstStyle/>
          <a:p>
            <a:pPr indent="0" marL="0">
              <a:buNone/>
            </a:pPr>
            <a:r>
              <a:rPr lang="en-US" sz="1300" b="1" dirty="0">
                <a:solidFill>
                  <a:schemeClr val="tx2"/>
                </a:solidFill>
              </a:rPr>
              <a:t>Update the backend deployment to image version 2</a:t>
            </a:r>
            <a:endParaRPr lang="en-US" sz="1300" dirty="0"/>
          </a:p>
        </p:txBody>
      </p:sp>
      <p:sp>
        <p:nvSpPr>
          <p:cNvPr id="21" name="Frame image13.png"/>
          <p:cNvSpPr/>
          <p:nvPr/>
        </p:nvSpPr>
        <p:spPr>
          <a:xfrm>
            <a:off x="749808" y="3538728"/>
            <a:ext cx="10661904" cy="776371"/>
          </a:xfrm>
          <a:prstGeom prst="roundRect">
            <a:avLst>
              <a:gd name="adj" fmla="val 7067"/>
            </a:avLst>
          </a:prstGeom>
          <a:solidFill>
            <a:srgbClr val="FFFFFF"/>
          </a:solidFill>
          <a:ln w="12700">
            <a:solidFill>
              <a:srgbClr val="BFDDE0"/>
            </a:solidFill>
            <a:prstDash val="solid"/>
          </a:ln>
        </p:spPr>
      </p:sp>
      <p:pic>
        <p:nvPicPr>
          <p:cNvPr id="22" name="Screenshot image13.png" descr="kubectl set image command">    </p:cNvPr>
          <p:cNvPicPr>
            <a:picLocks noChangeAspect="1"/>
          </p:cNvPicPr>
          <p:nvPr/>
        </p:nvPicPr>
        <p:blipFill>
          <a:blip r:embed="rId4"/>
          <a:stretch>
            <a:fillRect/>
          </a:stretch>
        </p:blipFill>
        <p:spPr>
          <a:xfrm>
            <a:off x="822960" y="3611880"/>
            <a:ext cx="10515600" cy="630067"/>
          </a:xfrm>
          <a:prstGeom prst="rect">
            <a:avLst/>
          </a:prstGeom>
        </p:spPr>
      </p:pic>
      <p:sp>
        <p:nvSpPr>
          <p:cNvPr id="23" name="Text 17"/>
          <p:cNvSpPr txBox="1"/>
          <p:nvPr/>
        </p:nvSpPr>
        <p:spPr>
          <a:xfrm>
            <a:off x="548640" y="4572000"/>
            <a:ext cx="11091672" cy="274320"/>
          </a:xfrm>
          <a:prstGeom prst="rect">
            <a:avLst/>
          </a:prstGeom>
          <a:noFill/>
          <a:ln/>
        </p:spPr>
        <p:txBody>
          <a:bodyPr wrap="square" lIns="0" tIns="0" rIns="0" bIns="0" rtlCol="0" anchor="t"/>
          <a:lstStyle/>
          <a:p>
            <a:pPr indent="0" marL="0">
              <a:buNone/>
            </a:pPr>
            <a:r>
              <a:rPr lang="en-US" sz="1300" b="1" dirty="0">
                <a:solidFill>
                  <a:schemeClr val="tx2"/>
                </a:solidFill>
              </a:rPr>
              <a:t>Watch the rollout progress</a:t>
            </a:r>
            <a:endParaRPr lang="en-US" sz="1300" dirty="0"/>
          </a:p>
        </p:txBody>
      </p:sp>
      <p:sp>
        <p:nvSpPr>
          <p:cNvPr id="24" name="Frame image14.png"/>
          <p:cNvSpPr/>
          <p:nvPr/>
        </p:nvSpPr>
        <p:spPr>
          <a:xfrm>
            <a:off x="749808" y="4864608"/>
            <a:ext cx="10661904" cy="990413"/>
          </a:xfrm>
          <a:prstGeom prst="roundRect">
            <a:avLst>
              <a:gd name="adj" fmla="val 5540"/>
            </a:avLst>
          </a:prstGeom>
          <a:solidFill>
            <a:srgbClr val="FFFFFF"/>
          </a:solidFill>
          <a:ln w="12700">
            <a:solidFill>
              <a:srgbClr val="BFDDE0"/>
            </a:solidFill>
            <a:prstDash val="solid"/>
          </a:ln>
        </p:spPr>
      </p:sp>
      <p:pic>
        <p:nvPicPr>
          <p:cNvPr id="25" name="Screenshot image14.png" descr="kubectl rollout status output">    </p:cNvPr>
          <p:cNvPicPr>
            <a:picLocks noChangeAspect="1"/>
          </p:cNvPicPr>
          <p:nvPr/>
        </p:nvPicPr>
        <p:blipFill>
          <a:blip r:embed="rId5"/>
          <a:stretch>
            <a:fillRect/>
          </a:stretch>
        </p:blipFill>
        <p:spPr>
          <a:xfrm>
            <a:off x="822960" y="4937760"/>
            <a:ext cx="10515600" cy="844109"/>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Server provisioning with Ansible</a:t>
            </a:r>
            <a:endParaRPr lang="en-US" sz="3200" dirty="0"/>
          </a:p>
        </p:txBody>
      </p:sp>
      <p:sp>
        <p:nvSpPr>
          <p:cNvPr id="3" name="Task 1"/>
          <p:cNvSpPr/>
          <p:nvPr/>
        </p:nvSpPr>
        <p:spPr>
          <a:xfrm>
            <a:off x="548640" y="1417320"/>
            <a:ext cx="2075688" cy="1463040"/>
          </a:xfrm>
          <a:prstGeom prst="roundRect">
            <a:avLst>
              <a:gd name="adj" fmla="val 7500"/>
            </a:avLst>
          </a:prstGeom>
          <a:solidFill>
            <a:schemeClr val="bg2"/>
          </a:solidFill>
          <a:ln w="12700">
            <a:solidFill>
              <a:schemeClr val="bg2"/>
            </a:solidFill>
            <a:prstDash val="solid"/>
          </a:ln>
        </p:spPr>
      </p:sp>
      <p:sp>
        <p:nvSpPr>
          <p:cNvPr id="4" name="Initials 1"/>
          <p:cNvSpPr txBox="1"/>
          <p:nvPr/>
        </p:nvSpPr>
        <p:spPr>
          <a:xfrm>
            <a:off x="731520" y="1600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731520" y="2194560"/>
            <a:ext cx="1709928" cy="594360"/>
          </a:xfrm>
          <a:prstGeom prst="rect">
            <a:avLst/>
          </a:prstGeom>
          <a:noFill/>
          <a:ln/>
        </p:spPr>
        <p:txBody>
          <a:bodyPr wrap="square" lIns="0" tIns="0" rIns="0" bIns="0" rtlCol="0" anchor="t"/>
          <a:lstStyle/>
          <a:p>
            <a:pPr indent="0" marL="0">
              <a:buNone/>
            </a:pPr>
            <a:r>
              <a:rPr lang="en-US" sz="1400" b="1" dirty="0">
                <a:solidFill>
                  <a:schemeClr val="tx1"/>
                </a:solidFill>
              </a:rPr>
              <a:t>Update apt cache and upgrade packages</a:t>
            </a:r>
            <a:endParaRPr lang="en-US" sz="1400" dirty="0"/>
          </a:p>
        </p:txBody>
      </p:sp>
      <p:sp>
        <p:nvSpPr>
          <p:cNvPr id="6" name="Task 2"/>
          <p:cNvSpPr/>
          <p:nvPr/>
        </p:nvSpPr>
        <p:spPr>
          <a:xfrm>
            <a:off x="2802636" y="1417320"/>
            <a:ext cx="2075688" cy="1463040"/>
          </a:xfrm>
          <a:prstGeom prst="roundRect">
            <a:avLst>
              <a:gd name="adj" fmla="val 7500"/>
            </a:avLst>
          </a:prstGeom>
          <a:solidFill>
            <a:schemeClr val="bg2"/>
          </a:solidFill>
          <a:ln w="12700">
            <a:solidFill>
              <a:schemeClr val="bg2"/>
            </a:solidFill>
            <a:prstDash val="solid"/>
          </a:ln>
        </p:spPr>
      </p:sp>
      <p:sp>
        <p:nvSpPr>
          <p:cNvPr id="7" name="Initials 2"/>
          <p:cNvSpPr txBox="1"/>
          <p:nvPr/>
        </p:nvSpPr>
        <p:spPr>
          <a:xfrm>
            <a:off x="2985516" y="1600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2985516" y="2194560"/>
            <a:ext cx="1709928" cy="594360"/>
          </a:xfrm>
          <a:prstGeom prst="rect">
            <a:avLst/>
          </a:prstGeom>
          <a:noFill/>
          <a:ln/>
        </p:spPr>
        <p:txBody>
          <a:bodyPr wrap="square" lIns="0" tIns="0" rIns="0" bIns="0" rtlCol="0" anchor="t"/>
          <a:lstStyle/>
          <a:p>
            <a:pPr indent="0" marL="0">
              <a:buNone/>
            </a:pPr>
            <a:r>
              <a:rPr lang="en-US" sz="1400" b="1" dirty="0">
                <a:solidFill>
                  <a:schemeClr val="tx1"/>
                </a:solidFill>
              </a:rPr>
              <a:t>Install base packages and git</a:t>
            </a:r>
            <a:endParaRPr lang="en-US" sz="1400" dirty="0"/>
          </a:p>
        </p:txBody>
      </p:sp>
      <p:sp>
        <p:nvSpPr>
          <p:cNvPr id="9" name="Task 3"/>
          <p:cNvSpPr/>
          <p:nvPr/>
        </p:nvSpPr>
        <p:spPr>
          <a:xfrm>
            <a:off x="5056632" y="1417320"/>
            <a:ext cx="2075688" cy="1463040"/>
          </a:xfrm>
          <a:prstGeom prst="roundRect">
            <a:avLst>
              <a:gd name="adj" fmla="val 7500"/>
            </a:avLst>
          </a:prstGeom>
          <a:solidFill>
            <a:schemeClr val="bg2"/>
          </a:solidFill>
          <a:ln w="12700">
            <a:solidFill>
              <a:schemeClr val="bg2"/>
            </a:solidFill>
            <a:prstDash val="solid"/>
          </a:ln>
        </p:spPr>
      </p:sp>
      <p:sp>
        <p:nvSpPr>
          <p:cNvPr id="10" name="Initials 3"/>
          <p:cNvSpPr txBox="1"/>
          <p:nvPr/>
        </p:nvSpPr>
        <p:spPr>
          <a:xfrm>
            <a:off x="5239512" y="1600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5239512" y="2194560"/>
            <a:ext cx="1709928" cy="594360"/>
          </a:xfrm>
          <a:prstGeom prst="rect">
            <a:avLst/>
          </a:prstGeom>
          <a:noFill/>
          <a:ln/>
        </p:spPr>
        <p:txBody>
          <a:bodyPr wrap="square" lIns="0" tIns="0" rIns="0" bIns="0" rtlCol="0" anchor="t"/>
          <a:lstStyle/>
          <a:p>
            <a:pPr indent="0" marL="0">
              <a:buNone/>
            </a:pPr>
            <a:r>
              <a:rPr lang="en-US" sz="1400" b="1" dirty="0">
                <a:solidFill>
                  <a:schemeClr val="tx1"/>
                </a:solidFill>
              </a:rPr>
              <a:t>Install Java 21</a:t>
            </a:r>
            <a:endParaRPr lang="en-US" sz="1400" dirty="0"/>
          </a:p>
        </p:txBody>
      </p:sp>
      <p:sp>
        <p:nvSpPr>
          <p:cNvPr id="12" name="Task 4"/>
          <p:cNvSpPr/>
          <p:nvPr/>
        </p:nvSpPr>
        <p:spPr>
          <a:xfrm>
            <a:off x="7310628" y="1417320"/>
            <a:ext cx="2075688" cy="1463040"/>
          </a:xfrm>
          <a:prstGeom prst="roundRect">
            <a:avLst>
              <a:gd name="adj" fmla="val 7500"/>
            </a:avLst>
          </a:prstGeom>
          <a:solidFill>
            <a:schemeClr val="bg2"/>
          </a:solidFill>
          <a:ln w="12700">
            <a:solidFill>
              <a:schemeClr val="bg2"/>
            </a:solidFill>
            <a:prstDash val="solid"/>
          </a:ln>
        </p:spPr>
      </p:sp>
      <p:sp>
        <p:nvSpPr>
          <p:cNvPr id="13" name="Initials 4"/>
          <p:cNvSpPr txBox="1"/>
          <p:nvPr/>
        </p:nvSpPr>
        <p:spPr>
          <a:xfrm>
            <a:off x="7493508" y="1600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7493508" y="2194560"/>
            <a:ext cx="1709928" cy="594360"/>
          </a:xfrm>
          <a:prstGeom prst="rect">
            <a:avLst/>
          </a:prstGeom>
          <a:noFill/>
          <a:ln/>
        </p:spPr>
        <p:txBody>
          <a:bodyPr wrap="square" lIns="0" tIns="0" rIns="0" bIns="0" rtlCol="0" anchor="t"/>
          <a:lstStyle/>
          <a:p>
            <a:pPr indent="0" marL="0">
              <a:buNone/>
            </a:pPr>
            <a:r>
              <a:rPr lang="en-US" sz="1400" b="1" dirty="0">
                <a:solidFill>
                  <a:schemeClr val="tx1"/>
                </a:solidFill>
              </a:rPr>
              <a:t>Add the Docker GPG key</a:t>
            </a:r>
            <a:endParaRPr lang="en-US" sz="1400" dirty="0"/>
          </a:p>
        </p:txBody>
      </p:sp>
      <p:sp>
        <p:nvSpPr>
          <p:cNvPr id="15" name="Task 5"/>
          <p:cNvSpPr/>
          <p:nvPr/>
        </p:nvSpPr>
        <p:spPr>
          <a:xfrm>
            <a:off x="9564624" y="1417320"/>
            <a:ext cx="2075688" cy="1463040"/>
          </a:xfrm>
          <a:prstGeom prst="roundRect">
            <a:avLst>
              <a:gd name="adj" fmla="val 7500"/>
            </a:avLst>
          </a:prstGeom>
          <a:solidFill>
            <a:schemeClr val="bg2"/>
          </a:solidFill>
          <a:ln w="12700">
            <a:solidFill>
              <a:schemeClr val="bg2"/>
            </a:solidFill>
            <a:prstDash val="solid"/>
          </a:ln>
        </p:spPr>
      </p:sp>
      <p:sp>
        <p:nvSpPr>
          <p:cNvPr id="16" name="Initials 5"/>
          <p:cNvSpPr txBox="1"/>
          <p:nvPr/>
        </p:nvSpPr>
        <p:spPr>
          <a:xfrm>
            <a:off x="9747504" y="16002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9747504" y="2194560"/>
            <a:ext cx="1709928" cy="594360"/>
          </a:xfrm>
          <a:prstGeom prst="rect">
            <a:avLst/>
          </a:prstGeom>
          <a:noFill/>
          <a:ln/>
        </p:spPr>
        <p:txBody>
          <a:bodyPr wrap="square" lIns="0" tIns="0" rIns="0" bIns="0" rtlCol="0" anchor="t"/>
          <a:lstStyle/>
          <a:p>
            <a:pPr indent="0" marL="0">
              <a:buNone/>
            </a:pPr>
            <a:r>
              <a:rPr lang="en-US" sz="1400" b="1" dirty="0">
                <a:solidFill>
                  <a:schemeClr val="tx1"/>
                </a:solidFill>
              </a:rPr>
              <a:t>Add the Docker apt repository</a:t>
            </a:r>
            <a:endParaRPr lang="en-US" sz="1400" dirty="0"/>
          </a:p>
        </p:txBody>
      </p:sp>
      <p:sp>
        <p:nvSpPr>
          <p:cNvPr id="18" name="Task 6"/>
          <p:cNvSpPr/>
          <p:nvPr/>
        </p:nvSpPr>
        <p:spPr>
          <a:xfrm>
            <a:off x="548640" y="3108960"/>
            <a:ext cx="2075688" cy="1463040"/>
          </a:xfrm>
          <a:prstGeom prst="roundRect">
            <a:avLst>
              <a:gd name="adj" fmla="val 7500"/>
            </a:avLst>
          </a:prstGeom>
          <a:solidFill>
            <a:schemeClr val="accent4"/>
          </a:solidFill>
          <a:ln w="12700">
            <a:solidFill>
              <a:schemeClr val="accent4"/>
            </a:solidFill>
            <a:prstDash val="solid"/>
          </a:ln>
        </p:spPr>
      </p:sp>
      <p:sp>
        <p:nvSpPr>
          <p:cNvPr id="19" name="Initials 6"/>
          <p:cNvSpPr txBox="1"/>
          <p:nvPr/>
        </p:nvSpPr>
        <p:spPr>
          <a:xfrm>
            <a:off x="731520" y="32918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731520" y="3886200"/>
            <a:ext cx="1709928" cy="594360"/>
          </a:xfrm>
          <a:prstGeom prst="rect">
            <a:avLst/>
          </a:prstGeom>
          <a:noFill/>
          <a:ln/>
        </p:spPr>
        <p:txBody>
          <a:bodyPr wrap="square" lIns="0" tIns="0" rIns="0" bIns="0" rtlCol="0" anchor="t"/>
          <a:lstStyle/>
          <a:p>
            <a:pPr indent="0" marL="0">
              <a:buNone/>
            </a:pPr>
            <a:r>
              <a:rPr lang="en-US" sz="1400" b="1" dirty="0">
                <a:solidFill>
                  <a:schemeClr val="tx1"/>
                </a:solidFill>
              </a:rPr>
              <a:t>Install Docker engine and containerd</a:t>
            </a:r>
            <a:endParaRPr lang="en-US" sz="1400" dirty="0"/>
          </a:p>
        </p:txBody>
      </p:sp>
      <p:sp>
        <p:nvSpPr>
          <p:cNvPr id="21" name="Task 7"/>
          <p:cNvSpPr/>
          <p:nvPr/>
        </p:nvSpPr>
        <p:spPr>
          <a:xfrm>
            <a:off x="2802636" y="3108960"/>
            <a:ext cx="2075688" cy="1463040"/>
          </a:xfrm>
          <a:prstGeom prst="roundRect">
            <a:avLst>
              <a:gd name="adj" fmla="val 7500"/>
            </a:avLst>
          </a:prstGeom>
          <a:solidFill>
            <a:schemeClr val="accent4"/>
          </a:solidFill>
          <a:ln w="12700">
            <a:solidFill>
              <a:schemeClr val="accent4"/>
            </a:solidFill>
            <a:prstDash val="solid"/>
          </a:ln>
        </p:spPr>
      </p:sp>
      <p:sp>
        <p:nvSpPr>
          <p:cNvPr id="22" name="Initials 7"/>
          <p:cNvSpPr txBox="1"/>
          <p:nvPr/>
        </p:nvSpPr>
        <p:spPr>
          <a:xfrm>
            <a:off x="2985516" y="32918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2985516" y="3886200"/>
            <a:ext cx="1709928" cy="594360"/>
          </a:xfrm>
          <a:prstGeom prst="rect">
            <a:avLst/>
          </a:prstGeom>
          <a:noFill/>
          <a:ln/>
        </p:spPr>
        <p:txBody>
          <a:bodyPr wrap="square" lIns="0" tIns="0" rIns="0" bIns="0" rtlCol="0" anchor="t"/>
          <a:lstStyle/>
          <a:p>
            <a:pPr indent="0" marL="0">
              <a:buNone/>
            </a:pPr>
            <a:r>
              <a:rPr lang="en-US" sz="1400" b="1" dirty="0">
                <a:solidFill>
                  <a:schemeClr val="tx1"/>
                </a:solidFill>
              </a:rPr>
              <a:t>Start and enable Docker</a:t>
            </a:r>
            <a:endParaRPr lang="en-US" sz="1400" dirty="0"/>
          </a:p>
        </p:txBody>
      </p:sp>
      <p:sp>
        <p:nvSpPr>
          <p:cNvPr id="24" name="Task 8"/>
          <p:cNvSpPr/>
          <p:nvPr/>
        </p:nvSpPr>
        <p:spPr>
          <a:xfrm>
            <a:off x="5056632" y="3108960"/>
            <a:ext cx="2075688" cy="1463040"/>
          </a:xfrm>
          <a:prstGeom prst="roundRect">
            <a:avLst>
              <a:gd name="adj" fmla="val 7500"/>
            </a:avLst>
          </a:prstGeom>
          <a:solidFill>
            <a:schemeClr val="accent4"/>
          </a:solidFill>
          <a:ln w="12700">
            <a:solidFill>
              <a:schemeClr val="accent4"/>
            </a:solidFill>
            <a:prstDash val="solid"/>
          </a:ln>
        </p:spPr>
      </p:sp>
      <p:sp>
        <p:nvSpPr>
          <p:cNvPr id="25" name="Initials 8"/>
          <p:cNvSpPr txBox="1"/>
          <p:nvPr/>
        </p:nvSpPr>
        <p:spPr>
          <a:xfrm>
            <a:off x="5239512" y="32918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6" name="Text 24"/>
          <p:cNvSpPr txBox="1"/>
          <p:nvPr/>
        </p:nvSpPr>
        <p:spPr>
          <a:xfrm>
            <a:off x="5239512" y="3886200"/>
            <a:ext cx="1709928" cy="594360"/>
          </a:xfrm>
          <a:prstGeom prst="rect">
            <a:avLst/>
          </a:prstGeom>
          <a:noFill/>
          <a:ln/>
        </p:spPr>
        <p:txBody>
          <a:bodyPr wrap="square" lIns="0" tIns="0" rIns="0" bIns="0" rtlCol="0" anchor="t"/>
          <a:lstStyle/>
          <a:p>
            <a:pPr indent="0" marL="0">
              <a:buNone/>
            </a:pPr>
            <a:r>
              <a:rPr lang="en-US" sz="1400" b="1" dirty="0">
                <a:solidFill>
                  <a:schemeClr val="tx1"/>
                </a:solidFill>
              </a:rPr>
              <a:t>Install kubectl</a:t>
            </a:r>
            <a:endParaRPr lang="en-US" sz="1400" dirty="0"/>
          </a:p>
        </p:txBody>
      </p:sp>
      <p:sp>
        <p:nvSpPr>
          <p:cNvPr id="27" name="Task 9"/>
          <p:cNvSpPr/>
          <p:nvPr/>
        </p:nvSpPr>
        <p:spPr>
          <a:xfrm>
            <a:off x="7310628" y="3108960"/>
            <a:ext cx="2075688" cy="1463040"/>
          </a:xfrm>
          <a:prstGeom prst="roundRect">
            <a:avLst>
              <a:gd name="adj" fmla="val 7500"/>
            </a:avLst>
          </a:prstGeom>
          <a:solidFill>
            <a:schemeClr val="accent4"/>
          </a:solidFill>
          <a:ln w="12700">
            <a:solidFill>
              <a:schemeClr val="accent4"/>
            </a:solidFill>
            <a:prstDash val="solid"/>
          </a:ln>
        </p:spPr>
      </p:sp>
      <p:sp>
        <p:nvSpPr>
          <p:cNvPr id="28" name="Initials 9"/>
          <p:cNvSpPr txBox="1"/>
          <p:nvPr/>
        </p:nvSpPr>
        <p:spPr>
          <a:xfrm>
            <a:off x="7493508" y="32918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29" name="Text 27"/>
          <p:cNvSpPr txBox="1"/>
          <p:nvPr/>
        </p:nvSpPr>
        <p:spPr>
          <a:xfrm>
            <a:off x="7493508" y="3886200"/>
            <a:ext cx="1709928" cy="594360"/>
          </a:xfrm>
          <a:prstGeom prst="rect">
            <a:avLst/>
          </a:prstGeom>
          <a:noFill/>
          <a:ln/>
        </p:spPr>
        <p:txBody>
          <a:bodyPr wrap="square" lIns="0" tIns="0" rIns="0" bIns="0" rtlCol="0" anchor="t"/>
          <a:lstStyle/>
          <a:p>
            <a:pPr indent="0" marL="0">
              <a:buNone/>
            </a:pPr>
            <a:r>
              <a:rPr lang="en-US" sz="1400" b="1" dirty="0">
                <a:solidFill>
                  <a:schemeClr val="tx1"/>
                </a:solidFill>
              </a:rPr>
              <a:t>Create the heartapp user</a:t>
            </a:r>
            <a:endParaRPr lang="en-US" sz="1400" dirty="0"/>
          </a:p>
        </p:txBody>
      </p:sp>
      <p:sp>
        <p:nvSpPr>
          <p:cNvPr id="30" name="Task 10"/>
          <p:cNvSpPr/>
          <p:nvPr/>
        </p:nvSpPr>
        <p:spPr>
          <a:xfrm>
            <a:off x="9564624" y="3108960"/>
            <a:ext cx="2075688" cy="1463040"/>
          </a:xfrm>
          <a:prstGeom prst="roundRect">
            <a:avLst>
              <a:gd name="adj" fmla="val 7500"/>
            </a:avLst>
          </a:prstGeom>
          <a:solidFill>
            <a:schemeClr val="accent4"/>
          </a:solidFill>
          <a:ln w="12700">
            <a:solidFill>
              <a:schemeClr val="accent4"/>
            </a:solidFill>
            <a:prstDash val="solid"/>
          </a:ln>
        </p:spPr>
      </p:sp>
      <p:sp>
        <p:nvSpPr>
          <p:cNvPr id="31" name="Initials 10"/>
          <p:cNvSpPr txBox="1"/>
          <p:nvPr/>
        </p:nvSpPr>
        <p:spPr>
          <a:xfrm>
            <a:off x="9747504" y="3291840"/>
            <a:ext cx="457200" cy="4572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32" name="Text 30"/>
          <p:cNvSpPr txBox="1"/>
          <p:nvPr/>
        </p:nvSpPr>
        <p:spPr>
          <a:xfrm>
            <a:off x="9747504" y="3886200"/>
            <a:ext cx="1709928" cy="594360"/>
          </a:xfrm>
          <a:prstGeom prst="rect">
            <a:avLst/>
          </a:prstGeom>
          <a:noFill/>
          <a:ln/>
        </p:spPr>
        <p:txBody>
          <a:bodyPr wrap="square" lIns="0" tIns="0" rIns="0" bIns="0" rtlCol="0" anchor="t"/>
          <a:lstStyle/>
          <a:p>
            <a:pPr indent="0" marL="0">
              <a:buNone/>
            </a:pPr>
            <a:r>
              <a:rPr lang="en-US" sz="1400" b="1" dirty="0">
                <a:solidFill>
                  <a:schemeClr val="tx1"/>
                </a:solidFill>
              </a:rPr>
              <a:t>Create app directory and env file</a:t>
            </a:r>
            <a:endParaRPr lang="en-US" sz="1400" dirty="0"/>
          </a:p>
        </p:txBody>
      </p:sp>
      <p:sp>
        <p:nvSpPr>
          <p:cNvPr id="33" name="Ansible fact 0"/>
          <p:cNvSpPr/>
          <p:nvPr/>
        </p:nvSpPr>
        <p:spPr>
          <a:xfrm>
            <a:off x="548640" y="4983480"/>
            <a:ext cx="3514344" cy="1097280"/>
          </a:xfrm>
          <a:prstGeom prst="roundRect">
            <a:avLst>
              <a:gd name="adj" fmla="val 10000"/>
            </a:avLst>
          </a:prstGeom>
          <a:solidFill>
            <a:schemeClr val="bg2"/>
          </a:solidFill>
          <a:ln w="12700">
            <a:solidFill>
              <a:schemeClr val="bg2"/>
            </a:solidFill>
            <a:prstDash val="solid"/>
          </a:ln>
        </p:spPr>
      </p:sp>
      <p:sp>
        <p:nvSpPr>
          <p:cNvPr id="34" name="Icon circle"/>
          <p:cNvSpPr/>
          <p:nvPr/>
        </p:nvSpPr>
        <p:spPr>
          <a:xfrm>
            <a:off x="777240" y="5303520"/>
            <a:ext cx="457200" cy="457200"/>
          </a:xfrm>
          <a:prstGeom prst="ellipse">
            <a:avLst/>
          </a:prstGeom>
          <a:solidFill>
            <a:schemeClr val="accent1"/>
          </a:solidFill>
          <a:ln w="12700">
            <a:solidFill>
              <a:schemeClr val="accent1"/>
            </a:solidFill>
            <a:prstDash val="solid"/>
          </a:ln>
        </p:spPr>
      </p:sp>
      <p:pic>
        <p:nvPicPr>
          <p:cNvPr id="35" name="Icon FaServer" descr="Server icon">    </p:cNvPr>
          <p:cNvPicPr>
            <a:picLocks noChangeAspect="1"/>
          </p:cNvPicPr>
          <p:nvPr/>
        </p:nvPicPr>
        <p:blipFill>
          <a:blip r:embed="rId1"/>
          <a:stretch>
            <a:fillRect/>
          </a:stretch>
        </p:blipFill>
        <p:spPr>
          <a:xfrm>
            <a:off x="891540" y="5417820"/>
            <a:ext cx="228600" cy="228600"/>
          </a:xfrm>
          <a:prstGeom prst="rect">
            <a:avLst/>
          </a:prstGeom>
        </p:spPr>
      </p:pic>
      <p:sp>
        <p:nvSpPr>
          <p:cNvPr id="36" name="Text 33"/>
          <p:cNvSpPr txBox="1"/>
          <p:nvPr/>
        </p:nvSpPr>
        <p:spPr>
          <a:xfrm>
            <a:off x="1463040" y="4983480"/>
            <a:ext cx="2417064" cy="1097280"/>
          </a:xfrm>
          <a:prstGeom prst="rect">
            <a:avLst/>
          </a:prstGeom>
          <a:noFill/>
          <a:ln/>
        </p:spPr>
        <p:txBody>
          <a:bodyPr wrap="square" lIns="0" tIns="0" rIns="0" bIns="0" rtlCol="0" anchor="ctr"/>
          <a:lstStyle/>
          <a:p>
            <a:pPr indent="0" marL="0">
              <a:buNone/>
            </a:pPr>
            <a:r>
              <a:rPr lang="en-US" sz="1400" dirty="0">
                <a:solidFill>
                  <a:schemeClr val="tx1"/>
                </a:solidFill>
              </a:rPr>
              <a:t>Targets Ubuntu servers over SSH</a:t>
            </a:r>
            <a:endParaRPr lang="en-US" sz="1400" dirty="0"/>
          </a:p>
        </p:txBody>
      </p:sp>
      <p:sp>
        <p:nvSpPr>
          <p:cNvPr id="37" name="Ansible fact 1"/>
          <p:cNvSpPr/>
          <p:nvPr/>
        </p:nvSpPr>
        <p:spPr>
          <a:xfrm>
            <a:off x="4337304" y="4983480"/>
            <a:ext cx="3514344" cy="1097280"/>
          </a:xfrm>
          <a:prstGeom prst="roundRect">
            <a:avLst>
              <a:gd name="adj" fmla="val 10000"/>
            </a:avLst>
          </a:prstGeom>
          <a:solidFill>
            <a:schemeClr val="bg2"/>
          </a:solidFill>
          <a:ln w="12700">
            <a:solidFill>
              <a:schemeClr val="bg2"/>
            </a:solidFill>
            <a:prstDash val="solid"/>
          </a:ln>
        </p:spPr>
      </p:sp>
      <p:sp>
        <p:nvSpPr>
          <p:cNvPr id="38" name="Icon circle"/>
          <p:cNvSpPr/>
          <p:nvPr/>
        </p:nvSpPr>
        <p:spPr>
          <a:xfrm>
            <a:off x="4565904" y="5303520"/>
            <a:ext cx="457200" cy="457200"/>
          </a:xfrm>
          <a:prstGeom prst="ellipse">
            <a:avLst/>
          </a:prstGeom>
          <a:solidFill>
            <a:schemeClr val="accent1"/>
          </a:solidFill>
          <a:ln w="12700">
            <a:solidFill>
              <a:schemeClr val="accent1"/>
            </a:solidFill>
            <a:prstDash val="solid"/>
          </a:ln>
        </p:spPr>
      </p:sp>
      <p:pic>
        <p:nvPicPr>
          <p:cNvPr id="39" name="Icon FaNetworkWired" descr="NetworkWired icon">    </p:cNvPr>
          <p:cNvPicPr>
            <a:picLocks noChangeAspect="1"/>
          </p:cNvPicPr>
          <p:nvPr/>
        </p:nvPicPr>
        <p:blipFill>
          <a:blip r:embed="rId2"/>
          <a:stretch>
            <a:fillRect/>
          </a:stretch>
        </p:blipFill>
        <p:spPr>
          <a:xfrm>
            <a:off x="4680204" y="5417820"/>
            <a:ext cx="228600" cy="228600"/>
          </a:xfrm>
          <a:prstGeom prst="rect">
            <a:avLst/>
          </a:prstGeom>
        </p:spPr>
      </p:pic>
      <p:sp>
        <p:nvSpPr>
          <p:cNvPr id="40" name="Text 36"/>
          <p:cNvSpPr txBox="1"/>
          <p:nvPr/>
        </p:nvSpPr>
        <p:spPr>
          <a:xfrm>
            <a:off x="5251704" y="4983480"/>
            <a:ext cx="2417064" cy="1097280"/>
          </a:xfrm>
          <a:prstGeom prst="rect">
            <a:avLst/>
          </a:prstGeom>
          <a:noFill/>
          <a:ln/>
        </p:spPr>
        <p:txBody>
          <a:bodyPr wrap="square" lIns="0" tIns="0" rIns="0" bIns="0" rtlCol="0" anchor="ctr"/>
          <a:lstStyle/>
          <a:p>
            <a:pPr indent="0" marL="0">
              <a:buNone/>
            </a:pPr>
            <a:r>
              <a:rPr lang="en-US" sz="1400" dirty="0">
                <a:solidFill>
                  <a:schemeClr val="tx1"/>
                </a:solidFill>
              </a:rPr>
              <a:t>Inventory with web and database groups</a:t>
            </a:r>
            <a:endParaRPr lang="en-US" sz="1400" dirty="0"/>
          </a:p>
        </p:txBody>
      </p:sp>
      <p:sp>
        <p:nvSpPr>
          <p:cNvPr id="41" name="Ansible fact 2"/>
          <p:cNvSpPr/>
          <p:nvPr/>
        </p:nvSpPr>
        <p:spPr>
          <a:xfrm>
            <a:off x="8125968" y="4983480"/>
            <a:ext cx="3514344" cy="1097280"/>
          </a:xfrm>
          <a:prstGeom prst="roundRect">
            <a:avLst>
              <a:gd name="adj" fmla="val 10000"/>
            </a:avLst>
          </a:prstGeom>
          <a:solidFill>
            <a:schemeClr val="bg2"/>
          </a:solidFill>
          <a:ln w="12700">
            <a:solidFill>
              <a:schemeClr val="bg2"/>
            </a:solidFill>
            <a:prstDash val="solid"/>
          </a:ln>
        </p:spPr>
      </p:sp>
      <p:sp>
        <p:nvSpPr>
          <p:cNvPr id="42" name="Icon circle"/>
          <p:cNvSpPr/>
          <p:nvPr/>
        </p:nvSpPr>
        <p:spPr>
          <a:xfrm>
            <a:off x="8354568" y="5303520"/>
            <a:ext cx="457200" cy="457200"/>
          </a:xfrm>
          <a:prstGeom prst="ellipse">
            <a:avLst/>
          </a:prstGeom>
          <a:solidFill>
            <a:schemeClr val="accent1"/>
          </a:solidFill>
          <a:ln w="12700">
            <a:solidFill>
              <a:schemeClr val="accent1"/>
            </a:solidFill>
            <a:prstDash val="solid"/>
          </a:ln>
        </p:spPr>
      </p:sp>
      <p:pic>
        <p:nvPicPr>
          <p:cNvPr id="43" name="Icon FaUserCog" descr="UserCog icon">    </p:cNvPr>
          <p:cNvPicPr>
            <a:picLocks noChangeAspect="1"/>
          </p:cNvPicPr>
          <p:nvPr/>
        </p:nvPicPr>
        <p:blipFill>
          <a:blip r:embed="rId3"/>
          <a:stretch>
            <a:fillRect/>
          </a:stretch>
        </p:blipFill>
        <p:spPr>
          <a:xfrm>
            <a:off x="8468868" y="5417820"/>
            <a:ext cx="228600" cy="228600"/>
          </a:xfrm>
          <a:prstGeom prst="rect">
            <a:avLst/>
          </a:prstGeom>
        </p:spPr>
      </p:pic>
      <p:sp>
        <p:nvSpPr>
          <p:cNvPr id="44" name="Text 39"/>
          <p:cNvSpPr txBox="1"/>
          <p:nvPr/>
        </p:nvSpPr>
        <p:spPr>
          <a:xfrm>
            <a:off x="9040368" y="4983480"/>
            <a:ext cx="2417064" cy="1097280"/>
          </a:xfrm>
          <a:prstGeom prst="rect">
            <a:avLst/>
          </a:prstGeom>
          <a:noFill/>
          <a:ln/>
        </p:spPr>
        <p:txBody>
          <a:bodyPr wrap="square" lIns="0" tIns="0" rIns="0" bIns="0" rtlCol="0" anchor="ctr"/>
          <a:lstStyle/>
          <a:p>
            <a:pPr indent="0" marL="0">
              <a:buNone/>
            </a:pPr>
            <a:r>
              <a:rPr lang="en-US" sz="1400" dirty="0">
                <a:solidFill>
                  <a:schemeClr val="tx1"/>
                </a:solidFill>
              </a:rPr>
              <a:t>Variables for app user and app directory</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Evidence: the Ansible inventory</a:t>
            </a:r>
            <a:endParaRPr lang="en-US" sz="3200" dirty="0"/>
          </a:p>
        </p:txBody>
      </p:sp>
      <p:sp>
        <p:nvSpPr>
          <p:cNvPr id="3" name="Frame image3.png"/>
          <p:cNvSpPr/>
          <p:nvPr/>
        </p:nvSpPr>
        <p:spPr>
          <a:xfrm>
            <a:off x="722376" y="1435608"/>
            <a:ext cx="10707624" cy="1514164"/>
          </a:xfrm>
          <a:prstGeom prst="roundRect">
            <a:avLst>
              <a:gd name="adj" fmla="val 3623"/>
            </a:avLst>
          </a:prstGeom>
          <a:solidFill>
            <a:srgbClr val="FFFFFF"/>
          </a:solidFill>
          <a:ln w="12700">
            <a:solidFill>
              <a:srgbClr val="BFDDE0"/>
            </a:solidFill>
            <a:prstDash val="solid"/>
          </a:ln>
        </p:spPr>
      </p:sp>
      <p:pic>
        <p:nvPicPr>
          <p:cNvPr id="4" name="Screenshot image3.png" descr="Terminal showing the Ansible inventory file">    </p:cNvPr>
          <p:cNvPicPr>
            <a:picLocks noChangeAspect="1"/>
          </p:cNvPicPr>
          <p:nvPr/>
        </p:nvPicPr>
        <p:blipFill>
          <a:blip r:embed="rId1"/>
          <a:stretch>
            <a:fillRect/>
          </a:stretch>
        </p:blipFill>
        <p:spPr>
          <a:xfrm>
            <a:off x="795528" y="1508760"/>
            <a:ext cx="10561320" cy="1367860"/>
          </a:xfrm>
          <a:prstGeom prst="rect">
            <a:avLst/>
          </a:prstGeom>
        </p:spPr>
      </p:pic>
      <p:sp>
        <p:nvSpPr>
          <p:cNvPr id="5" name="Inventory fact Two groups"/>
          <p:cNvSpPr/>
          <p:nvPr/>
        </p:nvSpPr>
        <p:spPr>
          <a:xfrm>
            <a:off x="548640" y="3429000"/>
            <a:ext cx="3514344" cy="1645920"/>
          </a:xfrm>
          <a:prstGeom prst="roundRect">
            <a:avLst>
              <a:gd name="adj" fmla="val 6667"/>
            </a:avLst>
          </a:prstGeom>
          <a:solidFill>
            <a:schemeClr val="bg2"/>
          </a:solidFill>
          <a:ln w="12700">
            <a:solidFill>
              <a:schemeClr val="bg2"/>
            </a:solidFill>
            <a:prstDash val="solid"/>
          </a:ln>
        </p:spPr>
      </p:sp>
      <p:sp>
        <p:nvSpPr>
          <p:cNvPr id="6" name="Icon circle"/>
          <p:cNvSpPr/>
          <p:nvPr/>
        </p:nvSpPr>
        <p:spPr>
          <a:xfrm>
            <a:off x="822960" y="3703320"/>
            <a:ext cx="640080" cy="640080"/>
          </a:xfrm>
          <a:prstGeom prst="ellipse">
            <a:avLst/>
          </a:prstGeom>
          <a:solidFill>
            <a:schemeClr val="accent1"/>
          </a:solidFill>
          <a:ln w="12700">
            <a:solidFill>
              <a:schemeClr val="accent1"/>
            </a:solidFill>
            <a:prstDash val="solid"/>
          </a:ln>
        </p:spPr>
      </p:sp>
      <p:pic>
        <p:nvPicPr>
          <p:cNvPr id="7" name="Icon FaServer" descr="Server icon">    </p:cNvPr>
          <p:cNvPicPr>
            <a:picLocks noChangeAspect="1"/>
          </p:cNvPicPr>
          <p:nvPr/>
        </p:nvPicPr>
        <p:blipFill>
          <a:blip r:embed="rId2"/>
          <a:stretch>
            <a:fillRect/>
          </a:stretch>
        </p:blipFill>
        <p:spPr>
          <a:xfrm>
            <a:off x="982980" y="3863340"/>
            <a:ext cx="320040" cy="320040"/>
          </a:xfrm>
          <a:prstGeom prst="rect">
            <a:avLst/>
          </a:prstGeom>
        </p:spPr>
      </p:pic>
      <p:sp>
        <p:nvSpPr>
          <p:cNvPr id="8" name="Text 4"/>
          <p:cNvSpPr txBox="1"/>
          <p:nvPr/>
        </p:nvSpPr>
        <p:spPr>
          <a:xfrm>
            <a:off x="1645920" y="3703320"/>
            <a:ext cx="2234184" cy="640080"/>
          </a:xfrm>
          <a:prstGeom prst="rect">
            <a:avLst/>
          </a:prstGeom>
          <a:noFill/>
          <a:ln/>
        </p:spPr>
        <p:txBody>
          <a:bodyPr wrap="square" lIns="0" tIns="0" rIns="0" bIns="0" rtlCol="0" anchor="ctr"/>
          <a:lstStyle/>
          <a:p>
            <a:pPr indent="0" marL="0">
              <a:buNone/>
            </a:pPr>
            <a:r>
              <a:rPr lang="en-US" sz="1800" b="1" dirty="0">
                <a:solidFill>
                  <a:schemeClr val="tx1"/>
                </a:solidFill>
              </a:rPr>
              <a:t>Two groups</a:t>
            </a:r>
            <a:endParaRPr lang="en-US" sz="1800" dirty="0"/>
          </a:p>
        </p:txBody>
      </p:sp>
      <p:sp>
        <p:nvSpPr>
          <p:cNvPr id="9" name="Text 5"/>
          <p:cNvSpPr txBox="1"/>
          <p:nvPr/>
        </p:nvSpPr>
        <p:spPr>
          <a:xfrm>
            <a:off x="822960" y="4526280"/>
            <a:ext cx="2965704" cy="457200"/>
          </a:xfrm>
          <a:prstGeom prst="rect">
            <a:avLst/>
          </a:prstGeom>
          <a:noFill/>
          <a:ln/>
        </p:spPr>
        <p:txBody>
          <a:bodyPr wrap="square" lIns="0" tIns="0" rIns="0" bIns="0" rtlCol="0" anchor="t"/>
          <a:lstStyle/>
          <a:p>
            <a:pPr indent="0" marL="0">
              <a:buNone/>
            </a:pPr>
            <a:r>
              <a:rPr lang="en-US" sz="1500" dirty="0">
                <a:solidFill>
                  <a:schemeClr val="tx1"/>
                </a:solidFill>
              </a:rPr>
              <a:t>webservers and dbservers</a:t>
            </a:r>
            <a:endParaRPr lang="en-US" sz="1500" dirty="0"/>
          </a:p>
        </p:txBody>
      </p:sp>
      <p:sp>
        <p:nvSpPr>
          <p:cNvPr id="10" name="Inventory fact Two hosts"/>
          <p:cNvSpPr/>
          <p:nvPr/>
        </p:nvSpPr>
        <p:spPr>
          <a:xfrm>
            <a:off x="4337304" y="3429000"/>
            <a:ext cx="3514344" cy="1645920"/>
          </a:xfrm>
          <a:prstGeom prst="roundRect">
            <a:avLst>
              <a:gd name="adj" fmla="val 6667"/>
            </a:avLst>
          </a:prstGeom>
          <a:solidFill>
            <a:schemeClr val="bg2"/>
          </a:solidFill>
          <a:ln w="12700">
            <a:solidFill>
              <a:schemeClr val="bg2"/>
            </a:solidFill>
            <a:prstDash val="solid"/>
          </a:ln>
        </p:spPr>
      </p:sp>
      <p:sp>
        <p:nvSpPr>
          <p:cNvPr id="11" name="Icon circle"/>
          <p:cNvSpPr/>
          <p:nvPr/>
        </p:nvSpPr>
        <p:spPr>
          <a:xfrm>
            <a:off x="4611624" y="3703320"/>
            <a:ext cx="640080" cy="640080"/>
          </a:xfrm>
          <a:prstGeom prst="ellipse">
            <a:avLst/>
          </a:prstGeom>
          <a:solidFill>
            <a:schemeClr val="accent1"/>
          </a:solidFill>
          <a:ln w="12700">
            <a:solidFill>
              <a:schemeClr val="accent1"/>
            </a:solidFill>
            <a:prstDash val="solid"/>
          </a:ln>
        </p:spPr>
      </p:sp>
      <p:pic>
        <p:nvPicPr>
          <p:cNvPr id="12" name="Icon FaNetworkWired" descr="NetworkWired icon">    </p:cNvPr>
          <p:cNvPicPr>
            <a:picLocks noChangeAspect="1"/>
          </p:cNvPicPr>
          <p:nvPr/>
        </p:nvPicPr>
        <p:blipFill>
          <a:blip r:embed="rId3"/>
          <a:stretch>
            <a:fillRect/>
          </a:stretch>
        </p:blipFill>
        <p:spPr>
          <a:xfrm>
            <a:off x="4771644" y="3863340"/>
            <a:ext cx="320040" cy="320040"/>
          </a:xfrm>
          <a:prstGeom prst="rect">
            <a:avLst/>
          </a:prstGeom>
        </p:spPr>
      </p:pic>
      <p:sp>
        <p:nvSpPr>
          <p:cNvPr id="13" name="Text 8"/>
          <p:cNvSpPr txBox="1"/>
          <p:nvPr/>
        </p:nvSpPr>
        <p:spPr>
          <a:xfrm>
            <a:off x="5434584" y="3703320"/>
            <a:ext cx="2234184" cy="640080"/>
          </a:xfrm>
          <a:prstGeom prst="rect">
            <a:avLst/>
          </a:prstGeom>
          <a:noFill/>
          <a:ln/>
        </p:spPr>
        <p:txBody>
          <a:bodyPr wrap="square" lIns="0" tIns="0" rIns="0" bIns="0" rtlCol="0" anchor="ctr"/>
          <a:lstStyle/>
          <a:p>
            <a:pPr indent="0" marL="0">
              <a:buNone/>
            </a:pPr>
            <a:r>
              <a:rPr lang="en-US" sz="1800" b="1" dirty="0">
                <a:solidFill>
                  <a:schemeClr val="tx1"/>
                </a:solidFill>
              </a:rPr>
              <a:t>Two hosts</a:t>
            </a:r>
            <a:endParaRPr lang="en-US" sz="1800" dirty="0"/>
          </a:p>
        </p:txBody>
      </p:sp>
      <p:sp>
        <p:nvSpPr>
          <p:cNvPr id="14" name="Text 9"/>
          <p:cNvSpPr txBox="1"/>
          <p:nvPr/>
        </p:nvSpPr>
        <p:spPr>
          <a:xfrm>
            <a:off x="4611624" y="4526280"/>
            <a:ext cx="2965704" cy="457200"/>
          </a:xfrm>
          <a:prstGeom prst="rect">
            <a:avLst/>
          </a:prstGeom>
          <a:noFill/>
          <a:ln/>
        </p:spPr>
        <p:txBody>
          <a:bodyPr wrap="square" lIns="0" tIns="0" rIns="0" bIns="0" rtlCol="0" anchor="t"/>
          <a:lstStyle/>
          <a:p>
            <a:pPr indent="0" marL="0">
              <a:buNone/>
            </a:pPr>
            <a:r>
              <a:rPr lang="en-US" sz="1500" dirty="0">
                <a:solidFill>
                  <a:schemeClr val="tx1"/>
                </a:solidFill>
              </a:rPr>
              <a:t>app server one and db server one</a:t>
            </a:r>
            <a:endParaRPr lang="en-US" sz="1500" dirty="0"/>
          </a:p>
        </p:txBody>
      </p:sp>
      <p:sp>
        <p:nvSpPr>
          <p:cNvPr id="15" name="Inventory fact SSH access"/>
          <p:cNvSpPr/>
          <p:nvPr/>
        </p:nvSpPr>
        <p:spPr>
          <a:xfrm>
            <a:off x="8125968" y="3429000"/>
            <a:ext cx="3514344" cy="1645920"/>
          </a:xfrm>
          <a:prstGeom prst="roundRect">
            <a:avLst>
              <a:gd name="adj" fmla="val 6667"/>
            </a:avLst>
          </a:prstGeom>
          <a:solidFill>
            <a:schemeClr val="bg2"/>
          </a:solidFill>
          <a:ln w="12700">
            <a:solidFill>
              <a:schemeClr val="bg2"/>
            </a:solidFill>
            <a:prstDash val="solid"/>
          </a:ln>
        </p:spPr>
      </p:sp>
      <p:sp>
        <p:nvSpPr>
          <p:cNvPr id="16" name="Icon circle"/>
          <p:cNvSpPr/>
          <p:nvPr/>
        </p:nvSpPr>
        <p:spPr>
          <a:xfrm>
            <a:off x="8400288" y="3703320"/>
            <a:ext cx="640080" cy="640080"/>
          </a:xfrm>
          <a:prstGeom prst="ellipse">
            <a:avLst/>
          </a:prstGeom>
          <a:solidFill>
            <a:schemeClr val="accent1"/>
          </a:solidFill>
          <a:ln w="12700">
            <a:solidFill>
              <a:schemeClr val="accent1"/>
            </a:solidFill>
            <a:prstDash val="solid"/>
          </a:ln>
        </p:spPr>
      </p:sp>
      <p:pic>
        <p:nvPicPr>
          <p:cNvPr id="17" name="Icon FaKey" descr="Key icon">    </p:cNvPr>
          <p:cNvPicPr>
            <a:picLocks noChangeAspect="1"/>
          </p:cNvPicPr>
          <p:nvPr/>
        </p:nvPicPr>
        <p:blipFill>
          <a:blip r:embed="rId4"/>
          <a:stretch>
            <a:fillRect/>
          </a:stretch>
        </p:blipFill>
        <p:spPr>
          <a:xfrm>
            <a:off x="8560308" y="3863340"/>
            <a:ext cx="320040" cy="320040"/>
          </a:xfrm>
          <a:prstGeom prst="rect">
            <a:avLst/>
          </a:prstGeom>
        </p:spPr>
      </p:pic>
      <p:sp>
        <p:nvSpPr>
          <p:cNvPr id="18" name="Text 12"/>
          <p:cNvSpPr txBox="1"/>
          <p:nvPr/>
        </p:nvSpPr>
        <p:spPr>
          <a:xfrm>
            <a:off x="9223248" y="3703320"/>
            <a:ext cx="2234184" cy="640080"/>
          </a:xfrm>
          <a:prstGeom prst="rect">
            <a:avLst/>
          </a:prstGeom>
          <a:noFill/>
          <a:ln/>
        </p:spPr>
        <p:txBody>
          <a:bodyPr wrap="square" lIns="0" tIns="0" rIns="0" bIns="0" rtlCol="0" anchor="ctr"/>
          <a:lstStyle/>
          <a:p>
            <a:pPr indent="0" marL="0">
              <a:buNone/>
            </a:pPr>
            <a:r>
              <a:rPr lang="en-US" sz="1800" b="1" dirty="0">
                <a:solidFill>
                  <a:schemeClr val="tx1"/>
                </a:solidFill>
              </a:rPr>
              <a:t>SSH access</a:t>
            </a:r>
            <a:endParaRPr lang="en-US" sz="1800" dirty="0"/>
          </a:p>
        </p:txBody>
      </p:sp>
      <p:sp>
        <p:nvSpPr>
          <p:cNvPr id="19" name="Text 13"/>
          <p:cNvSpPr txBox="1"/>
          <p:nvPr/>
        </p:nvSpPr>
        <p:spPr>
          <a:xfrm>
            <a:off x="8400288" y="4526280"/>
            <a:ext cx="2965704" cy="457200"/>
          </a:xfrm>
          <a:prstGeom prst="rect">
            <a:avLst/>
          </a:prstGeom>
          <a:noFill/>
          <a:ln/>
        </p:spPr>
        <p:txBody>
          <a:bodyPr wrap="square" lIns="0" tIns="0" rIns="0" bIns="0" rtlCol="0" anchor="t"/>
          <a:lstStyle/>
          <a:p>
            <a:pPr indent="0" marL="0">
              <a:buNone/>
            </a:pPr>
            <a:r>
              <a:rPr lang="en-US" sz="1500" dirty="0">
                <a:solidFill>
                  <a:schemeClr val="tx1"/>
                </a:solidFill>
              </a:rPr>
              <a:t>ubuntu user with a private key file</a:t>
            </a:r>
            <a:endParaRPr lang="en-US" sz="1500" dirty="0"/>
          </a:p>
        </p:txBody>
      </p:sp>
      <p:sp>
        <p:nvSpPr>
          <p:cNvPr id="20" name="Inventory note"/>
          <p:cNvSpPr/>
          <p:nvPr/>
        </p:nvSpPr>
        <p:spPr>
          <a:xfrm>
            <a:off x="548640" y="5349240"/>
            <a:ext cx="11091672" cy="777240"/>
          </a:xfrm>
          <a:prstGeom prst="roundRect">
            <a:avLst>
              <a:gd name="adj" fmla="val 14118"/>
            </a:avLst>
          </a:prstGeom>
          <a:solidFill>
            <a:schemeClr val="accent5"/>
          </a:solidFill>
          <a:ln w="12700">
            <a:solidFill>
              <a:schemeClr val="accent5"/>
            </a:solidFill>
            <a:prstDash val="solid"/>
          </a:ln>
        </p:spPr>
      </p:sp>
      <p:sp>
        <p:nvSpPr>
          <p:cNvPr id="21" name="Text 15"/>
          <p:cNvSpPr txBox="1"/>
          <p:nvPr/>
        </p:nvSpPr>
        <p:spPr>
          <a:xfrm>
            <a:off x="914400" y="5349240"/>
            <a:ext cx="10360152" cy="777240"/>
          </a:xfrm>
          <a:prstGeom prst="rect">
            <a:avLst/>
          </a:prstGeom>
          <a:noFill/>
          <a:ln/>
        </p:spPr>
        <p:txBody>
          <a:bodyPr wrap="square" lIns="0" tIns="0" rIns="0" bIns="0" rtlCol="0" anchor="ctr"/>
          <a:lstStyle/>
          <a:p>
            <a:pPr indent="0" marL="0">
              <a:buNone/>
            </a:pPr>
            <a:r>
              <a:rPr lang="en-US" sz="1500" dirty="0">
                <a:solidFill>
                  <a:schemeClr val="tx1"/>
                </a:solidFill>
              </a:rPr>
              <a:t>The host addresses are private network placeholders. Replace them with real server addresses before a live run.</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Evidence: the Ansible playbook</a:t>
            </a:r>
            <a:endParaRPr lang="en-US" sz="3200" dirty="0"/>
          </a:p>
        </p:txBody>
      </p:sp>
      <p:sp>
        <p:nvSpPr>
          <p:cNvPr id="3" name="Frame image5.png"/>
          <p:cNvSpPr/>
          <p:nvPr/>
        </p:nvSpPr>
        <p:spPr>
          <a:xfrm>
            <a:off x="841248" y="1389888"/>
            <a:ext cx="5815584" cy="4393876"/>
          </a:xfrm>
          <a:prstGeom prst="roundRect">
            <a:avLst>
              <a:gd name="adj" fmla="val 1249"/>
            </a:avLst>
          </a:prstGeom>
          <a:solidFill>
            <a:srgbClr val="FFFFFF"/>
          </a:solidFill>
          <a:ln w="12700">
            <a:solidFill>
              <a:srgbClr val="BFDDE0"/>
            </a:solidFill>
            <a:prstDash val="solid"/>
          </a:ln>
        </p:spPr>
      </p:sp>
      <p:pic>
        <p:nvPicPr>
          <p:cNvPr id="4" name="Screenshot image5.png" descr="Playbook source, first tasks">    </p:cNvPr>
          <p:cNvPicPr>
            <a:picLocks noChangeAspect="1"/>
          </p:cNvPicPr>
          <p:nvPr/>
        </p:nvPicPr>
        <p:blipFill>
          <a:blip r:embed="rId1"/>
          <a:stretch>
            <a:fillRect/>
          </a:stretch>
        </p:blipFill>
        <p:spPr>
          <a:xfrm>
            <a:off x="914400" y="1463040"/>
            <a:ext cx="5669280" cy="4247572"/>
          </a:xfrm>
          <a:prstGeom prst="rect">
            <a:avLst/>
          </a:prstGeom>
        </p:spPr>
      </p:pic>
      <p:sp>
        <p:nvSpPr>
          <p:cNvPr id="5" name="Frame image6.png"/>
          <p:cNvSpPr/>
          <p:nvPr/>
        </p:nvSpPr>
        <p:spPr>
          <a:xfrm>
            <a:off x="6967728" y="1389888"/>
            <a:ext cx="4261104" cy="3363133"/>
          </a:xfrm>
          <a:prstGeom prst="roundRect">
            <a:avLst>
              <a:gd name="adj" fmla="val 1631"/>
            </a:avLst>
          </a:prstGeom>
          <a:solidFill>
            <a:srgbClr val="FFFFFF"/>
          </a:solidFill>
          <a:ln w="12700">
            <a:solidFill>
              <a:srgbClr val="BFDDE0"/>
            </a:solidFill>
            <a:prstDash val="solid"/>
          </a:ln>
        </p:spPr>
      </p:sp>
      <p:pic>
        <p:nvPicPr>
          <p:cNvPr id="6" name="Screenshot image6.png" descr="Playbook source, middle tasks">    </p:cNvPr>
          <p:cNvPicPr>
            <a:picLocks noChangeAspect="1"/>
          </p:cNvPicPr>
          <p:nvPr/>
        </p:nvPicPr>
        <p:blipFill>
          <a:blip r:embed="rId2"/>
          <a:stretch>
            <a:fillRect/>
          </a:stretch>
        </p:blipFill>
        <p:spPr>
          <a:xfrm>
            <a:off x="7040880" y="1463040"/>
            <a:ext cx="4114800" cy="3216829"/>
          </a:xfrm>
          <a:prstGeom prst="rect">
            <a:avLst/>
          </a:prstGeom>
        </p:spPr>
      </p:pic>
      <p:sp>
        <p:nvSpPr>
          <p:cNvPr id="7" name="Frame image7.png"/>
          <p:cNvSpPr/>
          <p:nvPr/>
        </p:nvSpPr>
        <p:spPr>
          <a:xfrm>
            <a:off x="6967728" y="4773168"/>
            <a:ext cx="4261104" cy="1325502"/>
          </a:xfrm>
          <a:prstGeom prst="roundRect">
            <a:avLst>
              <a:gd name="adj" fmla="val 4139"/>
            </a:avLst>
          </a:prstGeom>
          <a:solidFill>
            <a:srgbClr val="FFFFFF"/>
          </a:solidFill>
          <a:ln w="12700">
            <a:solidFill>
              <a:srgbClr val="BFDDE0"/>
            </a:solidFill>
            <a:prstDash val="solid"/>
          </a:ln>
        </p:spPr>
      </p:sp>
      <p:pic>
        <p:nvPicPr>
          <p:cNvPr id="8" name="Screenshot image7.png" descr="Playbook source, final task">    </p:cNvPr>
          <p:cNvPicPr>
            <a:picLocks noChangeAspect="1"/>
          </p:cNvPicPr>
          <p:nvPr/>
        </p:nvPicPr>
        <p:blipFill>
          <a:blip r:embed="rId3"/>
          <a:stretch>
            <a:fillRect/>
          </a:stretch>
        </p:blipFill>
        <p:spPr>
          <a:xfrm>
            <a:off x="7040880" y="4846320"/>
            <a:ext cx="4114800" cy="1179198"/>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Testing and code quality today</a:t>
            </a:r>
            <a:endParaRPr lang="en-US" sz="3200" dirty="0"/>
          </a:p>
        </p:txBody>
      </p:sp>
      <p:graphicFrame>
        <p:nvGraphicFramePr>
          <p:cNvPr id="17" name="Testing table"/>
          <p:cNvGraphicFramePr>
            <a:graphicFrameLocks noGrp="1"/>
          </p:cNvGraphicFramePr>
          <p:nvPr>
            <p:extLst>
              <p:ext uri="{D42A27DB-BD31-4B8C-83A1-F6EECF244321}">
                <p14:modId xmlns:p14="http://schemas.microsoft.com/office/powerpoint/2010/main" val="1579011935"/>
              </p:ext>
            </p:extLst>
          </p:nvPr>
        </p:nvGraphicFramePr>
        <p:xfrm>
          <a:off x="548640" y="1463040"/>
          <a:ext cx="7223760" cy="914400"/>
        </p:xfrm>
        <a:graphic>
          <a:graphicData uri="http://schemas.openxmlformats.org/drawingml/2006/table">
            <a:tbl>
              <a:tblPr/>
              <a:tblGrid>
                <a:gridCol w="1645920"/>
                <a:gridCol w="2743200"/>
                <a:gridCol w="2834640"/>
              </a:tblGrid>
              <a:tr h="713232">
                <a:tc>
                  <a:txBody>
                    <a:bodyPr/>
                    <a:lstStyle/>
                    <a:p>
                      <a:pPr indent="0" marL="0">
                        <a:buNone/>
                      </a:pPr>
                      <a:r>
                        <a:rPr lang="en-US" sz="1500" b="1" dirty="0">
                          <a:solidFill>
                            <a:srgbClr val="FFFFFF"/>
                          </a:solidFill>
                        </a:rPr>
                        <a:t>Layer</a:t>
                      </a:r>
                      <a:endParaRPr lang="en-US" sz="15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1E8C93"/>
                    </a:solidFill>
                  </a:tcPr>
                </a:tc>
                <a:tc>
                  <a:txBody>
                    <a:bodyPr/>
                    <a:lstStyle/>
                    <a:p>
                      <a:pPr indent="0" marL="0">
                        <a:buNone/>
                      </a:pPr>
                      <a:r>
                        <a:rPr lang="en-US" sz="1500" b="1" dirty="0">
                          <a:solidFill>
                            <a:srgbClr val="FFFFFF"/>
                          </a:solidFill>
                        </a:rPr>
                        <a:t>Tool</a:t>
                      </a:r>
                      <a:endParaRPr lang="en-US" sz="15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1E8C93"/>
                    </a:solidFill>
                  </a:tcPr>
                </a:tc>
                <a:tc>
                  <a:txBody>
                    <a:bodyPr/>
                    <a:lstStyle/>
                    <a:p>
                      <a:pPr indent="0" marL="0">
                        <a:buNone/>
                      </a:pPr>
                      <a:r>
                        <a:rPr lang="en-US" sz="1500" b="1" dirty="0">
                          <a:solidFill>
                            <a:srgbClr val="FFFFFF"/>
                          </a:solidFill>
                        </a:rPr>
                        <a:t>Status</a:t>
                      </a:r>
                      <a:endParaRPr lang="en-US" sz="15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1E8C93"/>
                    </a:solidFill>
                  </a:tcPr>
                </a:tc>
              </a:tr>
              <a:tr h="713232">
                <a:tc>
                  <a:txBody>
                    <a:bodyPr/>
                    <a:lstStyle/>
                    <a:p>
                      <a:pPr indent="0" marL="0">
                        <a:buNone/>
                      </a:pPr>
                      <a:r>
                        <a:rPr lang="en-US" sz="1400" dirty="0">
                          <a:solidFill>
                            <a:srgbClr val="2F4254"/>
                          </a:solidFill>
                        </a:rPr>
                        <a:t>Frontend</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Jest and React Testing Library</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1 starter test, needs fixing</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r>
              <a:tr h="713232">
                <a:tc>
                  <a:txBody>
                    <a:bodyPr/>
                    <a:lstStyle/>
                    <a:p>
                      <a:pPr indent="0" marL="0">
                        <a:buNone/>
                      </a:pPr>
                      <a:r>
                        <a:rPr lang="en-US" sz="1400" dirty="0">
                          <a:solidFill>
                            <a:srgbClr val="2F4254"/>
                          </a:solidFill>
                        </a:rPr>
                        <a:t>Backend</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c>
                  <a:txBody>
                    <a:bodyPr/>
                    <a:lstStyle/>
                    <a:p>
                      <a:pPr indent="0" marL="0">
                        <a:buNone/>
                      </a:pPr>
                      <a:r>
                        <a:rPr lang="en-US" sz="1400" dirty="0">
                          <a:solidFill>
                            <a:srgbClr val="2F4254"/>
                          </a:solidFill>
                        </a:rPr>
                        <a:t>JUnit Jupiter</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c>
                  <a:txBody>
                    <a:bodyPr/>
                    <a:lstStyle/>
                    <a:p>
                      <a:pPr indent="0" marL="0">
                        <a:buNone/>
                      </a:pPr>
                      <a:r>
                        <a:rPr lang="en-US" sz="1400" dirty="0">
                          <a:solidFill>
                            <a:srgbClr val="2F4254"/>
                          </a:solidFill>
                        </a:rPr>
                        <a:t>No tests yet, build skips them</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2F4254"/>
                          </a:solidFill>
                        </a:rPr>
                        <a:t>ML service</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None</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Not automated</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r>
              <a:tr h="713232">
                <a:tc>
                  <a:txBody>
                    <a:bodyPr/>
                    <a:lstStyle/>
                    <a:p>
                      <a:pPr indent="0" marL="0">
                        <a:buNone/>
                      </a:pPr>
                      <a:r>
                        <a:rPr lang="en-US" sz="1400" dirty="0">
                          <a:solidFill>
                            <a:srgbClr val="2F4254"/>
                          </a:solidFill>
                        </a:rPr>
                        <a:t>API smoke test</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c>
                  <a:txBody>
                    <a:bodyPr/>
                    <a:lstStyle/>
                    <a:p>
                      <a:pPr indent="0" marL="0">
                        <a:buNone/>
                      </a:pPr>
                      <a:r>
                        <a:rPr lang="en-US" sz="1400" dirty="0">
                          <a:solidFill>
                            <a:srgbClr val="2F4254"/>
                          </a:solidFill>
                        </a:rPr>
                        <a:t>PowerShell script</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c>
                  <a:txBody>
                    <a:bodyPr/>
                    <a:lstStyle/>
                    <a:p>
                      <a:pPr indent="0" marL="0">
                        <a:buNone/>
                      </a:pPr>
                      <a:r>
                        <a:rPr lang="en-US" sz="1400" dirty="0">
                          <a:solidFill>
                            <a:srgbClr val="2F4254"/>
                          </a:solidFill>
                        </a:rPr>
                        <a:t>Manual, not in CI</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2F4254"/>
                          </a:solidFill>
                        </a:rPr>
                        <a:t>Linting</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ESLint config</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c>
                  <a:txBody>
                    <a:bodyPr/>
                    <a:lstStyle/>
                    <a:p>
                      <a:pPr indent="0" marL="0">
                        <a:buNone/>
                      </a:pPr>
                      <a:r>
                        <a:rPr lang="en-US" sz="1400" dirty="0">
                          <a:solidFill>
                            <a:srgbClr val="2F4254"/>
                          </a:solidFill>
                        </a:rPr>
                        <a:t>Not enforced in CI</a:t>
                      </a:r>
                      <a:endParaRPr lang="en-US" sz="1400" dirty="0"/>
                    </a:p>
                  </a:txBody>
                  <a:tcPr marL="109728" marR="109728" marT="0" marB="0" anchor="ctr">
                    <a:lnL w="12700" cap="flat" cmpd="sng" algn="ctr">
                      <a:solidFill>
                        <a:srgbClr val="D5E6E8"/>
                      </a:solidFill>
                      <a:prstDash val="solid"/>
                      <a:round/>
                      <a:headEnd type="none" w="med" len="med"/>
                      <a:tailEnd type="none" w="med" len="med"/>
                    </a:lnL>
                    <a:lnR w="12700" cap="flat" cmpd="sng" algn="ctr">
                      <a:solidFill>
                        <a:srgbClr val="D5E6E8"/>
                      </a:solidFill>
                      <a:prstDash val="solid"/>
                      <a:round/>
                      <a:headEnd type="none" w="med" len="med"/>
                      <a:tailEnd type="none" w="med" len="med"/>
                    </a:lnR>
                    <a:lnT w="12700" cap="flat" cmpd="sng" algn="ctr">
                      <a:solidFill>
                        <a:srgbClr val="D5E6E8"/>
                      </a:solidFill>
                      <a:prstDash val="solid"/>
                      <a:round/>
                      <a:headEnd type="none" w="med" len="med"/>
                      <a:tailEnd type="none" w="med" len="med"/>
                    </a:lnT>
                    <a:lnB w="12700" cap="flat" cmpd="sng" algn="ctr">
                      <a:solidFill>
                        <a:srgbClr val="D5E6E8"/>
                      </a:solidFill>
                      <a:prstDash val="solid"/>
                      <a:round/>
                      <a:headEnd type="none" w="med" len="med"/>
                      <a:tailEnd type="none" w="med" len="med"/>
                    </a:lnB>
                    <a:solidFill>
                      <a:srgbClr val="EAF6F7"/>
                    </a:solidFill>
                  </a:tcPr>
                </a:tc>
              </a:tr>
            </a:tbl>
          </a:graphicData>
        </a:graphic>
      </p:graphicFrame>
      <p:sp>
        <p:nvSpPr>
          <p:cNvPr id="4" name="Next steps card"/>
          <p:cNvSpPr/>
          <p:nvPr/>
        </p:nvSpPr>
        <p:spPr>
          <a:xfrm>
            <a:off x="8046720" y="1463040"/>
            <a:ext cx="3593592" cy="4279392"/>
          </a:xfrm>
          <a:prstGeom prst="roundRect">
            <a:avLst>
              <a:gd name="adj" fmla="val 3053"/>
            </a:avLst>
          </a:prstGeom>
          <a:solidFill>
            <a:schemeClr val="accent4"/>
          </a:solidFill>
          <a:ln w="12700">
            <a:solidFill>
              <a:schemeClr val="accent4"/>
            </a:solidFill>
            <a:prstDash val="solid"/>
          </a:ln>
        </p:spPr>
      </p:sp>
      <p:sp>
        <p:nvSpPr>
          <p:cNvPr id="5" name="Icon circle"/>
          <p:cNvSpPr/>
          <p:nvPr/>
        </p:nvSpPr>
        <p:spPr>
          <a:xfrm>
            <a:off x="8321040" y="1737360"/>
            <a:ext cx="640080" cy="640080"/>
          </a:xfrm>
          <a:prstGeom prst="ellipse">
            <a:avLst/>
          </a:prstGeom>
          <a:solidFill>
            <a:schemeClr val="accent2"/>
          </a:solidFill>
          <a:ln w="12700">
            <a:solidFill>
              <a:schemeClr val="accent2"/>
            </a:solidFill>
            <a:prstDash val="solid"/>
          </a:ln>
        </p:spPr>
      </p:sp>
      <p:pic>
        <p:nvPicPr>
          <p:cNvPr id="6" name="Icon FaBug" descr="Bug icon">    </p:cNvPr>
          <p:cNvPicPr>
            <a:picLocks noChangeAspect="1"/>
          </p:cNvPicPr>
          <p:nvPr/>
        </p:nvPicPr>
        <p:blipFill>
          <a:blip r:embed="rId1"/>
          <a:stretch>
            <a:fillRect/>
          </a:stretch>
        </p:blipFill>
        <p:spPr>
          <a:xfrm>
            <a:off x="8481060" y="1897380"/>
            <a:ext cx="320040" cy="320040"/>
          </a:xfrm>
          <a:prstGeom prst="rect">
            <a:avLst/>
          </a:prstGeom>
        </p:spPr>
      </p:pic>
      <p:sp>
        <p:nvSpPr>
          <p:cNvPr id="7" name="Text 3"/>
          <p:cNvSpPr txBox="1"/>
          <p:nvPr/>
        </p:nvSpPr>
        <p:spPr>
          <a:xfrm>
            <a:off x="9144000" y="1783080"/>
            <a:ext cx="2377440" cy="548640"/>
          </a:xfrm>
          <a:prstGeom prst="rect">
            <a:avLst/>
          </a:prstGeom>
          <a:noFill/>
          <a:ln/>
        </p:spPr>
        <p:txBody>
          <a:bodyPr wrap="square" lIns="0" tIns="0" rIns="0" bIns="0" rtlCol="0" anchor="ctr"/>
          <a:lstStyle/>
          <a:p>
            <a:pPr indent="0" marL="0">
              <a:buNone/>
            </a:pPr>
            <a:r>
              <a:rPr lang="en-US" sz="2000" b="1" dirty="0">
                <a:solidFill>
                  <a:schemeClr val="tx1"/>
                </a:solidFill>
              </a:rPr>
              <a:t>What we add next</a:t>
            </a:r>
            <a:endParaRPr lang="en-US" sz="2000" dirty="0"/>
          </a:p>
        </p:txBody>
      </p:sp>
      <p:sp>
        <p:nvSpPr>
          <p:cNvPr id="8" name="Text 4"/>
          <p:cNvSpPr txBox="1"/>
          <p:nvPr/>
        </p:nvSpPr>
        <p:spPr>
          <a:xfrm>
            <a:off x="8321040" y="2651760"/>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Replace the starter test with real component tests</a:t>
            </a:r>
            <a:endParaRPr lang="en-US" sz="1400" dirty="0"/>
          </a:p>
          <a:p>
            <a:pPr marL="342900" indent="-342900">
              <a:spcAft>
                <a:spcPts val="800"/>
              </a:spcAft>
              <a:buSzPct val="100000"/>
              <a:buChar char="•"/>
            </a:pPr>
            <a:r>
              <a:rPr lang="en-US" sz="1400" dirty="0">
                <a:solidFill>
                  <a:schemeClr val="tx1"/>
                </a:solidFill>
              </a:rPr>
              <a:t>Write JUnit tests and run them in CI</a:t>
            </a:r>
            <a:endParaRPr lang="en-US" sz="1400" dirty="0"/>
          </a:p>
          <a:p>
            <a:pPr marL="342900" indent="-342900">
              <a:spcAft>
                <a:spcPts val="800"/>
              </a:spcAft>
              <a:buSzPct val="100000"/>
              <a:buChar char="•"/>
            </a:pPr>
            <a:r>
              <a:rPr lang="en-US" sz="1400" dirty="0">
                <a:solidFill>
                  <a:schemeClr val="tx1"/>
                </a:solidFill>
              </a:rPr>
              <a:t>Add lint, dependency and image scans</a:t>
            </a:r>
            <a:endParaRPr lang="en-US" sz="1400" dirty="0"/>
          </a:p>
          <a:p>
            <a:pPr marL="342900" indent="-342900">
              <a:spcAft>
                <a:spcPts val="800"/>
              </a:spcAft>
              <a:buSzPct val="100000"/>
              <a:buChar char="•"/>
            </a:pPr>
            <a:r>
              <a:rPr lang="en-US" sz="1400" dirty="0">
                <a:solidFill>
                  <a:schemeClr val="tx1"/>
                </a:solidFill>
              </a:rPr>
              <a:t>Add tests for the ML service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Security: strengths and known gaps</a:t>
            </a:r>
            <a:endParaRPr lang="en-US" sz="3200" dirty="0"/>
          </a:p>
        </p:txBody>
      </p:sp>
      <p:sp>
        <p:nvSpPr>
          <p:cNvPr id="3" name="Column Strengths"/>
          <p:cNvSpPr/>
          <p:nvPr/>
        </p:nvSpPr>
        <p:spPr>
          <a:xfrm>
            <a:off x="548640" y="1417320"/>
            <a:ext cx="5394960" cy="4754880"/>
          </a:xfrm>
          <a:prstGeom prst="roundRect">
            <a:avLst>
              <a:gd name="adj" fmla="val 2308"/>
            </a:avLst>
          </a:prstGeom>
          <a:solidFill>
            <a:schemeClr val="bg2"/>
          </a:solidFill>
          <a:ln w="12700">
            <a:solidFill>
              <a:schemeClr val="bg2"/>
            </a:solidFill>
            <a:prstDash val="solid"/>
          </a:ln>
        </p:spPr>
      </p:sp>
      <p:sp>
        <p:nvSpPr>
          <p:cNvPr id="4" name="Text 2"/>
          <p:cNvSpPr txBox="1"/>
          <p:nvPr/>
        </p:nvSpPr>
        <p:spPr>
          <a:xfrm>
            <a:off x="868680" y="1645920"/>
            <a:ext cx="3657600" cy="457200"/>
          </a:xfrm>
          <a:prstGeom prst="rect">
            <a:avLst/>
          </a:prstGeom>
          <a:noFill/>
          <a:ln/>
        </p:spPr>
        <p:txBody>
          <a:bodyPr wrap="square" lIns="0" tIns="0" rIns="0" bIns="0" rtlCol="0" anchor="t"/>
          <a:lstStyle/>
          <a:p>
            <a:pPr indent="0" marL="0">
              <a:buNone/>
            </a:pPr>
            <a:r>
              <a:rPr lang="en-US" sz="2400" b="1" dirty="0">
                <a:solidFill>
                  <a:schemeClr val="tx1"/>
                </a:solidFill>
              </a:rPr>
              <a:t>Strengths</a:t>
            </a:r>
            <a:endParaRPr lang="en-US" sz="2400" dirty="0"/>
          </a:p>
        </p:txBody>
      </p:sp>
      <p:sp>
        <p:nvSpPr>
          <p:cNvPr id="5" name="Icon circle"/>
          <p:cNvSpPr/>
          <p:nvPr/>
        </p:nvSpPr>
        <p:spPr>
          <a:xfrm>
            <a:off x="868680" y="2450592"/>
            <a:ext cx="502920" cy="502920"/>
          </a:xfrm>
          <a:prstGeom prst="ellipse">
            <a:avLst/>
          </a:prstGeom>
          <a:solidFill>
            <a:schemeClr val="accent1"/>
          </a:solidFill>
          <a:ln w="12700">
            <a:solidFill>
              <a:schemeClr val="accent1"/>
            </a:solidFill>
            <a:prstDash val="solid"/>
          </a:ln>
        </p:spPr>
      </p:sp>
      <p:pic>
        <p:nvPicPr>
          <p:cNvPr id="6" name="Icon FaCheckCircle" descr="CheckCircle icon">    </p:cNvPr>
          <p:cNvPicPr>
            <a:picLocks noChangeAspect="1"/>
          </p:cNvPicPr>
          <p:nvPr/>
        </p:nvPicPr>
        <p:blipFill>
          <a:blip r:embed="rId1"/>
          <a:stretch>
            <a:fillRect/>
          </a:stretch>
        </p:blipFill>
        <p:spPr>
          <a:xfrm>
            <a:off x="994410" y="2576322"/>
            <a:ext cx="251460" cy="251460"/>
          </a:xfrm>
          <a:prstGeom prst="rect">
            <a:avLst/>
          </a:prstGeom>
        </p:spPr>
      </p:pic>
      <p:sp>
        <p:nvSpPr>
          <p:cNvPr id="7" name="Text 4"/>
          <p:cNvSpPr txBox="1"/>
          <p:nvPr/>
        </p:nvSpPr>
        <p:spPr>
          <a:xfrm>
            <a:off x="1600200" y="2377440"/>
            <a:ext cx="4114800" cy="731520"/>
          </a:xfrm>
          <a:prstGeom prst="rect">
            <a:avLst/>
          </a:prstGeom>
          <a:noFill/>
          <a:ln/>
        </p:spPr>
        <p:txBody>
          <a:bodyPr wrap="square" lIns="0" tIns="0" rIns="0" bIns="0" rtlCol="0" anchor="ctr"/>
          <a:lstStyle/>
          <a:p>
            <a:pPr indent="0" marL="0">
              <a:buNone/>
            </a:pPr>
            <a:r>
              <a:rPr lang="en-US" sz="1500" dirty="0">
                <a:solidFill>
                  <a:schemeClr val="tx1"/>
                </a:solidFill>
              </a:rPr>
              <a:t>GitHub Actions secrets protect registry and cluster access</a:t>
            </a:r>
            <a:endParaRPr lang="en-US" sz="1500" dirty="0"/>
          </a:p>
        </p:txBody>
      </p:sp>
      <p:sp>
        <p:nvSpPr>
          <p:cNvPr id="8" name="Icon circle"/>
          <p:cNvSpPr/>
          <p:nvPr/>
        </p:nvSpPr>
        <p:spPr>
          <a:xfrm>
            <a:off x="868680" y="3383280"/>
            <a:ext cx="502920" cy="502920"/>
          </a:xfrm>
          <a:prstGeom prst="ellipse">
            <a:avLst/>
          </a:prstGeom>
          <a:solidFill>
            <a:schemeClr val="accent1"/>
          </a:solidFill>
          <a:ln w="12700">
            <a:solidFill>
              <a:schemeClr val="accent1"/>
            </a:solidFill>
            <a:prstDash val="solid"/>
          </a:ln>
        </p:spPr>
      </p:sp>
      <p:pic>
        <p:nvPicPr>
          <p:cNvPr id="9" name="Icon FaCheckCircle" descr="CheckCircle icon">    </p:cNvPr>
          <p:cNvPicPr>
            <a:picLocks noChangeAspect="1"/>
          </p:cNvPicPr>
          <p:nvPr/>
        </p:nvPicPr>
        <p:blipFill>
          <a:blip r:embed="rId2"/>
          <a:stretch>
            <a:fillRect/>
          </a:stretch>
        </p:blipFill>
        <p:spPr>
          <a:xfrm>
            <a:off x="994410" y="3509010"/>
            <a:ext cx="251460" cy="251460"/>
          </a:xfrm>
          <a:prstGeom prst="rect">
            <a:avLst/>
          </a:prstGeom>
        </p:spPr>
      </p:pic>
      <p:sp>
        <p:nvSpPr>
          <p:cNvPr id="10" name="Text 6"/>
          <p:cNvSpPr txBox="1"/>
          <p:nvPr/>
        </p:nvSpPr>
        <p:spPr>
          <a:xfrm>
            <a:off x="1600200" y="3310128"/>
            <a:ext cx="4114800" cy="731520"/>
          </a:xfrm>
          <a:prstGeom prst="rect">
            <a:avLst/>
          </a:prstGeom>
          <a:noFill/>
          <a:ln/>
        </p:spPr>
        <p:txBody>
          <a:bodyPr wrap="square" lIns="0" tIns="0" rIns="0" bIns="0" rtlCol="0" anchor="ctr"/>
          <a:lstStyle/>
          <a:p>
            <a:pPr indent="0" marL="0">
              <a:buNone/>
            </a:pPr>
            <a:r>
              <a:rPr lang="en-US" sz="1500" dirty="0">
                <a:solidFill>
                  <a:schemeClr val="tx1"/>
                </a:solidFill>
              </a:rPr>
              <a:t>Kubernetes Secrets hold database credentials</a:t>
            </a:r>
            <a:endParaRPr lang="en-US" sz="1500" dirty="0"/>
          </a:p>
        </p:txBody>
      </p:sp>
      <p:sp>
        <p:nvSpPr>
          <p:cNvPr id="11" name="Icon circle"/>
          <p:cNvSpPr/>
          <p:nvPr/>
        </p:nvSpPr>
        <p:spPr>
          <a:xfrm>
            <a:off x="868680" y="4315968"/>
            <a:ext cx="502920" cy="502920"/>
          </a:xfrm>
          <a:prstGeom prst="ellipse">
            <a:avLst/>
          </a:prstGeom>
          <a:solidFill>
            <a:schemeClr val="accent1"/>
          </a:solidFill>
          <a:ln w="12700">
            <a:solidFill>
              <a:schemeClr val="accent1"/>
            </a:solidFill>
            <a:prstDash val="solid"/>
          </a:ln>
        </p:spPr>
      </p:sp>
      <p:pic>
        <p:nvPicPr>
          <p:cNvPr id="12" name="Icon FaCheckCircle" descr="CheckCircle icon">    </p:cNvPr>
          <p:cNvPicPr>
            <a:picLocks noChangeAspect="1"/>
          </p:cNvPicPr>
          <p:nvPr/>
        </p:nvPicPr>
        <p:blipFill>
          <a:blip r:embed="rId3"/>
          <a:stretch>
            <a:fillRect/>
          </a:stretch>
        </p:blipFill>
        <p:spPr>
          <a:xfrm>
            <a:off x="994410" y="4441698"/>
            <a:ext cx="251460" cy="251460"/>
          </a:xfrm>
          <a:prstGeom prst="rect">
            <a:avLst/>
          </a:prstGeom>
        </p:spPr>
      </p:pic>
      <p:sp>
        <p:nvSpPr>
          <p:cNvPr id="13" name="Text 8"/>
          <p:cNvSpPr txBox="1"/>
          <p:nvPr/>
        </p:nvSpPr>
        <p:spPr>
          <a:xfrm>
            <a:off x="1600200" y="4242816"/>
            <a:ext cx="4114800" cy="731520"/>
          </a:xfrm>
          <a:prstGeom prst="rect">
            <a:avLst/>
          </a:prstGeom>
          <a:noFill/>
          <a:ln/>
        </p:spPr>
        <p:txBody>
          <a:bodyPr wrap="square" lIns="0" tIns="0" rIns="0" bIns="0" rtlCol="0" anchor="ctr"/>
          <a:lstStyle/>
          <a:p>
            <a:pPr indent="0" marL="0">
              <a:buNone/>
            </a:pPr>
            <a:r>
              <a:rPr lang="en-US" sz="1500" dirty="0">
                <a:solidFill>
                  <a:schemeClr val="tx1"/>
                </a:solidFill>
              </a:rPr>
              <a:t>Alpine base images keep the attack surface small</a:t>
            </a:r>
            <a:endParaRPr lang="en-US" sz="1500" dirty="0"/>
          </a:p>
        </p:txBody>
      </p:sp>
      <p:sp>
        <p:nvSpPr>
          <p:cNvPr id="14" name="Icon circle"/>
          <p:cNvSpPr/>
          <p:nvPr/>
        </p:nvSpPr>
        <p:spPr>
          <a:xfrm>
            <a:off x="868680" y="5248656"/>
            <a:ext cx="502920" cy="502920"/>
          </a:xfrm>
          <a:prstGeom prst="ellipse">
            <a:avLst/>
          </a:prstGeom>
          <a:solidFill>
            <a:schemeClr val="accent1"/>
          </a:solidFill>
          <a:ln w="12700">
            <a:solidFill>
              <a:schemeClr val="accent1"/>
            </a:solidFill>
            <a:prstDash val="solid"/>
          </a:ln>
        </p:spPr>
      </p:sp>
      <p:pic>
        <p:nvPicPr>
          <p:cNvPr id="15" name="Icon FaCheckCircle" descr="CheckCircle icon">    </p:cNvPr>
          <p:cNvPicPr>
            <a:picLocks noChangeAspect="1"/>
          </p:cNvPicPr>
          <p:nvPr/>
        </p:nvPicPr>
        <p:blipFill>
          <a:blip r:embed="rId4"/>
          <a:stretch>
            <a:fillRect/>
          </a:stretch>
        </p:blipFill>
        <p:spPr>
          <a:xfrm>
            <a:off x="994410" y="5374386"/>
            <a:ext cx="251460" cy="251460"/>
          </a:xfrm>
          <a:prstGeom prst="rect">
            <a:avLst/>
          </a:prstGeom>
        </p:spPr>
      </p:pic>
      <p:sp>
        <p:nvSpPr>
          <p:cNvPr id="16" name="Text 10"/>
          <p:cNvSpPr txBox="1"/>
          <p:nvPr/>
        </p:nvSpPr>
        <p:spPr>
          <a:xfrm>
            <a:off x="1600200" y="5175504"/>
            <a:ext cx="4114800" cy="731520"/>
          </a:xfrm>
          <a:prstGeom prst="rect">
            <a:avLst/>
          </a:prstGeom>
          <a:noFill/>
          <a:ln/>
        </p:spPr>
        <p:txBody>
          <a:bodyPr wrap="square" lIns="0" tIns="0" rIns="0" bIns="0" rtlCol="0" anchor="ctr"/>
          <a:lstStyle/>
          <a:p>
            <a:pPr indent="0" marL="0">
              <a:buNone/>
            </a:pPr>
            <a:r>
              <a:rPr lang="en-US" sz="1500" dirty="0">
                <a:solidFill>
                  <a:schemeClr val="tx1"/>
                </a:solidFill>
              </a:rPr>
              <a:t>Dedicated app user created by Ansible</a:t>
            </a:r>
            <a:endParaRPr lang="en-US" sz="1500" dirty="0"/>
          </a:p>
        </p:txBody>
      </p:sp>
      <p:sp>
        <p:nvSpPr>
          <p:cNvPr id="17" name="Column Known gaps"/>
          <p:cNvSpPr/>
          <p:nvPr/>
        </p:nvSpPr>
        <p:spPr>
          <a:xfrm>
            <a:off x="6245352" y="1417320"/>
            <a:ext cx="5394960" cy="4754880"/>
          </a:xfrm>
          <a:prstGeom prst="roundRect">
            <a:avLst>
              <a:gd name="adj" fmla="val 2308"/>
            </a:avLst>
          </a:prstGeom>
          <a:solidFill>
            <a:schemeClr val="accent4"/>
          </a:solidFill>
          <a:ln w="12700">
            <a:solidFill>
              <a:schemeClr val="accent4"/>
            </a:solidFill>
            <a:prstDash val="solid"/>
          </a:ln>
        </p:spPr>
      </p:sp>
      <p:sp>
        <p:nvSpPr>
          <p:cNvPr id="18" name="Text 12"/>
          <p:cNvSpPr txBox="1"/>
          <p:nvPr/>
        </p:nvSpPr>
        <p:spPr>
          <a:xfrm>
            <a:off x="6565392" y="1645920"/>
            <a:ext cx="3657600" cy="457200"/>
          </a:xfrm>
          <a:prstGeom prst="rect">
            <a:avLst/>
          </a:prstGeom>
          <a:noFill/>
          <a:ln/>
        </p:spPr>
        <p:txBody>
          <a:bodyPr wrap="square" lIns="0" tIns="0" rIns="0" bIns="0" rtlCol="0" anchor="t"/>
          <a:lstStyle/>
          <a:p>
            <a:pPr indent="0" marL="0">
              <a:buNone/>
            </a:pPr>
            <a:r>
              <a:rPr lang="en-US" sz="2400" b="1" dirty="0">
                <a:solidFill>
                  <a:schemeClr val="tx1"/>
                </a:solidFill>
              </a:rPr>
              <a:t>Known gaps</a:t>
            </a:r>
            <a:endParaRPr lang="en-US" sz="2400" dirty="0"/>
          </a:p>
        </p:txBody>
      </p:sp>
      <p:sp>
        <p:nvSpPr>
          <p:cNvPr id="19" name="Icon circle"/>
          <p:cNvSpPr/>
          <p:nvPr/>
        </p:nvSpPr>
        <p:spPr>
          <a:xfrm>
            <a:off x="6565392" y="2450592"/>
            <a:ext cx="502920" cy="502920"/>
          </a:xfrm>
          <a:prstGeom prst="ellipse">
            <a:avLst/>
          </a:prstGeom>
          <a:solidFill>
            <a:schemeClr val="accent2"/>
          </a:solidFill>
          <a:ln w="12700">
            <a:solidFill>
              <a:schemeClr val="accent2"/>
            </a:solidFill>
            <a:prstDash val="solid"/>
          </a:ln>
        </p:spPr>
      </p:sp>
      <p:pic>
        <p:nvPicPr>
          <p:cNvPr id="20" name="Icon FaExclamationTriangle" descr="ExclamationTriangle icon">    </p:cNvPr>
          <p:cNvPicPr>
            <a:picLocks noChangeAspect="1"/>
          </p:cNvPicPr>
          <p:nvPr/>
        </p:nvPicPr>
        <p:blipFill>
          <a:blip r:embed="rId5"/>
          <a:stretch>
            <a:fillRect/>
          </a:stretch>
        </p:blipFill>
        <p:spPr>
          <a:xfrm>
            <a:off x="6691122" y="2576322"/>
            <a:ext cx="251460" cy="251460"/>
          </a:xfrm>
          <a:prstGeom prst="rect">
            <a:avLst/>
          </a:prstGeom>
        </p:spPr>
      </p:pic>
      <p:sp>
        <p:nvSpPr>
          <p:cNvPr id="21" name="Text 14"/>
          <p:cNvSpPr txBox="1"/>
          <p:nvPr/>
        </p:nvSpPr>
        <p:spPr>
          <a:xfrm>
            <a:off x="7296912" y="2377440"/>
            <a:ext cx="4114800" cy="731520"/>
          </a:xfrm>
          <a:prstGeom prst="rect">
            <a:avLst/>
          </a:prstGeom>
          <a:noFill/>
          <a:ln/>
        </p:spPr>
        <p:txBody>
          <a:bodyPr wrap="square" lIns="0" tIns="0" rIns="0" bIns="0" rtlCol="0" anchor="ctr"/>
          <a:lstStyle/>
          <a:p>
            <a:pPr indent="0" marL="0">
              <a:buNone/>
            </a:pPr>
            <a:r>
              <a:rPr lang="en-US" sz="1500" dirty="0">
                <a:solidFill>
                  <a:schemeClr val="tx1"/>
                </a:solidFill>
              </a:rPr>
              <a:t>Database password hardcoded in 3 Java controllers</a:t>
            </a:r>
            <a:endParaRPr lang="en-US" sz="1500" dirty="0"/>
          </a:p>
        </p:txBody>
      </p:sp>
      <p:sp>
        <p:nvSpPr>
          <p:cNvPr id="22" name="Icon circle"/>
          <p:cNvSpPr/>
          <p:nvPr/>
        </p:nvSpPr>
        <p:spPr>
          <a:xfrm>
            <a:off x="6565392" y="3383280"/>
            <a:ext cx="502920" cy="502920"/>
          </a:xfrm>
          <a:prstGeom prst="ellipse">
            <a:avLst/>
          </a:prstGeom>
          <a:solidFill>
            <a:schemeClr val="accent2"/>
          </a:solidFill>
          <a:ln w="12700">
            <a:solidFill>
              <a:schemeClr val="accent2"/>
            </a:solidFill>
            <a:prstDash val="solid"/>
          </a:ln>
        </p:spPr>
      </p:sp>
      <p:pic>
        <p:nvPicPr>
          <p:cNvPr id="23" name="Icon FaExclamationTriangle" descr="ExclamationTriangle icon">    </p:cNvPr>
          <p:cNvPicPr>
            <a:picLocks noChangeAspect="1"/>
          </p:cNvPicPr>
          <p:nvPr/>
        </p:nvPicPr>
        <p:blipFill>
          <a:blip r:embed="rId6"/>
          <a:stretch>
            <a:fillRect/>
          </a:stretch>
        </p:blipFill>
        <p:spPr>
          <a:xfrm>
            <a:off x="6691122" y="3509010"/>
            <a:ext cx="251460" cy="251460"/>
          </a:xfrm>
          <a:prstGeom prst="rect">
            <a:avLst/>
          </a:prstGeom>
        </p:spPr>
      </p:pic>
      <p:sp>
        <p:nvSpPr>
          <p:cNvPr id="24" name="Text 16"/>
          <p:cNvSpPr txBox="1"/>
          <p:nvPr/>
        </p:nvSpPr>
        <p:spPr>
          <a:xfrm>
            <a:off x="7296912" y="3310128"/>
            <a:ext cx="4114800" cy="731520"/>
          </a:xfrm>
          <a:prstGeom prst="rect">
            <a:avLst/>
          </a:prstGeom>
          <a:noFill/>
          <a:ln/>
        </p:spPr>
        <p:txBody>
          <a:bodyPr wrap="square" lIns="0" tIns="0" rIns="0" bIns="0" rtlCol="0" anchor="ctr"/>
          <a:lstStyle/>
          <a:p>
            <a:pPr indent="0" marL="0">
              <a:buNone/>
            </a:pPr>
            <a:r>
              <a:rPr lang="en-US" sz="1500" dirty="0">
                <a:solidFill>
                  <a:schemeClr val="tx1"/>
                </a:solidFill>
              </a:rPr>
              <a:t>User passwords stored without hashing</a:t>
            </a:r>
            <a:endParaRPr lang="en-US" sz="1500" dirty="0"/>
          </a:p>
        </p:txBody>
      </p:sp>
      <p:sp>
        <p:nvSpPr>
          <p:cNvPr id="25" name="Icon circle"/>
          <p:cNvSpPr/>
          <p:nvPr/>
        </p:nvSpPr>
        <p:spPr>
          <a:xfrm>
            <a:off x="6565392" y="4315968"/>
            <a:ext cx="502920" cy="502920"/>
          </a:xfrm>
          <a:prstGeom prst="ellipse">
            <a:avLst/>
          </a:prstGeom>
          <a:solidFill>
            <a:schemeClr val="accent2"/>
          </a:solidFill>
          <a:ln w="12700">
            <a:solidFill>
              <a:schemeClr val="accent2"/>
            </a:solidFill>
            <a:prstDash val="solid"/>
          </a:ln>
        </p:spPr>
      </p:sp>
      <p:pic>
        <p:nvPicPr>
          <p:cNvPr id="26" name="Icon FaExclamationTriangle" descr="ExclamationTriangle icon">    </p:cNvPr>
          <p:cNvPicPr>
            <a:picLocks noChangeAspect="1"/>
          </p:cNvPicPr>
          <p:nvPr/>
        </p:nvPicPr>
        <p:blipFill>
          <a:blip r:embed="rId7"/>
          <a:stretch>
            <a:fillRect/>
          </a:stretch>
        </p:blipFill>
        <p:spPr>
          <a:xfrm>
            <a:off x="6691122" y="4441698"/>
            <a:ext cx="251460" cy="251460"/>
          </a:xfrm>
          <a:prstGeom prst="rect">
            <a:avLst/>
          </a:prstGeom>
        </p:spPr>
      </p:pic>
      <p:sp>
        <p:nvSpPr>
          <p:cNvPr id="27" name="Text 18"/>
          <p:cNvSpPr txBox="1"/>
          <p:nvPr/>
        </p:nvSpPr>
        <p:spPr>
          <a:xfrm>
            <a:off x="7296912" y="4242816"/>
            <a:ext cx="4114800" cy="731520"/>
          </a:xfrm>
          <a:prstGeom prst="rect">
            <a:avLst/>
          </a:prstGeom>
          <a:noFill/>
          <a:ln/>
        </p:spPr>
        <p:txBody>
          <a:bodyPr wrap="square" lIns="0" tIns="0" rIns="0" bIns="0" rtlCol="0" anchor="ctr"/>
          <a:lstStyle/>
          <a:p>
            <a:pPr indent="0" marL="0">
              <a:buNone/>
            </a:pPr>
            <a:r>
              <a:rPr lang="en-US" sz="1500" dirty="0">
                <a:solidFill>
                  <a:schemeClr val="tx1"/>
                </a:solidFill>
              </a:rPr>
              <a:t>No SAST, dependency or image scanning in CI</a:t>
            </a:r>
            <a:endParaRPr lang="en-US" sz="1500" dirty="0"/>
          </a:p>
        </p:txBody>
      </p:sp>
      <p:sp>
        <p:nvSpPr>
          <p:cNvPr id="28" name="Icon circle"/>
          <p:cNvSpPr/>
          <p:nvPr/>
        </p:nvSpPr>
        <p:spPr>
          <a:xfrm>
            <a:off x="6565392" y="5248656"/>
            <a:ext cx="502920" cy="502920"/>
          </a:xfrm>
          <a:prstGeom prst="ellipse">
            <a:avLst/>
          </a:prstGeom>
          <a:solidFill>
            <a:schemeClr val="accent2"/>
          </a:solidFill>
          <a:ln w="12700">
            <a:solidFill>
              <a:schemeClr val="accent2"/>
            </a:solidFill>
            <a:prstDash val="solid"/>
          </a:ln>
        </p:spPr>
      </p:sp>
      <p:pic>
        <p:nvPicPr>
          <p:cNvPr id="29" name="Icon FaExclamationTriangle" descr="ExclamationTriangle icon">    </p:cNvPr>
          <p:cNvPicPr>
            <a:picLocks noChangeAspect="1"/>
          </p:cNvPicPr>
          <p:nvPr/>
        </p:nvPicPr>
        <p:blipFill>
          <a:blip r:embed="rId8"/>
          <a:stretch>
            <a:fillRect/>
          </a:stretch>
        </p:blipFill>
        <p:spPr>
          <a:xfrm>
            <a:off x="6691122" y="5374386"/>
            <a:ext cx="251460" cy="251460"/>
          </a:xfrm>
          <a:prstGeom prst="rect">
            <a:avLst/>
          </a:prstGeom>
        </p:spPr>
      </p:pic>
      <p:sp>
        <p:nvSpPr>
          <p:cNvPr id="30" name="Text 20"/>
          <p:cNvSpPr txBox="1"/>
          <p:nvPr/>
        </p:nvSpPr>
        <p:spPr>
          <a:xfrm>
            <a:off x="7296912" y="5175504"/>
            <a:ext cx="4114800" cy="731520"/>
          </a:xfrm>
          <a:prstGeom prst="rect">
            <a:avLst/>
          </a:prstGeom>
          <a:noFill/>
          <a:ln/>
        </p:spPr>
        <p:txBody>
          <a:bodyPr wrap="square" lIns="0" tIns="0" rIns="0" bIns="0" rtlCol="0" anchor="ctr"/>
          <a:lstStyle/>
          <a:p>
            <a:pPr indent="0" marL="0">
              <a:buNone/>
            </a:pPr>
            <a:r>
              <a:rPr lang="en-US" sz="1500" dirty="0">
                <a:solidFill>
                  <a:schemeClr val="tx1"/>
                </a:solidFill>
              </a:rPr>
              <a:t>No pre commit hooks as a quality gate</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Monitoring with Prometheus and Grafana</a:t>
            </a:r>
            <a:endParaRPr lang="en-US" sz="3200" dirty="0"/>
          </a:p>
        </p:txBody>
      </p:sp>
      <p:sp>
        <p:nvSpPr>
          <p:cNvPr id="3" name="Node Spring Boot backend"/>
          <p:cNvSpPr/>
          <p:nvPr/>
        </p:nvSpPr>
        <p:spPr>
          <a:xfrm>
            <a:off x="548640" y="1417320"/>
            <a:ext cx="3227832" cy="1600200"/>
          </a:xfrm>
          <a:prstGeom prst="roundRect">
            <a:avLst>
              <a:gd name="adj" fmla="val 6857"/>
            </a:avLst>
          </a:prstGeom>
          <a:solidFill>
            <a:schemeClr val="bg2"/>
          </a:solidFill>
          <a:ln w="12700">
            <a:solidFill>
              <a:schemeClr val="bg2"/>
            </a:solidFill>
            <a:prstDash val="solid"/>
          </a:ln>
        </p:spPr>
      </p:sp>
      <p:sp>
        <p:nvSpPr>
          <p:cNvPr id="4" name="Icon circle"/>
          <p:cNvSpPr/>
          <p:nvPr/>
        </p:nvSpPr>
        <p:spPr>
          <a:xfrm>
            <a:off x="1888236" y="1581912"/>
            <a:ext cx="548640" cy="548640"/>
          </a:xfrm>
          <a:prstGeom prst="ellipse">
            <a:avLst/>
          </a:prstGeom>
          <a:solidFill>
            <a:schemeClr val="accent1"/>
          </a:solidFill>
          <a:ln w="12700">
            <a:solidFill>
              <a:schemeClr val="accent1"/>
            </a:solidFill>
            <a:prstDash val="solid"/>
          </a:ln>
        </p:spPr>
      </p:sp>
      <p:pic>
        <p:nvPicPr>
          <p:cNvPr id="5" name="Icon FaServer" descr="Server icon">    </p:cNvPr>
          <p:cNvPicPr>
            <a:picLocks noChangeAspect="1"/>
          </p:cNvPicPr>
          <p:nvPr/>
        </p:nvPicPr>
        <p:blipFill>
          <a:blip r:embed="rId1"/>
          <a:stretch>
            <a:fillRect/>
          </a:stretch>
        </p:blipFill>
        <p:spPr>
          <a:xfrm>
            <a:off x="2025396" y="1719072"/>
            <a:ext cx="274320" cy="274320"/>
          </a:xfrm>
          <a:prstGeom prst="rect">
            <a:avLst/>
          </a:prstGeom>
        </p:spPr>
      </p:pic>
      <p:sp>
        <p:nvSpPr>
          <p:cNvPr id="6" name="Text 3"/>
          <p:cNvSpPr txBox="1"/>
          <p:nvPr/>
        </p:nvSpPr>
        <p:spPr>
          <a:xfrm>
            <a:off x="64008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Spring Boot backend</a:t>
            </a:r>
            <a:endParaRPr lang="en-US" sz="1600" dirty="0"/>
          </a:p>
        </p:txBody>
      </p:sp>
      <p:sp>
        <p:nvSpPr>
          <p:cNvPr id="7" name="Text 4"/>
          <p:cNvSpPr txBox="1"/>
          <p:nvPr/>
        </p:nvSpPr>
        <p:spPr>
          <a:xfrm>
            <a:off x="64008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Exposes a metrics endpoint</a:t>
            </a:r>
            <a:endParaRPr lang="en-US" sz="1200" dirty="0"/>
          </a:p>
        </p:txBody>
      </p:sp>
      <p:sp>
        <p:nvSpPr>
          <p:cNvPr id="8" name="Node Prometheus"/>
          <p:cNvSpPr/>
          <p:nvPr/>
        </p:nvSpPr>
        <p:spPr>
          <a:xfrm>
            <a:off x="4480560" y="1417320"/>
            <a:ext cx="3227832" cy="1600200"/>
          </a:xfrm>
          <a:prstGeom prst="roundRect">
            <a:avLst>
              <a:gd name="adj" fmla="val 6857"/>
            </a:avLst>
          </a:prstGeom>
          <a:solidFill>
            <a:schemeClr val="bg2"/>
          </a:solidFill>
          <a:ln w="12700">
            <a:solidFill>
              <a:schemeClr val="bg2"/>
            </a:solidFill>
            <a:prstDash val="solid"/>
          </a:ln>
        </p:spPr>
      </p:sp>
      <p:sp>
        <p:nvSpPr>
          <p:cNvPr id="9" name="Icon circle"/>
          <p:cNvSpPr/>
          <p:nvPr/>
        </p:nvSpPr>
        <p:spPr>
          <a:xfrm>
            <a:off x="5820156" y="1581912"/>
            <a:ext cx="548640" cy="548640"/>
          </a:xfrm>
          <a:prstGeom prst="ellipse">
            <a:avLst/>
          </a:prstGeom>
          <a:solidFill>
            <a:schemeClr val="accent2"/>
          </a:solidFill>
          <a:ln w="12700">
            <a:solidFill>
              <a:schemeClr val="accent2"/>
            </a:solidFill>
            <a:prstDash val="solid"/>
          </a:ln>
        </p:spPr>
      </p:sp>
      <p:pic>
        <p:nvPicPr>
          <p:cNvPr id="10" name="Icon FaFire" descr="Fire icon">    </p:cNvPr>
          <p:cNvPicPr>
            <a:picLocks noChangeAspect="1"/>
          </p:cNvPicPr>
          <p:nvPr/>
        </p:nvPicPr>
        <p:blipFill>
          <a:blip r:embed="rId2"/>
          <a:stretch>
            <a:fillRect/>
          </a:stretch>
        </p:blipFill>
        <p:spPr>
          <a:xfrm>
            <a:off x="5957316" y="1719072"/>
            <a:ext cx="274320" cy="274320"/>
          </a:xfrm>
          <a:prstGeom prst="rect">
            <a:avLst/>
          </a:prstGeom>
        </p:spPr>
      </p:pic>
      <p:sp>
        <p:nvSpPr>
          <p:cNvPr id="11" name="Text 7"/>
          <p:cNvSpPr txBox="1"/>
          <p:nvPr/>
        </p:nvSpPr>
        <p:spPr>
          <a:xfrm>
            <a:off x="457200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Prometheus</a:t>
            </a:r>
            <a:endParaRPr lang="en-US" sz="1600" dirty="0"/>
          </a:p>
        </p:txBody>
      </p:sp>
      <p:sp>
        <p:nvSpPr>
          <p:cNvPr id="12" name="Text 8"/>
          <p:cNvSpPr txBox="1"/>
          <p:nvPr/>
        </p:nvSpPr>
        <p:spPr>
          <a:xfrm>
            <a:off x="457200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Scrapes every 15 seconds</a:t>
            </a:r>
            <a:endParaRPr lang="en-US" sz="1200" dirty="0"/>
          </a:p>
        </p:txBody>
      </p:sp>
      <p:sp>
        <p:nvSpPr>
          <p:cNvPr id="13" name="Node Grafana"/>
          <p:cNvSpPr/>
          <p:nvPr/>
        </p:nvSpPr>
        <p:spPr>
          <a:xfrm>
            <a:off x="8412480" y="1417320"/>
            <a:ext cx="3227832" cy="1600200"/>
          </a:xfrm>
          <a:prstGeom prst="roundRect">
            <a:avLst>
              <a:gd name="adj" fmla="val 6857"/>
            </a:avLst>
          </a:prstGeom>
          <a:solidFill>
            <a:schemeClr val="bg2"/>
          </a:solidFill>
          <a:ln w="12700">
            <a:solidFill>
              <a:schemeClr val="bg2"/>
            </a:solidFill>
            <a:prstDash val="solid"/>
          </a:ln>
        </p:spPr>
      </p:sp>
      <p:sp>
        <p:nvSpPr>
          <p:cNvPr id="14" name="Icon circle"/>
          <p:cNvSpPr/>
          <p:nvPr/>
        </p:nvSpPr>
        <p:spPr>
          <a:xfrm>
            <a:off x="9752076" y="1581912"/>
            <a:ext cx="548640" cy="548640"/>
          </a:xfrm>
          <a:prstGeom prst="ellipse">
            <a:avLst/>
          </a:prstGeom>
          <a:solidFill>
            <a:schemeClr val="accent1"/>
          </a:solidFill>
          <a:ln w="12700">
            <a:solidFill>
              <a:schemeClr val="accent1"/>
            </a:solidFill>
            <a:prstDash val="solid"/>
          </a:ln>
        </p:spPr>
      </p:sp>
      <p:pic>
        <p:nvPicPr>
          <p:cNvPr id="15" name="Icon FaChartLine" descr="ChartLine icon">    </p:cNvPr>
          <p:cNvPicPr>
            <a:picLocks noChangeAspect="1"/>
          </p:cNvPicPr>
          <p:nvPr/>
        </p:nvPicPr>
        <p:blipFill>
          <a:blip r:embed="rId3"/>
          <a:stretch>
            <a:fillRect/>
          </a:stretch>
        </p:blipFill>
        <p:spPr>
          <a:xfrm>
            <a:off x="9889236" y="1719072"/>
            <a:ext cx="274320" cy="274320"/>
          </a:xfrm>
          <a:prstGeom prst="rect">
            <a:avLst/>
          </a:prstGeom>
        </p:spPr>
      </p:pic>
      <p:sp>
        <p:nvSpPr>
          <p:cNvPr id="16" name="Text 11"/>
          <p:cNvSpPr txBox="1"/>
          <p:nvPr/>
        </p:nvSpPr>
        <p:spPr>
          <a:xfrm>
            <a:off x="8503920" y="2240280"/>
            <a:ext cx="3044952" cy="320040"/>
          </a:xfrm>
          <a:prstGeom prst="rect">
            <a:avLst/>
          </a:prstGeom>
          <a:noFill/>
          <a:ln/>
        </p:spPr>
        <p:txBody>
          <a:bodyPr wrap="square" lIns="0" tIns="0" rIns="0" bIns="0" rtlCol="0" anchor="t"/>
          <a:lstStyle/>
          <a:p>
            <a:pPr algn="ctr" indent="0" marL="0">
              <a:buNone/>
            </a:pPr>
            <a:r>
              <a:rPr lang="en-US" sz="1600" b="1" dirty="0">
                <a:solidFill>
                  <a:schemeClr val="tx1"/>
                </a:solidFill>
              </a:rPr>
              <a:t>Grafana</a:t>
            </a:r>
            <a:endParaRPr lang="en-US" sz="1600" dirty="0"/>
          </a:p>
        </p:txBody>
      </p:sp>
      <p:sp>
        <p:nvSpPr>
          <p:cNvPr id="17" name="Text 12"/>
          <p:cNvSpPr txBox="1"/>
          <p:nvPr/>
        </p:nvSpPr>
        <p:spPr>
          <a:xfrm>
            <a:off x="8503920" y="2578608"/>
            <a:ext cx="3044952" cy="320040"/>
          </a:xfrm>
          <a:prstGeom prst="rect">
            <a:avLst/>
          </a:prstGeom>
          <a:noFill/>
          <a:ln/>
        </p:spPr>
        <p:txBody>
          <a:bodyPr wrap="square" lIns="0" tIns="0" rIns="0" bIns="0" rtlCol="0" anchor="t"/>
          <a:lstStyle/>
          <a:p>
            <a:pPr algn="ctr" indent="0" marL="0">
              <a:buNone/>
            </a:pPr>
            <a:r>
              <a:rPr lang="en-US" sz="1200" dirty="0">
                <a:solidFill>
                  <a:schemeClr val="tx2"/>
                </a:solidFill>
              </a:rPr>
              <a:t>Dashboards on port 3000</a:t>
            </a:r>
            <a:endParaRPr lang="en-US" sz="1200" dirty="0"/>
          </a:p>
        </p:txBody>
      </p:sp>
      <p:sp>
        <p:nvSpPr>
          <p:cNvPr id="18" name="Arrow"/>
          <p:cNvSpPr/>
          <p:nvPr/>
        </p:nvSpPr>
        <p:spPr>
          <a:xfrm>
            <a:off x="3822192" y="2212848"/>
            <a:ext cx="658368" cy="0"/>
          </a:xfrm>
          <a:prstGeom prst="line">
            <a:avLst/>
          </a:prstGeom>
          <a:noFill/>
          <a:ln w="28575">
            <a:solidFill>
              <a:schemeClr val="tx2"/>
            </a:solidFill>
            <a:prstDash val="solid"/>
            <a:tailEnd type="triangle"/>
          </a:ln>
        </p:spPr>
      </p:sp>
      <p:sp>
        <p:nvSpPr>
          <p:cNvPr id="19" name="Arrow"/>
          <p:cNvSpPr/>
          <p:nvPr/>
        </p:nvSpPr>
        <p:spPr>
          <a:xfrm>
            <a:off x="7754112" y="2212848"/>
            <a:ext cx="658368" cy="0"/>
          </a:xfrm>
          <a:prstGeom prst="line">
            <a:avLst/>
          </a:prstGeom>
          <a:noFill/>
          <a:ln w="28575">
            <a:solidFill>
              <a:schemeClr val="tx2"/>
            </a:solidFill>
            <a:prstDash val="solid"/>
            <a:tailEnd type="triangle"/>
          </a:ln>
        </p:spPr>
      </p:sp>
      <p:sp>
        <p:nvSpPr>
          <p:cNvPr id="20" name="Text 15"/>
          <p:cNvSpPr txBox="1"/>
          <p:nvPr/>
        </p:nvSpPr>
        <p:spPr>
          <a:xfrm>
            <a:off x="548640" y="3200400"/>
            <a:ext cx="5486400" cy="320040"/>
          </a:xfrm>
          <a:prstGeom prst="rect">
            <a:avLst/>
          </a:prstGeom>
          <a:noFill/>
          <a:ln/>
        </p:spPr>
        <p:txBody>
          <a:bodyPr wrap="square" lIns="0" tIns="0" rIns="0" bIns="0" rtlCol="0" anchor="t"/>
          <a:lstStyle/>
          <a:p>
            <a:pPr indent="0" marL="0">
              <a:buNone/>
            </a:pPr>
            <a:r>
              <a:rPr lang="en-US" sz="1500" b="1" dirty="0">
                <a:solidFill>
                  <a:schemeClr val="tx2"/>
                </a:solidFill>
              </a:rPr>
              <a:t>Planned Grafana panels</a:t>
            </a:r>
            <a:endParaRPr lang="en-US" sz="1500" dirty="0"/>
          </a:p>
        </p:txBody>
      </p:sp>
      <p:sp>
        <p:nvSpPr>
          <p:cNvPr id="21" name="Metric Uptime"/>
          <p:cNvSpPr/>
          <p:nvPr/>
        </p:nvSpPr>
        <p:spPr>
          <a:xfrm>
            <a:off x="548640" y="3611880"/>
            <a:ext cx="2011680" cy="1005840"/>
          </a:xfrm>
          <a:prstGeom prst="roundRect">
            <a:avLst>
              <a:gd name="adj" fmla="val 10909"/>
            </a:avLst>
          </a:prstGeom>
          <a:solidFill>
            <a:schemeClr val="bg2"/>
          </a:solidFill>
          <a:ln w="12700">
            <a:solidFill>
              <a:schemeClr val="bg2"/>
            </a:solidFill>
            <a:prstDash val="solid"/>
          </a:ln>
        </p:spPr>
      </p:sp>
      <p:sp>
        <p:nvSpPr>
          <p:cNvPr id="22" name="Icon circle"/>
          <p:cNvSpPr/>
          <p:nvPr/>
        </p:nvSpPr>
        <p:spPr>
          <a:xfrm>
            <a:off x="731520" y="3886200"/>
            <a:ext cx="457200" cy="457200"/>
          </a:xfrm>
          <a:prstGeom prst="ellipse">
            <a:avLst/>
          </a:prstGeom>
          <a:solidFill>
            <a:schemeClr val="accent1"/>
          </a:solidFill>
          <a:ln w="12700">
            <a:solidFill>
              <a:schemeClr val="accent1"/>
            </a:solidFill>
            <a:prstDash val="solid"/>
          </a:ln>
        </p:spPr>
      </p:sp>
      <p:pic>
        <p:nvPicPr>
          <p:cNvPr id="23" name="Icon FaClock" descr="Clock icon">    </p:cNvPr>
          <p:cNvPicPr>
            <a:picLocks noChangeAspect="1"/>
          </p:cNvPicPr>
          <p:nvPr/>
        </p:nvPicPr>
        <p:blipFill>
          <a:blip r:embed="rId4"/>
          <a:stretch>
            <a:fillRect/>
          </a:stretch>
        </p:blipFill>
        <p:spPr>
          <a:xfrm>
            <a:off x="845820" y="4000500"/>
            <a:ext cx="228600" cy="228600"/>
          </a:xfrm>
          <a:prstGeom prst="rect">
            <a:avLst/>
          </a:prstGeom>
        </p:spPr>
      </p:pic>
      <p:sp>
        <p:nvSpPr>
          <p:cNvPr id="24" name="Text 18"/>
          <p:cNvSpPr txBox="1"/>
          <p:nvPr/>
        </p:nvSpPr>
        <p:spPr>
          <a:xfrm>
            <a:off x="1325880" y="3611880"/>
            <a:ext cx="1143000" cy="1005840"/>
          </a:xfrm>
          <a:prstGeom prst="rect">
            <a:avLst/>
          </a:prstGeom>
          <a:noFill/>
          <a:ln/>
        </p:spPr>
        <p:txBody>
          <a:bodyPr wrap="square" lIns="0" tIns="0" rIns="0" bIns="0" rtlCol="0" anchor="ctr"/>
          <a:lstStyle/>
          <a:p>
            <a:pPr indent="0" marL="0">
              <a:buNone/>
            </a:pPr>
            <a:r>
              <a:rPr lang="en-US" sz="1400" b="1" dirty="0">
                <a:solidFill>
                  <a:schemeClr val="tx1"/>
                </a:solidFill>
              </a:rPr>
              <a:t>Uptime</a:t>
            </a:r>
            <a:endParaRPr lang="en-US" sz="1400" dirty="0"/>
          </a:p>
        </p:txBody>
      </p:sp>
      <p:sp>
        <p:nvSpPr>
          <p:cNvPr id="25" name="Metric CPU usage"/>
          <p:cNvSpPr/>
          <p:nvPr/>
        </p:nvSpPr>
        <p:spPr>
          <a:xfrm>
            <a:off x="2818638" y="3611880"/>
            <a:ext cx="2011680" cy="1005840"/>
          </a:xfrm>
          <a:prstGeom prst="roundRect">
            <a:avLst>
              <a:gd name="adj" fmla="val 10909"/>
            </a:avLst>
          </a:prstGeom>
          <a:solidFill>
            <a:schemeClr val="bg2"/>
          </a:solidFill>
          <a:ln w="12700">
            <a:solidFill>
              <a:schemeClr val="bg2"/>
            </a:solidFill>
            <a:prstDash val="solid"/>
          </a:ln>
        </p:spPr>
      </p:sp>
      <p:sp>
        <p:nvSpPr>
          <p:cNvPr id="26" name="Icon circle"/>
          <p:cNvSpPr/>
          <p:nvPr/>
        </p:nvSpPr>
        <p:spPr>
          <a:xfrm>
            <a:off x="3001518" y="3886200"/>
            <a:ext cx="457200" cy="457200"/>
          </a:xfrm>
          <a:prstGeom prst="ellipse">
            <a:avLst/>
          </a:prstGeom>
          <a:solidFill>
            <a:schemeClr val="accent1"/>
          </a:solidFill>
          <a:ln w="12700">
            <a:solidFill>
              <a:schemeClr val="accent1"/>
            </a:solidFill>
            <a:prstDash val="solid"/>
          </a:ln>
        </p:spPr>
      </p:sp>
      <p:pic>
        <p:nvPicPr>
          <p:cNvPr id="27" name="Icon FaTachometerAlt" descr="TachometerAlt icon">    </p:cNvPr>
          <p:cNvPicPr>
            <a:picLocks noChangeAspect="1"/>
          </p:cNvPicPr>
          <p:nvPr/>
        </p:nvPicPr>
        <p:blipFill>
          <a:blip r:embed="rId5"/>
          <a:stretch>
            <a:fillRect/>
          </a:stretch>
        </p:blipFill>
        <p:spPr>
          <a:xfrm>
            <a:off x="3115818" y="4000500"/>
            <a:ext cx="228600" cy="228600"/>
          </a:xfrm>
          <a:prstGeom prst="rect">
            <a:avLst/>
          </a:prstGeom>
        </p:spPr>
      </p:pic>
      <p:sp>
        <p:nvSpPr>
          <p:cNvPr id="28" name="Text 21"/>
          <p:cNvSpPr txBox="1"/>
          <p:nvPr/>
        </p:nvSpPr>
        <p:spPr>
          <a:xfrm>
            <a:off x="3595878" y="3611880"/>
            <a:ext cx="1143000" cy="1005840"/>
          </a:xfrm>
          <a:prstGeom prst="rect">
            <a:avLst/>
          </a:prstGeom>
          <a:noFill/>
          <a:ln/>
        </p:spPr>
        <p:txBody>
          <a:bodyPr wrap="square" lIns="0" tIns="0" rIns="0" bIns="0" rtlCol="0" anchor="ctr"/>
          <a:lstStyle/>
          <a:p>
            <a:pPr indent="0" marL="0">
              <a:buNone/>
            </a:pPr>
            <a:r>
              <a:rPr lang="en-US" sz="1400" b="1" dirty="0">
                <a:solidFill>
                  <a:schemeClr val="tx1"/>
                </a:solidFill>
              </a:rPr>
              <a:t>CPU usage</a:t>
            </a:r>
            <a:endParaRPr lang="en-US" sz="1400" dirty="0"/>
          </a:p>
        </p:txBody>
      </p:sp>
      <p:sp>
        <p:nvSpPr>
          <p:cNvPr id="29" name="Metric JVM memory"/>
          <p:cNvSpPr/>
          <p:nvPr/>
        </p:nvSpPr>
        <p:spPr>
          <a:xfrm>
            <a:off x="5088636" y="3611880"/>
            <a:ext cx="2011680" cy="1005840"/>
          </a:xfrm>
          <a:prstGeom prst="roundRect">
            <a:avLst>
              <a:gd name="adj" fmla="val 10909"/>
            </a:avLst>
          </a:prstGeom>
          <a:solidFill>
            <a:schemeClr val="bg2"/>
          </a:solidFill>
          <a:ln w="12700">
            <a:solidFill>
              <a:schemeClr val="bg2"/>
            </a:solidFill>
            <a:prstDash val="solid"/>
          </a:ln>
        </p:spPr>
      </p:sp>
      <p:sp>
        <p:nvSpPr>
          <p:cNvPr id="30" name="Icon circle"/>
          <p:cNvSpPr/>
          <p:nvPr/>
        </p:nvSpPr>
        <p:spPr>
          <a:xfrm>
            <a:off x="5271516" y="3886200"/>
            <a:ext cx="457200" cy="457200"/>
          </a:xfrm>
          <a:prstGeom prst="ellipse">
            <a:avLst/>
          </a:prstGeom>
          <a:solidFill>
            <a:schemeClr val="accent1"/>
          </a:solidFill>
          <a:ln w="12700">
            <a:solidFill>
              <a:schemeClr val="accent1"/>
            </a:solidFill>
            <a:prstDash val="solid"/>
          </a:ln>
        </p:spPr>
      </p:sp>
      <p:pic>
        <p:nvPicPr>
          <p:cNvPr id="31" name="Icon FaMemory" descr="Memory icon">    </p:cNvPr>
          <p:cNvPicPr>
            <a:picLocks noChangeAspect="1"/>
          </p:cNvPicPr>
          <p:nvPr/>
        </p:nvPicPr>
        <p:blipFill>
          <a:blip r:embed="rId6"/>
          <a:stretch>
            <a:fillRect/>
          </a:stretch>
        </p:blipFill>
        <p:spPr>
          <a:xfrm>
            <a:off x="5385816" y="4000500"/>
            <a:ext cx="228600" cy="228600"/>
          </a:xfrm>
          <a:prstGeom prst="rect">
            <a:avLst/>
          </a:prstGeom>
        </p:spPr>
      </p:pic>
      <p:sp>
        <p:nvSpPr>
          <p:cNvPr id="32" name="Text 24"/>
          <p:cNvSpPr txBox="1"/>
          <p:nvPr/>
        </p:nvSpPr>
        <p:spPr>
          <a:xfrm>
            <a:off x="5865876" y="3611880"/>
            <a:ext cx="1143000" cy="1005840"/>
          </a:xfrm>
          <a:prstGeom prst="rect">
            <a:avLst/>
          </a:prstGeom>
          <a:noFill/>
          <a:ln/>
        </p:spPr>
        <p:txBody>
          <a:bodyPr wrap="square" lIns="0" tIns="0" rIns="0" bIns="0" rtlCol="0" anchor="ctr"/>
          <a:lstStyle/>
          <a:p>
            <a:pPr indent="0" marL="0">
              <a:buNone/>
            </a:pPr>
            <a:r>
              <a:rPr lang="en-US" sz="1400" b="1" dirty="0">
                <a:solidFill>
                  <a:schemeClr val="tx1"/>
                </a:solidFill>
              </a:rPr>
              <a:t>JVM memory</a:t>
            </a:r>
            <a:endParaRPr lang="en-US" sz="1400" dirty="0"/>
          </a:p>
        </p:txBody>
      </p:sp>
      <p:sp>
        <p:nvSpPr>
          <p:cNvPr id="33" name="Metric Request count"/>
          <p:cNvSpPr/>
          <p:nvPr/>
        </p:nvSpPr>
        <p:spPr>
          <a:xfrm>
            <a:off x="7358634" y="3611880"/>
            <a:ext cx="2011680" cy="1005840"/>
          </a:xfrm>
          <a:prstGeom prst="roundRect">
            <a:avLst>
              <a:gd name="adj" fmla="val 10909"/>
            </a:avLst>
          </a:prstGeom>
          <a:solidFill>
            <a:schemeClr val="bg2"/>
          </a:solidFill>
          <a:ln w="12700">
            <a:solidFill>
              <a:schemeClr val="bg2"/>
            </a:solidFill>
            <a:prstDash val="solid"/>
          </a:ln>
        </p:spPr>
      </p:sp>
      <p:sp>
        <p:nvSpPr>
          <p:cNvPr id="34" name="Icon circle"/>
          <p:cNvSpPr/>
          <p:nvPr/>
        </p:nvSpPr>
        <p:spPr>
          <a:xfrm>
            <a:off x="7541514" y="3886200"/>
            <a:ext cx="457200" cy="457200"/>
          </a:xfrm>
          <a:prstGeom prst="ellipse">
            <a:avLst/>
          </a:prstGeom>
          <a:solidFill>
            <a:schemeClr val="accent1"/>
          </a:solidFill>
          <a:ln w="12700">
            <a:solidFill>
              <a:schemeClr val="accent1"/>
            </a:solidFill>
            <a:prstDash val="solid"/>
          </a:ln>
        </p:spPr>
      </p:sp>
      <p:pic>
        <p:nvPicPr>
          <p:cNvPr id="35" name="Icon FaStream" descr="Stream icon">    </p:cNvPr>
          <p:cNvPicPr>
            <a:picLocks noChangeAspect="1"/>
          </p:cNvPicPr>
          <p:nvPr/>
        </p:nvPicPr>
        <p:blipFill>
          <a:blip r:embed="rId7"/>
          <a:stretch>
            <a:fillRect/>
          </a:stretch>
        </p:blipFill>
        <p:spPr>
          <a:xfrm>
            <a:off x="7655814" y="4000500"/>
            <a:ext cx="228600" cy="228600"/>
          </a:xfrm>
          <a:prstGeom prst="rect">
            <a:avLst/>
          </a:prstGeom>
        </p:spPr>
      </p:pic>
      <p:sp>
        <p:nvSpPr>
          <p:cNvPr id="36" name="Text 27"/>
          <p:cNvSpPr txBox="1"/>
          <p:nvPr/>
        </p:nvSpPr>
        <p:spPr>
          <a:xfrm>
            <a:off x="8135874" y="3611880"/>
            <a:ext cx="1143000" cy="1005840"/>
          </a:xfrm>
          <a:prstGeom prst="rect">
            <a:avLst/>
          </a:prstGeom>
          <a:noFill/>
          <a:ln/>
        </p:spPr>
        <p:txBody>
          <a:bodyPr wrap="square" lIns="0" tIns="0" rIns="0" bIns="0" rtlCol="0" anchor="ctr"/>
          <a:lstStyle/>
          <a:p>
            <a:pPr indent="0" marL="0">
              <a:buNone/>
            </a:pPr>
            <a:r>
              <a:rPr lang="en-US" sz="1400" b="1" dirty="0">
                <a:solidFill>
                  <a:schemeClr val="tx1"/>
                </a:solidFill>
              </a:rPr>
              <a:t>Request count</a:t>
            </a:r>
            <a:endParaRPr lang="en-US" sz="1400" dirty="0"/>
          </a:p>
        </p:txBody>
      </p:sp>
      <p:sp>
        <p:nvSpPr>
          <p:cNvPr id="37" name="Metric Error rate"/>
          <p:cNvSpPr/>
          <p:nvPr/>
        </p:nvSpPr>
        <p:spPr>
          <a:xfrm>
            <a:off x="9628632" y="3611880"/>
            <a:ext cx="2011680" cy="1005840"/>
          </a:xfrm>
          <a:prstGeom prst="roundRect">
            <a:avLst>
              <a:gd name="adj" fmla="val 10909"/>
            </a:avLst>
          </a:prstGeom>
          <a:solidFill>
            <a:schemeClr val="bg2"/>
          </a:solidFill>
          <a:ln w="12700">
            <a:solidFill>
              <a:schemeClr val="bg2"/>
            </a:solidFill>
            <a:prstDash val="solid"/>
          </a:ln>
        </p:spPr>
      </p:sp>
      <p:sp>
        <p:nvSpPr>
          <p:cNvPr id="38" name="Icon circle"/>
          <p:cNvSpPr/>
          <p:nvPr/>
        </p:nvSpPr>
        <p:spPr>
          <a:xfrm>
            <a:off x="9811512" y="3886200"/>
            <a:ext cx="457200" cy="457200"/>
          </a:xfrm>
          <a:prstGeom prst="ellipse">
            <a:avLst/>
          </a:prstGeom>
          <a:solidFill>
            <a:schemeClr val="accent1"/>
          </a:solidFill>
          <a:ln w="12700">
            <a:solidFill>
              <a:schemeClr val="accent1"/>
            </a:solidFill>
            <a:prstDash val="solid"/>
          </a:ln>
        </p:spPr>
      </p:sp>
      <p:pic>
        <p:nvPicPr>
          <p:cNvPr id="39" name="Icon FaBug" descr="Bug icon">    </p:cNvPr>
          <p:cNvPicPr>
            <a:picLocks noChangeAspect="1"/>
          </p:cNvPicPr>
          <p:nvPr/>
        </p:nvPicPr>
        <p:blipFill>
          <a:blip r:embed="rId8"/>
          <a:stretch>
            <a:fillRect/>
          </a:stretch>
        </p:blipFill>
        <p:spPr>
          <a:xfrm>
            <a:off x="9925812" y="4000500"/>
            <a:ext cx="228600" cy="228600"/>
          </a:xfrm>
          <a:prstGeom prst="rect">
            <a:avLst/>
          </a:prstGeom>
        </p:spPr>
      </p:pic>
      <p:sp>
        <p:nvSpPr>
          <p:cNvPr id="40" name="Text 30"/>
          <p:cNvSpPr txBox="1"/>
          <p:nvPr/>
        </p:nvSpPr>
        <p:spPr>
          <a:xfrm>
            <a:off x="10405872" y="3611880"/>
            <a:ext cx="1143000" cy="1005840"/>
          </a:xfrm>
          <a:prstGeom prst="rect">
            <a:avLst/>
          </a:prstGeom>
          <a:noFill/>
          <a:ln/>
        </p:spPr>
        <p:txBody>
          <a:bodyPr wrap="square" lIns="0" tIns="0" rIns="0" bIns="0" rtlCol="0" anchor="ctr"/>
          <a:lstStyle/>
          <a:p>
            <a:pPr indent="0" marL="0">
              <a:buNone/>
            </a:pPr>
            <a:r>
              <a:rPr lang="en-US" sz="1400" b="1" dirty="0">
                <a:solidFill>
                  <a:schemeClr val="tx1"/>
                </a:solidFill>
              </a:rPr>
              <a:t>Error rate</a:t>
            </a:r>
            <a:endParaRPr lang="en-US" sz="1400" dirty="0"/>
          </a:p>
        </p:txBody>
      </p:sp>
      <p:sp>
        <p:nvSpPr>
          <p:cNvPr id="41" name="Status callout"/>
          <p:cNvSpPr/>
          <p:nvPr/>
        </p:nvSpPr>
        <p:spPr>
          <a:xfrm>
            <a:off x="548640" y="4937760"/>
            <a:ext cx="11091672" cy="1188720"/>
          </a:xfrm>
          <a:prstGeom prst="roundRect">
            <a:avLst>
              <a:gd name="adj" fmla="val 9231"/>
            </a:avLst>
          </a:prstGeom>
          <a:solidFill>
            <a:schemeClr val="accent5"/>
          </a:solidFill>
          <a:ln w="12700">
            <a:solidFill>
              <a:schemeClr val="accent5"/>
            </a:solidFill>
            <a:prstDash val="solid"/>
          </a:ln>
        </p:spPr>
      </p:sp>
      <p:sp>
        <p:nvSpPr>
          <p:cNvPr id="42" name="Icon circle"/>
          <p:cNvSpPr/>
          <p:nvPr/>
        </p:nvSpPr>
        <p:spPr>
          <a:xfrm>
            <a:off x="822960" y="5257800"/>
            <a:ext cx="548640" cy="548640"/>
          </a:xfrm>
          <a:prstGeom prst="ellipse">
            <a:avLst/>
          </a:prstGeom>
          <a:solidFill>
            <a:schemeClr val="accent3"/>
          </a:solidFill>
          <a:ln w="12700">
            <a:solidFill>
              <a:schemeClr val="accent3"/>
            </a:solidFill>
            <a:prstDash val="solid"/>
          </a:ln>
        </p:spPr>
      </p:sp>
      <p:pic>
        <p:nvPicPr>
          <p:cNvPr id="43" name="Icon FaLightbulb" descr="Lightbulb icon">    </p:cNvPr>
          <p:cNvPicPr>
            <a:picLocks noChangeAspect="1"/>
          </p:cNvPicPr>
          <p:nvPr/>
        </p:nvPicPr>
        <p:blipFill>
          <a:blip r:embed="rId9"/>
          <a:stretch>
            <a:fillRect/>
          </a:stretch>
        </p:blipFill>
        <p:spPr>
          <a:xfrm>
            <a:off x="960120" y="5394960"/>
            <a:ext cx="274320" cy="274320"/>
          </a:xfrm>
          <a:prstGeom prst="rect">
            <a:avLst/>
          </a:prstGeom>
        </p:spPr>
      </p:pic>
      <p:sp>
        <p:nvSpPr>
          <p:cNvPr id="44" name="Text 33"/>
          <p:cNvSpPr txBox="1"/>
          <p:nvPr/>
        </p:nvSpPr>
        <p:spPr>
          <a:xfrm>
            <a:off x="1645920" y="4937760"/>
            <a:ext cx="9628632" cy="1188720"/>
          </a:xfrm>
          <a:prstGeom prst="rect">
            <a:avLst/>
          </a:prstGeom>
          <a:noFill/>
          <a:ln/>
        </p:spPr>
        <p:txBody>
          <a:bodyPr wrap="square" lIns="0" tIns="0" rIns="0" bIns="0" rtlCol="0" anchor="ctr"/>
          <a:lstStyle/>
          <a:p>
            <a:pPr indent="0" marL="0">
              <a:buNone/>
            </a:pPr>
            <a:r>
              <a:rPr lang="en-US" sz="1500" dirty="0">
                <a:solidFill>
                  <a:schemeClr val="tx1"/>
                </a:solidFill>
              </a:rPr>
              <a:t>Status: the monitoring stack is deployed in its own namespace. The Spring Boot Actuator dependency still needs to be added so the metrics and health endpoints respond.</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Dashboard design for the monitoring stack</a:t>
            </a:r>
            <a:endParaRPr lang="en-US" sz="3200" dirty="0"/>
          </a:p>
        </p:txBody>
      </p:sp>
      <p:sp>
        <p:nvSpPr>
          <p:cNvPr id="3" name="Frame image16.png"/>
          <p:cNvSpPr/>
          <p:nvPr/>
        </p:nvSpPr>
        <p:spPr>
          <a:xfrm>
            <a:off x="548640" y="1435608"/>
            <a:ext cx="7095744" cy="3985621"/>
          </a:xfrm>
          <a:prstGeom prst="roundRect">
            <a:avLst>
              <a:gd name="adj" fmla="val 1377"/>
            </a:avLst>
          </a:prstGeom>
          <a:solidFill>
            <a:srgbClr val="FFFFFF"/>
          </a:solidFill>
          <a:ln w="12700">
            <a:solidFill>
              <a:srgbClr val="BFDDE0"/>
            </a:solidFill>
            <a:prstDash val="solid"/>
          </a:ln>
        </p:spPr>
      </p:sp>
      <p:pic>
        <p:nvPicPr>
          <p:cNvPr id="4" name="Screenshot image16.png" descr="Grafana dashboard design with four panels">    </p:cNvPr>
          <p:cNvPicPr>
            <a:picLocks noChangeAspect="1"/>
          </p:cNvPicPr>
          <p:nvPr/>
        </p:nvPicPr>
        <p:blipFill>
          <a:blip r:embed="rId1"/>
          <a:stretch>
            <a:fillRect/>
          </a:stretch>
        </p:blipFill>
        <p:spPr>
          <a:xfrm>
            <a:off x="621792" y="1508760"/>
            <a:ext cx="6949440" cy="3839317"/>
          </a:xfrm>
          <a:prstGeom prst="rect">
            <a:avLst/>
          </a:prstGeom>
        </p:spPr>
      </p:pic>
      <p:sp>
        <p:nvSpPr>
          <p:cNvPr id="5" name="Pill Illustrative mockup, not a live capture"/>
          <p:cNvSpPr txBox="1"/>
          <p:nvPr/>
        </p:nvSpPr>
        <p:spPr>
          <a:xfrm>
            <a:off x="621792" y="5669280"/>
            <a:ext cx="4023360" cy="384048"/>
          </a:xfrm>
          <a:prstGeom prst="roundRect">
            <a:avLst>
              <a:gd name="adj" fmla="val 47619"/>
            </a:avLst>
          </a:prstGeom>
          <a:solidFill>
            <a:schemeClr val="accent5"/>
          </a:solidFill>
          <a:ln>
            <a:solidFill>
              <a:schemeClr val="accent5"/>
            </a:solidFill>
          </a:ln>
        </p:spPr>
        <p:txBody>
          <a:bodyPr wrap="square" lIns="0" tIns="0" rIns="0" bIns="0" rtlCol="0" anchor="ctr"/>
          <a:lstStyle/>
          <a:p>
            <a:pPr algn="ctr" indent="0" marL="0">
              <a:buNone/>
            </a:pPr>
            <a:r>
              <a:rPr lang="en-US" sz="1300" b="1" dirty="0">
                <a:solidFill>
                  <a:schemeClr val="tx1"/>
                </a:solidFill>
              </a:rPr>
              <a:t>Illustrative mockup, not a live capture</a:t>
            </a:r>
            <a:endParaRPr lang="en-US" sz="1300" dirty="0"/>
          </a:p>
        </p:txBody>
      </p:sp>
      <p:sp>
        <p:nvSpPr>
          <p:cNvPr id="6" name="Panels card"/>
          <p:cNvSpPr/>
          <p:nvPr/>
        </p:nvSpPr>
        <p:spPr>
          <a:xfrm>
            <a:off x="8092440" y="1417320"/>
            <a:ext cx="3547872" cy="4572000"/>
          </a:xfrm>
          <a:prstGeom prst="roundRect">
            <a:avLst>
              <a:gd name="adj" fmla="val 3093"/>
            </a:avLst>
          </a:prstGeom>
          <a:solidFill>
            <a:schemeClr val="bg2"/>
          </a:solidFill>
          <a:ln w="12700">
            <a:solidFill>
              <a:schemeClr val="bg2"/>
            </a:solidFill>
            <a:prstDash val="solid"/>
          </a:ln>
        </p:spPr>
      </p:sp>
      <p:sp>
        <p:nvSpPr>
          <p:cNvPr id="7" name="Icon circle"/>
          <p:cNvSpPr/>
          <p:nvPr/>
        </p:nvSpPr>
        <p:spPr>
          <a:xfrm>
            <a:off x="8366760" y="1691640"/>
            <a:ext cx="640080" cy="640080"/>
          </a:xfrm>
          <a:prstGeom prst="ellipse">
            <a:avLst/>
          </a:prstGeom>
          <a:solidFill>
            <a:schemeClr val="accent1"/>
          </a:solidFill>
          <a:ln w="12700">
            <a:solidFill>
              <a:schemeClr val="accent1"/>
            </a:solidFill>
            <a:prstDash val="solid"/>
          </a:ln>
        </p:spPr>
      </p:sp>
      <p:pic>
        <p:nvPicPr>
          <p:cNvPr id="8" name="Icon FaChartLine" descr="ChartLine icon">    </p:cNvPr>
          <p:cNvPicPr>
            <a:picLocks noChangeAspect="1"/>
          </p:cNvPicPr>
          <p:nvPr/>
        </p:nvPicPr>
        <p:blipFill>
          <a:blip r:embed="rId2"/>
          <a:stretch>
            <a:fillRect/>
          </a:stretch>
        </p:blipFill>
        <p:spPr>
          <a:xfrm>
            <a:off x="8526780" y="1851660"/>
            <a:ext cx="320040" cy="320040"/>
          </a:xfrm>
          <a:prstGeom prst="rect">
            <a:avLst/>
          </a:prstGeom>
        </p:spPr>
      </p:pic>
      <p:sp>
        <p:nvSpPr>
          <p:cNvPr id="9" name="Text 5"/>
          <p:cNvSpPr txBox="1"/>
          <p:nvPr/>
        </p:nvSpPr>
        <p:spPr>
          <a:xfrm>
            <a:off x="9189720" y="1691640"/>
            <a:ext cx="2331720" cy="640080"/>
          </a:xfrm>
          <a:prstGeom prst="rect">
            <a:avLst/>
          </a:prstGeom>
          <a:noFill/>
          <a:ln/>
        </p:spPr>
        <p:txBody>
          <a:bodyPr wrap="square" lIns="0" tIns="0" rIns="0" bIns="0" rtlCol="0" anchor="ctr"/>
          <a:lstStyle/>
          <a:p>
            <a:pPr indent="0" marL="0">
              <a:buNone/>
            </a:pPr>
            <a:r>
              <a:rPr lang="en-US" sz="1800" b="1" dirty="0">
                <a:solidFill>
                  <a:schemeClr val="tx1"/>
                </a:solidFill>
              </a:rPr>
              <a:t>Panels in the design</a:t>
            </a:r>
            <a:endParaRPr lang="en-US" sz="1800" dirty="0"/>
          </a:p>
        </p:txBody>
      </p:sp>
      <p:sp>
        <p:nvSpPr>
          <p:cNvPr id="10" name="Text 6"/>
          <p:cNvSpPr txBox="1"/>
          <p:nvPr/>
        </p:nvSpPr>
        <p:spPr>
          <a:xfrm>
            <a:off x="8366760" y="2606040"/>
            <a:ext cx="301752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Service status from the Prometheus up metric</a:t>
            </a:r>
            <a:endParaRPr lang="en-US" sz="1500" dirty="0"/>
          </a:p>
          <a:p>
            <a:pPr marL="342900" indent="-342900">
              <a:spcAft>
                <a:spcPts val="800"/>
              </a:spcAft>
              <a:buSzPct val="100000"/>
              <a:buChar char="•"/>
            </a:pPr>
            <a:r>
              <a:rPr lang="en-US" sz="1500" dirty="0">
                <a:solidFill>
                  <a:schemeClr val="tx1"/>
                </a:solidFill>
              </a:rPr>
              <a:t>Average request latency</a:t>
            </a:r>
            <a:endParaRPr lang="en-US" sz="1500" dirty="0"/>
          </a:p>
          <a:p>
            <a:pPr marL="342900" indent="-342900">
              <a:spcAft>
                <a:spcPts val="800"/>
              </a:spcAft>
              <a:buSzPct val="100000"/>
              <a:buChar char="•"/>
            </a:pPr>
            <a:r>
              <a:rPr lang="en-US" sz="1500" dirty="0">
                <a:solidFill>
                  <a:schemeClr val="tx1"/>
                </a:solidFill>
              </a:rPr>
              <a:t>HTTP request rate over time</a:t>
            </a:r>
            <a:endParaRPr lang="en-US" sz="1500" dirty="0"/>
          </a:p>
          <a:p>
            <a:pPr marL="342900" indent="-342900">
              <a:spcAft>
                <a:spcPts val="800"/>
              </a:spcAft>
              <a:buSzPct val="100000"/>
              <a:buChar char="•"/>
            </a:pPr>
            <a:r>
              <a:rPr lang="en-US" sz="1500" dirty="0">
                <a:solidFill>
                  <a:schemeClr val="tx1"/>
                </a:solidFill>
              </a:rPr>
              <a:t>HTTP 5xx error rate</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project by the numbers</a:t>
            </a:r>
            <a:endParaRPr lang="en-US" sz="3200" dirty="0"/>
          </a:p>
        </p:txBody>
      </p:sp>
      <p:sp>
        <p:nvSpPr>
          <p:cNvPr id="3" name="Stat Pipeline jobs"/>
          <p:cNvSpPr/>
          <p:nvPr/>
        </p:nvSpPr>
        <p:spPr>
          <a:xfrm>
            <a:off x="548640" y="1463040"/>
            <a:ext cx="2075688" cy="2011680"/>
          </a:xfrm>
          <a:prstGeom prst="roundRect">
            <a:avLst>
              <a:gd name="adj" fmla="val 5455"/>
            </a:avLst>
          </a:prstGeom>
          <a:solidFill>
            <a:schemeClr val="bg2"/>
          </a:solidFill>
          <a:ln w="12700">
            <a:solidFill>
              <a:schemeClr val="bg2"/>
            </a:solidFill>
            <a:prstDash val="solid"/>
          </a:ln>
        </p:spPr>
      </p:sp>
      <p:sp>
        <p:nvSpPr>
          <p:cNvPr id="4" name="Text 2"/>
          <p:cNvSpPr txBox="1"/>
          <p:nvPr/>
        </p:nvSpPr>
        <p:spPr>
          <a:xfrm>
            <a:off x="548640" y="1737360"/>
            <a:ext cx="2075688" cy="914400"/>
          </a:xfrm>
          <a:prstGeom prst="rect">
            <a:avLst/>
          </a:prstGeom>
          <a:noFill/>
          <a:ln/>
        </p:spPr>
        <p:txBody>
          <a:bodyPr wrap="square" lIns="0" tIns="0" rIns="0" bIns="0" rtlCol="0" anchor="ctr"/>
          <a:lstStyle/>
          <a:p>
            <a:pPr algn="ctr" indent="0" marL="0">
              <a:buNone/>
            </a:pPr>
            <a:r>
              <a:rPr lang="en-US" sz="5400" b="1" dirty="0">
                <a:solidFill>
                  <a:schemeClr val="accent1"/>
                </a:solidFill>
              </a:rPr>
              <a:t>3</a:t>
            </a:r>
            <a:endParaRPr lang="en-US" sz="5400" dirty="0"/>
          </a:p>
        </p:txBody>
      </p:sp>
      <p:sp>
        <p:nvSpPr>
          <p:cNvPr id="5" name="Text 3"/>
          <p:cNvSpPr txBox="1"/>
          <p:nvPr/>
        </p:nvSpPr>
        <p:spPr>
          <a:xfrm>
            <a:off x="731520" y="274320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Pipeline jobs</a:t>
            </a:r>
            <a:endParaRPr lang="en-US" sz="1400" dirty="0"/>
          </a:p>
        </p:txBody>
      </p:sp>
      <p:sp>
        <p:nvSpPr>
          <p:cNvPr id="6" name="Stat Production pods"/>
          <p:cNvSpPr/>
          <p:nvPr/>
        </p:nvSpPr>
        <p:spPr>
          <a:xfrm>
            <a:off x="2802636" y="1463040"/>
            <a:ext cx="2075688" cy="2011680"/>
          </a:xfrm>
          <a:prstGeom prst="roundRect">
            <a:avLst>
              <a:gd name="adj" fmla="val 5455"/>
            </a:avLst>
          </a:prstGeom>
          <a:solidFill>
            <a:schemeClr val="accent4"/>
          </a:solidFill>
          <a:ln w="12700">
            <a:solidFill>
              <a:schemeClr val="accent4"/>
            </a:solidFill>
            <a:prstDash val="solid"/>
          </a:ln>
        </p:spPr>
      </p:sp>
      <p:sp>
        <p:nvSpPr>
          <p:cNvPr id="7" name="Text 5"/>
          <p:cNvSpPr txBox="1"/>
          <p:nvPr/>
        </p:nvSpPr>
        <p:spPr>
          <a:xfrm>
            <a:off x="2802636" y="1737360"/>
            <a:ext cx="2075688" cy="914400"/>
          </a:xfrm>
          <a:prstGeom prst="rect">
            <a:avLst/>
          </a:prstGeom>
          <a:noFill/>
          <a:ln/>
        </p:spPr>
        <p:txBody>
          <a:bodyPr wrap="square" lIns="0" tIns="0" rIns="0" bIns="0" rtlCol="0" anchor="ctr"/>
          <a:lstStyle/>
          <a:p>
            <a:pPr algn="ctr" indent="0" marL="0">
              <a:buNone/>
            </a:pPr>
            <a:r>
              <a:rPr lang="en-US" sz="5400" b="1" dirty="0">
                <a:solidFill>
                  <a:schemeClr val="accent2"/>
                </a:solidFill>
              </a:rPr>
              <a:t>5</a:t>
            </a:r>
            <a:endParaRPr lang="en-US" sz="5400" dirty="0"/>
          </a:p>
        </p:txBody>
      </p:sp>
      <p:sp>
        <p:nvSpPr>
          <p:cNvPr id="8" name="Text 6"/>
          <p:cNvSpPr txBox="1"/>
          <p:nvPr/>
        </p:nvSpPr>
        <p:spPr>
          <a:xfrm>
            <a:off x="2985516" y="274320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Production pods</a:t>
            </a:r>
            <a:endParaRPr lang="en-US" sz="1400" dirty="0"/>
          </a:p>
        </p:txBody>
      </p:sp>
      <p:sp>
        <p:nvSpPr>
          <p:cNvPr id="9" name="Stat Multi stage images"/>
          <p:cNvSpPr/>
          <p:nvPr/>
        </p:nvSpPr>
        <p:spPr>
          <a:xfrm>
            <a:off x="5056632" y="1463040"/>
            <a:ext cx="2075688" cy="2011680"/>
          </a:xfrm>
          <a:prstGeom prst="roundRect">
            <a:avLst>
              <a:gd name="adj" fmla="val 5455"/>
            </a:avLst>
          </a:prstGeom>
          <a:solidFill>
            <a:schemeClr val="bg2"/>
          </a:solidFill>
          <a:ln w="12700">
            <a:solidFill>
              <a:schemeClr val="bg2"/>
            </a:solidFill>
            <a:prstDash val="solid"/>
          </a:ln>
        </p:spPr>
      </p:sp>
      <p:sp>
        <p:nvSpPr>
          <p:cNvPr id="10" name="Text 8"/>
          <p:cNvSpPr txBox="1"/>
          <p:nvPr/>
        </p:nvSpPr>
        <p:spPr>
          <a:xfrm>
            <a:off x="5056632" y="1737360"/>
            <a:ext cx="2075688" cy="914400"/>
          </a:xfrm>
          <a:prstGeom prst="rect">
            <a:avLst/>
          </a:prstGeom>
          <a:noFill/>
          <a:ln/>
        </p:spPr>
        <p:txBody>
          <a:bodyPr wrap="square" lIns="0" tIns="0" rIns="0" bIns="0" rtlCol="0" anchor="ctr"/>
          <a:lstStyle/>
          <a:p>
            <a:pPr algn="ctr" indent="0" marL="0">
              <a:buNone/>
            </a:pPr>
            <a:r>
              <a:rPr lang="en-US" sz="5400" b="1" dirty="0">
                <a:solidFill>
                  <a:schemeClr val="accent1"/>
                </a:solidFill>
              </a:rPr>
              <a:t>2</a:t>
            </a:r>
            <a:endParaRPr lang="en-US" sz="5400" dirty="0"/>
          </a:p>
        </p:txBody>
      </p:sp>
      <p:sp>
        <p:nvSpPr>
          <p:cNvPr id="11" name="Text 9"/>
          <p:cNvSpPr txBox="1"/>
          <p:nvPr/>
        </p:nvSpPr>
        <p:spPr>
          <a:xfrm>
            <a:off x="5239512" y="274320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Multi stage images</a:t>
            </a:r>
            <a:endParaRPr lang="en-US" sz="1400" dirty="0"/>
          </a:p>
        </p:txBody>
      </p:sp>
      <p:sp>
        <p:nvSpPr>
          <p:cNvPr id="12" name="Stat Ansible tasks"/>
          <p:cNvSpPr/>
          <p:nvPr/>
        </p:nvSpPr>
        <p:spPr>
          <a:xfrm>
            <a:off x="7310628" y="1463040"/>
            <a:ext cx="2075688" cy="2011680"/>
          </a:xfrm>
          <a:prstGeom prst="roundRect">
            <a:avLst>
              <a:gd name="adj" fmla="val 5455"/>
            </a:avLst>
          </a:prstGeom>
          <a:solidFill>
            <a:schemeClr val="accent4"/>
          </a:solidFill>
          <a:ln w="12700">
            <a:solidFill>
              <a:schemeClr val="accent4"/>
            </a:solidFill>
            <a:prstDash val="solid"/>
          </a:ln>
        </p:spPr>
      </p:sp>
      <p:sp>
        <p:nvSpPr>
          <p:cNvPr id="13" name="Text 11"/>
          <p:cNvSpPr txBox="1"/>
          <p:nvPr/>
        </p:nvSpPr>
        <p:spPr>
          <a:xfrm>
            <a:off x="7310628" y="1737360"/>
            <a:ext cx="2075688" cy="914400"/>
          </a:xfrm>
          <a:prstGeom prst="rect">
            <a:avLst/>
          </a:prstGeom>
          <a:noFill/>
          <a:ln/>
        </p:spPr>
        <p:txBody>
          <a:bodyPr wrap="square" lIns="0" tIns="0" rIns="0" bIns="0" rtlCol="0" anchor="ctr"/>
          <a:lstStyle/>
          <a:p>
            <a:pPr algn="ctr" indent="0" marL="0">
              <a:buNone/>
            </a:pPr>
            <a:r>
              <a:rPr lang="en-US" sz="5400" b="1" dirty="0">
                <a:solidFill>
                  <a:schemeClr val="accent2"/>
                </a:solidFill>
              </a:rPr>
              <a:t>10</a:t>
            </a:r>
            <a:endParaRPr lang="en-US" sz="5400" dirty="0"/>
          </a:p>
        </p:txBody>
      </p:sp>
      <p:sp>
        <p:nvSpPr>
          <p:cNvPr id="14" name="Text 12"/>
          <p:cNvSpPr txBox="1"/>
          <p:nvPr/>
        </p:nvSpPr>
        <p:spPr>
          <a:xfrm>
            <a:off x="7493508" y="274320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Ansible tasks</a:t>
            </a:r>
            <a:endParaRPr lang="en-US" sz="1400" dirty="0"/>
          </a:p>
        </p:txBody>
      </p:sp>
      <p:sp>
        <p:nvSpPr>
          <p:cNvPr id="15" name="Stat Kubernetes manifests"/>
          <p:cNvSpPr/>
          <p:nvPr/>
        </p:nvSpPr>
        <p:spPr>
          <a:xfrm>
            <a:off x="9564624" y="1463040"/>
            <a:ext cx="2075688" cy="2011680"/>
          </a:xfrm>
          <a:prstGeom prst="roundRect">
            <a:avLst>
              <a:gd name="adj" fmla="val 5455"/>
            </a:avLst>
          </a:prstGeom>
          <a:solidFill>
            <a:schemeClr val="bg2"/>
          </a:solidFill>
          <a:ln w="12700">
            <a:solidFill>
              <a:schemeClr val="bg2"/>
            </a:solidFill>
            <a:prstDash val="solid"/>
          </a:ln>
        </p:spPr>
      </p:sp>
      <p:sp>
        <p:nvSpPr>
          <p:cNvPr id="16" name="Text 14"/>
          <p:cNvSpPr txBox="1"/>
          <p:nvPr/>
        </p:nvSpPr>
        <p:spPr>
          <a:xfrm>
            <a:off x="9564624" y="1737360"/>
            <a:ext cx="2075688" cy="914400"/>
          </a:xfrm>
          <a:prstGeom prst="rect">
            <a:avLst/>
          </a:prstGeom>
          <a:noFill/>
          <a:ln/>
        </p:spPr>
        <p:txBody>
          <a:bodyPr wrap="square" lIns="0" tIns="0" rIns="0" bIns="0" rtlCol="0" anchor="ctr"/>
          <a:lstStyle/>
          <a:p>
            <a:pPr algn="ctr" indent="0" marL="0">
              <a:buNone/>
            </a:pPr>
            <a:r>
              <a:rPr lang="en-US" sz="5400" b="1" dirty="0">
                <a:solidFill>
                  <a:schemeClr val="accent1"/>
                </a:solidFill>
              </a:rPr>
              <a:t>5</a:t>
            </a:r>
            <a:endParaRPr lang="en-US" sz="5400" dirty="0"/>
          </a:p>
        </p:txBody>
      </p:sp>
      <p:sp>
        <p:nvSpPr>
          <p:cNvPr id="17" name="Text 15"/>
          <p:cNvSpPr txBox="1"/>
          <p:nvPr/>
        </p:nvSpPr>
        <p:spPr>
          <a:xfrm>
            <a:off x="9747504" y="274320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Kubernetes manifests</a:t>
            </a:r>
            <a:endParaRPr lang="en-US" sz="1400" dirty="0"/>
          </a:p>
        </p:txBody>
      </p:sp>
      <p:sp>
        <p:nvSpPr>
          <p:cNvPr id="18" name="Stat Namespaces"/>
          <p:cNvSpPr/>
          <p:nvPr/>
        </p:nvSpPr>
        <p:spPr>
          <a:xfrm>
            <a:off x="548640" y="3703320"/>
            <a:ext cx="2075688" cy="2011680"/>
          </a:xfrm>
          <a:prstGeom prst="roundRect">
            <a:avLst>
              <a:gd name="adj" fmla="val 5455"/>
            </a:avLst>
          </a:prstGeom>
          <a:solidFill>
            <a:schemeClr val="accent4"/>
          </a:solidFill>
          <a:ln w="12700">
            <a:solidFill>
              <a:schemeClr val="accent4"/>
            </a:solidFill>
            <a:prstDash val="solid"/>
          </a:ln>
        </p:spPr>
      </p:sp>
      <p:sp>
        <p:nvSpPr>
          <p:cNvPr id="19" name="Text 17"/>
          <p:cNvSpPr txBox="1"/>
          <p:nvPr/>
        </p:nvSpPr>
        <p:spPr>
          <a:xfrm>
            <a:off x="548640" y="3977640"/>
            <a:ext cx="2075688" cy="914400"/>
          </a:xfrm>
          <a:prstGeom prst="rect">
            <a:avLst/>
          </a:prstGeom>
          <a:noFill/>
          <a:ln/>
        </p:spPr>
        <p:txBody>
          <a:bodyPr wrap="square" lIns="0" tIns="0" rIns="0" bIns="0" rtlCol="0" anchor="ctr"/>
          <a:lstStyle/>
          <a:p>
            <a:pPr algn="ctr" indent="0" marL="0">
              <a:buNone/>
            </a:pPr>
            <a:r>
              <a:rPr lang="en-US" sz="5400" b="1" dirty="0">
                <a:solidFill>
                  <a:schemeClr val="accent2"/>
                </a:solidFill>
              </a:rPr>
              <a:t>2</a:t>
            </a:r>
            <a:endParaRPr lang="en-US" sz="5400" dirty="0"/>
          </a:p>
        </p:txBody>
      </p:sp>
      <p:sp>
        <p:nvSpPr>
          <p:cNvPr id="20" name="Text 18"/>
          <p:cNvSpPr txBox="1"/>
          <p:nvPr/>
        </p:nvSpPr>
        <p:spPr>
          <a:xfrm>
            <a:off x="731520" y="498348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Namespaces</a:t>
            </a:r>
            <a:endParaRPr lang="en-US" sz="1400" dirty="0"/>
          </a:p>
        </p:txBody>
      </p:sp>
      <p:sp>
        <p:nvSpPr>
          <p:cNvPr id="21" name="Stat Second scrape interval"/>
          <p:cNvSpPr/>
          <p:nvPr/>
        </p:nvSpPr>
        <p:spPr>
          <a:xfrm>
            <a:off x="2802636" y="3703320"/>
            <a:ext cx="2075688" cy="2011680"/>
          </a:xfrm>
          <a:prstGeom prst="roundRect">
            <a:avLst>
              <a:gd name="adj" fmla="val 5455"/>
            </a:avLst>
          </a:prstGeom>
          <a:solidFill>
            <a:schemeClr val="bg2"/>
          </a:solidFill>
          <a:ln w="12700">
            <a:solidFill>
              <a:schemeClr val="bg2"/>
            </a:solidFill>
            <a:prstDash val="solid"/>
          </a:ln>
        </p:spPr>
      </p:sp>
      <p:sp>
        <p:nvSpPr>
          <p:cNvPr id="22" name="Text 20"/>
          <p:cNvSpPr txBox="1"/>
          <p:nvPr/>
        </p:nvSpPr>
        <p:spPr>
          <a:xfrm>
            <a:off x="2802636" y="3977640"/>
            <a:ext cx="2075688" cy="914400"/>
          </a:xfrm>
          <a:prstGeom prst="rect">
            <a:avLst/>
          </a:prstGeom>
          <a:noFill/>
          <a:ln/>
        </p:spPr>
        <p:txBody>
          <a:bodyPr wrap="square" lIns="0" tIns="0" rIns="0" bIns="0" rtlCol="0" anchor="ctr"/>
          <a:lstStyle/>
          <a:p>
            <a:pPr algn="ctr" indent="0" marL="0">
              <a:buNone/>
            </a:pPr>
            <a:r>
              <a:rPr lang="en-US" sz="5400" b="1" dirty="0">
                <a:solidFill>
                  <a:schemeClr val="accent1"/>
                </a:solidFill>
              </a:rPr>
              <a:t>15</a:t>
            </a:r>
            <a:endParaRPr lang="en-US" sz="5400" dirty="0"/>
          </a:p>
        </p:txBody>
      </p:sp>
      <p:sp>
        <p:nvSpPr>
          <p:cNvPr id="23" name="Text 21"/>
          <p:cNvSpPr txBox="1"/>
          <p:nvPr/>
        </p:nvSpPr>
        <p:spPr>
          <a:xfrm>
            <a:off x="2985516" y="498348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Second scrape interval</a:t>
            </a:r>
            <a:endParaRPr lang="en-US" sz="1400" dirty="0"/>
          </a:p>
        </p:txBody>
      </p:sp>
      <p:sp>
        <p:nvSpPr>
          <p:cNvPr id="24" name="Stat Clinical input features"/>
          <p:cNvSpPr/>
          <p:nvPr/>
        </p:nvSpPr>
        <p:spPr>
          <a:xfrm>
            <a:off x="5056632" y="3703320"/>
            <a:ext cx="2075688" cy="2011680"/>
          </a:xfrm>
          <a:prstGeom prst="roundRect">
            <a:avLst>
              <a:gd name="adj" fmla="val 5455"/>
            </a:avLst>
          </a:prstGeom>
          <a:solidFill>
            <a:schemeClr val="accent4"/>
          </a:solidFill>
          <a:ln w="12700">
            <a:solidFill>
              <a:schemeClr val="accent4"/>
            </a:solidFill>
            <a:prstDash val="solid"/>
          </a:ln>
        </p:spPr>
      </p:sp>
      <p:sp>
        <p:nvSpPr>
          <p:cNvPr id="25" name="Text 23"/>
          <p:cNvSpPr txBox="1"/>
          <p:nvPr/>
        </p:nvSpPr>
        <p:spPr>
          <a:xfrm>
            <a:off x="5056632" y="3977640"/>
            <a:ext cx="2075688" cy="914400"/>
          </a:xfrm>
          <a:prstGeom prst="rect">
            <a:avLst/>
          </a:prstGeom>
          <a:noFill/>
          <a:ln/>
        </p:spPr>
        <p:txBody>
          <a:bodyPr wrap="square" lIns="0" tIns="0" rIns="0" bIns="0" rtlCol="0" anchor="ctr"/>
          <a:lstStyle/>
          <a:p>
            <a:pPr algn="ctr" indent="0" marL="0">
              <a:buNone/>
            </a:pPr>
            <a:r>
              <a:rPr lang="en-US" sz="5400" b="1" dirty="0">
                <a:solidFill>
                  <a:schemeClr val="accent2"/>
                </a:solidFill>
              </a:rPr>
              <a:t>11</a:t>
            </a:r>
            <a:endParaRPr lang="en-US" sz="5400" dirty="0"/>
          </a:p>
        </p:txBody>
      </p:sp>
      <p:sp>
        <p:nvSpPr>
          <p:cNvPr id="26" name="Text 24"/>
          <p:cNvSpPr txBox="1"/>
          <p:nvPr/>
        </p:nvSpPr>
        <p:spPr>
          <a:xfrm>
            <a:off x="5239512" y="498348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Clinical input features</a:t>
            </a:r>
            <a:endParaRPr lang="en-US" sz="1400" dirty="0"/>
          </a:p>
        </p:txBody>
      </p:sp>
      <p:sp>
        <p:nvSpPr>
          <p:cNvPr id="27" name="Stat Fold cross validation"/>
          <p:cNvSpPr/>
          <p:nvPr/>
        </p:nvSpPr>
        <p:spPr>
          <a:xfrm>
            <a:off x="7310628" y="3703320"/>
            <a:ext cx="2075688" cy="2011680"/>
          </a:xfrm>
          <a:prstGeom prst="roundRect">
            <a:avLst>
              <a:gd name="adj" fmla="val 5455"/>
            </a:avLst>
          </a:prstGeom>
          <a:solidFill>
            <a:schemeClr val="bg2"/>
          </a:solidFill>
          <a:ln w="12700">
            <a:solidFill>
              <a:schemeClr val="bg2"/>
            </a:solidFill>
            <a:prstDash val="solid"/>
          </a:ln>
        </p:spPr>
      </p:sp>
      <p:sp>
        <p:nvSpPr>
          <p:cNvPr id="28" name="Text 26"/>
          <p:cNvSpPr txBox="1"/>
          <p:nvPr/>
        </p:nvSpPr>
        <p:spPr>
          <a:xfrm>
            <a:off x="7310628" y="3977640"/>
            <a:ext cx="2075688" cy="914400"/>
          </a:xfrm>
          <a:prstGeom prst="rect">
            <a:avLst/>
          </a:prstGeom>
          <a:noFill/>
          <a:ln/>
        </p:spPr>
        <p:txBody>
          <a:bodyPr wrap="square" lIns="0" tIns="0" rIns="0" bIns="0" rtlCol="0" anchor="ctr"/>
          <a:lstStyle/>
          <a:p>
            <a:pPr algn="ctr" indent="0" marL="0">
              <a:buNone/>
            </a:pPr>
            <a:r>
              <a:rPr lang="en-US" sz="5400" b="1" dirty="0">
                <a:solidFill>
                  <a:schemeClr val="accent1"/>
                </a:solidFill>
              </a:rPr>
              <a:t>5</a:t>
            </a:r>
            <a:endParaRPr lang="en-US" sz="5400" dirty="0"/>
          </a:p>
        </p:txBody>
      </p:sp>
      <p:sp>
        <p:nvSpPr>
          <p:cNvPr id="29" name="Text 27"/>
          <p:cNvSpPr txBox="1"/>
          <p:nvPr/>
        </p:nvSpPr>
        <p:spPr>
          <a:xfrm>
            <a:off x="7493508" y="498348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Fold cross validation</a:t>
            </a:r>
            <a:endParaRPr lang="en-US" sz="1400" dirty="0"/>
          </a:p>
        </p:txBody>
      </p:sp>
      <p:sp>
        <p:nvSpPr>
          <p:cNvPr id="30" name="Stat Pipeline secrets"/>
          <p:cNvSpPr/>
          <p:nvPr/>
        </p:nvSpPr>
        <p:spPr>
          <a:xfrm>
            <a:off x="9564624" y="3703320"/>
            <a:ext cx="2075688" cy="2011680"/>
          </a:xfrm>
          <a:prstGeom prst="roundRect">
            <a:avLst>
              <a:gd name="adj" fmla="val 5455"/>
            </a:avLst>
          </a:prstGeom>
          <a:solidFill>
            <a:schemeClr val="accent4"/>
          </a:solidFill>
          <a:ln w="12700">
            <a:solidFill>
              <a:schemeClr val="accent4"/>
            </a:solidFill>
            <a:prstDash val="solid"/>
          </a:ln>
        </p:spPr>
      </p:sp>
      <p:sp>
        <p:nvSpPr>
          <p:cNvPr id="31" name="Text 29"/>
          <p:cNvSpPr txBox="1"/>
          <p:nvPr/>
        </p:nvSpPr>
        <p:spPr>
          <a:xfrm>
            <a:off x="9564624" y="3977640"/>
            <a:ext cx="2075688" cy="914400"/>
          </a:xfrm>
          <a:prstGeom prst="rect">
            <a:avLst/>
          </a:prstGeom>
          <a:noFill/>
          <a:ln/>
        </p:spPr>
        <p:txBody>
          <a:bodyPr wrap="square" lIns="0" tIns="0" rIns="0" bIns="0" rtlCol="0" anchor="ctr"/>
          <a:lstStyle/>
          <a:p>
            <a:pPr algn="ctr" indent="0" marL="0">
              <a:buNone/>
            </a:pPr>
            <a:r>
              <a:rPr lang="en-US" sz="5400" b="1" dirty="0">
                <a:solidFill>
                  <a:schemeClr val="accent2"/>
                </a:solidFill>
              </a:rPr>
              <a:t>3</a:t>
            </a:r>
            <a:endParaRPr lang="en-US" sz="5400" dirty="0"/>
          </a:p>
        </p:txBody>
      </p:sp>
      <p:sp>
        <p:nvSpPr>
          <p:cNvPr id="32" name="Text 30"/>
          <p:cNvSpPr txBox="1"/>
          <p:nvPr/>
        </p:nvSpPr>
        <p:spPr>
          <a:xfrm>
            <a:off x="9747504" y="4983480"/>
            <a:ext cx="1709928" cy="594360"/>
          </a:xfrm>
          <a:prstGeom prst="rect">
            <a:avLst/>
          </a:prstGeom>
          <a:noFill/>
          <a:ln/>
        </p:spPr>
        <p:txBody>
          <a:bodyPr wrap="square" lIns="0" tIns="0" rIns="0" bIns="0" rtlCol="0" anchor="t"/>
          <a:lstStyle/>
          <a:p>
            <a:pPr algn="ctr" indent="0" marL="0">
              <a:buNone/>
            </a:pPr>
            <a:r>
              <a:rPr lang="en-US" sz="1400" dirty="0">
                <a:solidFill>
                  <a:schemeClr val="tx1"/>
                </a:solidFill>
              </a:rPr>
              <a:t>Pipeline secrets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Challenges, lessons and what comes next</a:t>
            </a:r>
            <a:endParaRPr lang="en-US" sz="3200" dirty="0"/>
          </a:p>
        </p:txBody>
      </p:sp>
      <p:sp>
        <p:nvSpPr>
          <p:cNvPr id="3" name="Column Challenges"/>
          <p:cNvSpPr/>
          <p:nvPr/>
        </p:nvSpPr>
        <p:spPr>
          <a:xfrm>
            <a:off x="548640" y="1417320"/>
            <a:ext cx="3514344" cy="4297680"/>
          </a:xfrm>
          <a:prstGeom prst="roundRect">
            <a:avLst>
              <a:gd name="adj" fmla="val 3122"/>
            </a:avLst>
          </a:prstGeom>
          <a:solidFill>
            <a:schemeClr val="accent4"/>
          </a:solidFill>
          <a:ln w="12700">
            <a:solidFill>
              <a:schemeClr val="accent4"/>
            </a:solidFill>
            <a:prstDash val="solid"/>
          </a:ln>
        </p:spPr>
      </p:sp>
      <p:sp>
        <p:nvSpPr>
          <p:cNvPr id="4" name="Icon circle"/>
          <p:cNvSpPr/>
          <p:nvPr/>
        </p:nvSpPr>
        <p:spPr>
          <a:xfrm>
            <a:off x="822960" y="1691640"/>
            <a:ext cx="640080" cy="640080"/>
          </a:xfrm>
          <a:prstGeom prst="ellipse">
            <a:avLst/>
          </a:prstGeom>
          <a:solidFill>
            <a:schemeClr val="accent2"/>
          </a:solidFill>
          <a:ln w="12700">
            <a:solidFill>
              <a:schemeClr val="accent2"/>
            </a:solidFill>
            <a:prstDash val="solid"/>
          </a:ln>
        </p:spPr>
      </p:sp>
      <p:pic>
        <p:nvPicPr>
          <p:cNvPr id="5" name="Icon FaExclamationTriangle" descr="ExclamationTriangle icon">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45920" y="1691640"/>
            <a:ext cx="2234184" cy="640080"/>
          </a:xfrm>
          <a:prstGeom prst="rect">
            <a:avLst/>
          </a:prstGeom>
          <a:noFill/>
          <a:ln/>
        </p:spPr>
        <p:txBody>
          <a:bodyPr wrap="square" lIns="0" tIns="0" rIns="0" bIns="0" rtlCol="0" anchor="ctr"/>
          <a:lstStyle/>
          <a:p>
            <a:pPr indent="0" marL="0">
              <a:buNone/>
            </a:pPr>
            <a:r>
              <a:rPr lang="en-US" sz="2200" b="1" dirty="0">
                <a:solidFill>
                  <a:schemeClr val="tx1"/>
                </a:solidFill>
              </a:rPr>
              <a:t>Challenges</a:t>
            </a:r>
            <a:endParaRPr lang="en-US" sz="2200" dirty="0"/>
          </a:p>
        </p:txBody>
      </p:sp>
      <p:sp>
        <p:nvSpPr>
          <p:cNvPr id="7" name="Text 4"/>
          <p:cNvSpPr txBox="1"/>
          <p:nvPr/>
        </p:nvSpPr>
        <p:spPr>
          <a:xfrm>
            <a:off x="822960" y="2651760"/>
            <a:ext cx="2965704"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Single page routing inside Nginx, solved with a try_files rule</a:t>
            </a:r>
            <a:endParaRPr lang="en-US" sz="1700" dirty="0"/>
          </a:p>
          <a:p>
            <a:pPr marL="342900" indent="-342900">
              <a:spcAft>
                <a:spcPts val="800"/>
              </a:spcAft>
              <a:buSzPct val="100000"/>
              <a:buChar char="•"/>
            </a:pPr>
            <a:r>
              <a:rPr lang="en-US" sz="1700" dirty="0">
                <a:solidFill>
                  <a:schemeClr val="tx1"/>
                </a:solidFill>
              </a:rPr>
              <a:t>Injecting database credentials safely into Kubernetes</a:t>
            </a:r>
            <a:endParaRPr lang="en-US" sz="1700" dirty="0"/>
          </a:p>
          <a:p>
            <a:pPr marL="342900" indent="-342900">
              <a:spcAft>
                <a:spcPts val="800"/>
              </a:spcAft>
              <a:buSzPct val="100000"/>
              <a:buChar char="•"/>
            </a:pPr>
            <a:r>
              <a:rPr lang="en-US" sz="1700" dirty="0">
                <a:solidFill>
                  <a:schemeClr val="tx1"/>
                </a:solidFill>
              </a:rPr>
              <a:t>Local MySQL versus containerized PostgreSQL mismatch</a:t>
            </a:r>
            <a:endParaRPr lang="en-US" sz="1700" dirty="0"/>
          </a:p>
        </p:txBody>
      </p:sp>
      <p:sp>
        <p:nvSpPr>
          <p:cNvPr id="8" name="Column Lessons"/>
          <p:cNvSpPr/>
          <p:nvPr/>
        </p:nvSpPr>
        <p:spPr>
          <a:xfrm>
            <a:off x="4337304" y="1417320"/>
            <a:ext cx="3514344" cy="4297680"/>
          </a:xfrm>
          <a:prstGeom prst="roundRect">
            <a:avLst>
              <a:gd name="adj" fmla="val 3122"/>
            </a:avLst>
          </a:prstGeom>
          <a:solidFill>
            <a:schemeClr val="bg2"/>
          </a:solidFill>
          <a:ln w="12700">
            <a:solidFill>
              <a:schemeClr val="bg2"/>
            </a:solidFill>
            <a:prstDash val="solid"/>
          </a:ln>
        </p:spPr>
      </p:sp>
      <p:sp>
        <p:nvSpPr>
          <p:cNvPr id="9" name="Icon circle"/>
          <p:cNvSpPr/>
          <p:nvPr/>
        </p:nvSpPr>
        <p:spPr>
          <a:xfrm>
            <a:off x="4611624" y="1691640"/>
            <a:ext cx="640080" cy="640080"/>
          </a:xfrm>
          <a:prstGeom prst="ellipse">
            <a:avLst/>
          </a:prstGeom>
          <a:solidFill>
            <a:schemeClr val="accent1"/>
          </a:solidFill>
          <a:ln w="12700">
            <a:solidFill>
              <a:schemeClr val="accent1"/>
            </a:solidFill>
            <a:prstDash val="solid"/>
          </a:ln>
        </p:spPr>
      </p:sp>
      <p:pic>
        <p:nvPicPr>
          <p:cNvPr id="10" name="Icon FaLightbulb" descr="Lightbulb icon">    </p:cNvPr>
          <p:cNvPicPr>
            <a:picLocks noChangeAspect="1"/>
          </p:cNvPicPr>
          <p:nvPr/>
        </p:nvPicPr>
        <p:blipFill>
          <a:blip r:embed="rId2"/>
          <a:stretch>
            <a:fillRect/>
          </a:stretch>
        </p:blipFill>
        <p:spPr>
          <a:xfrm>
            <a:off x="4771644" y="1851660"/>
            <a:ext cx="320040" cy="320040"/>
          </a:xfrm>
          <a:prstGeom prst="rect">
            <a:avLst/>
          </a:prstGeom>
        </p:spPr>
      </p:pic>
      <p:sp>
        <p:nvSpPr>
          <p:cNvPr id="11" name="Text 7"/>
          <p:cNvSpPr txBox="1"/>
          <p:nvPr/>
        </p:nvSpPr>
        <p:spPr>
          <a:xfrm>
            <a:off x="5434584" y="1691640"/>
            <a:ext cx="2234184" cy="640080"/>
          </a:xfrm>
          <a:prstGeom prst="rect">
            <a:avLst/>
          </a:prstGeom>
          <a:noFill/>
          <a:ln/>
        </p:spPr>
        <p:txBody>
          <a:bodyPr wrap="square" lIns="0" tIns="0" rIns="0" bIns="0" rtlCol="0" anchor="ctr"/>
          <a:lstStyle/>
          <a:p>
            <a:pPr indent="0" marL="0">
              <a:buNone/>
            </a:pPr>
            <a:r>
              <a:rPr lang="en-US" sz="2200" b="1" dirty="0">
                <a:solidFill>
                  <a:schemeClr val="tx1"/>
                </a:solidFill>
              </a:rPr>
              <a:t>Lessons</a:t>
            </a:r>
            <a:endParaRPr lang="en-US" sz="2200" dirty="0"/>
          </a:p>
        </p:txBody>
      </p:sp>
      <p:sp>
        <p:nvSpPr>
          <p:cNvPr id="12" name="Text 8"/>
          <p:cNvSpPr txBox="1"/>
          <p:nvPr/>
        </p:nvSpPr>
        <p:spPr>
          <a:xfrm>
            <a:off x="4611624" y="2651760"/>
            <a:ext cx="2965704"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Multi stage builds give smaller, safer images</a:t>
            </a:r>
            <a:endParaRPr lang="en-US" sz="1700" dirty="0"/>
          </a:p>
          <a:p>
            <a:pPr marL="342900" indent="-342900">
              <a:spcAft>
                <a:spcPts val="800"/>
              </a:spcAft>
              <a:buSzPct val="100000"/>
              <a:buChar char="•"/>
            </a:pPr>
            <a:r>
              <a:rPr lang="en-US" sz="1700" dirty="0">
                <a:solidFill>
                  <a:schemeClr val="tx1"/>
                </a:solidFill>
              </a:rPr>
              <a:t>Infrastructure as code makes environments reproducible</a:t>
            </a:r>
            <a:endParaRPr lang="en-US" sz="1700" dirty="0"/>
          </a:p>
          <a:p>
            <a:pPr marL="342900" indent="-342900">
              <a:spcAft>
                <a:spcPts val="800"/>
              </a:spcAft>
              <a:buSzPct val="100000"/>
              <a:buChar char="•"/>
            </a:pPr>
            <a:r>
              <a:rPr lang="en-US" sz="1700" dirty="0">
                <a:solidFill>
                  <a:schemeClr val="tx1"/>
                </a:solidFill>
              </a:rPr>
              <a:t>Health probes keep traffic away from unready pods</a:t>
            </a:r>
            <a:endParaRPr lang="en-US" sz="1700" dirty="0"/>
          </a:p>
        </p:txBody>
      </p:sp>
      <p:sp>
        <p:nvSpPr>
          <p:cNvPr id="13" name="Column Next steps"/>
          <p:cNvSpPr/>
          <p:nvPr/>
        </p:nvSpPr>
        <p:spPr>
          <a:xfrm>
            <a:off x="8125968" y="1417320"/>
            <a:ext cx="3514344" cy="4297680"/>
          </a:xfrm>
          <a:prstGeom prst="roundRect">
            <a:avLst>
              <a:gd name="adj" fmla="val 3122"/>
            </a:avLst>
          </a:prstGeom>
          <a:solidFill>
            <a:schemeClr val="accent5"/>
          </a:solidFill>
          <a:ln w="12700">
            <a:solidFill>
              <a:schemeClr val="accent5"/>
            </a:solidFill>
            <a:prstDash val="solid"/>
          </a:ln>
        </p:spPr>
      </p:sp>
      <p:sp>
        <p:nvSpPr>
          <p:cNvPr id="14" name="Icon circle"/>
          <p:cNvSpPr/>
          <p:nvPr/>
        </p:nvSpPr>
        <p:spPr>
          <a:xfrm>
            <a:off x="8400288" y="1691640"/>
            <a:ext cx="640080" cy="640080"/>
          </a:xfrm>
          <a:prstGeom prst="ellipse">
            <a:avLst/>
          </a:prstGeom>
          <a:solidFill>
            <a:schemeClr val="accent3"/>
          </a:solidFill>
          <a:ln w="12700">
            <a:solidFill>
              <a:schemeClr val="accent3"/>
            </a:solidFill>
            <a:prstDash val="solid"/>
          </a:ln>
        </p:spPr>
      </p:sp>
      <p:pic>
        <p:nvPicPr>
          <p:cNvPr id="15" name="Icon FaRoad" descr="Road icon">    </p:cNvPr>
          <p:cNvPicPr>
            <a:picLocks noChangeAspect="1"/>
          </p:cNvPicPr>
          <p:nvPr/>
        </p:nvPicPr>
        <p:blipFill>
          <a:blip r:embed="rId3"/>
          <a:stretch>
            <a:fillRect/>
          </a:stretch>
        </p:blipFill>
        <p:spPr>
          <a:xfrm>
            <a:off x="8560308" y="1851660"/>
            <a:ext cx="320040" cy="320040"/>
          </a:xfrm>
          <a:prstGeom prst="rect">
            <a:avLst/>
          </a:prstGeom>
        </p:spPr>
      </p:pic>
      <p:sp>
        <p:nvSpPr>
          <p:cNvPr id="16" name="Text 11"/>
          <p:cNvSpPr txBox="1"/>
          <p:nvPr/>
        </p:nvSpPr>
        <p:spPr>
          <a:xfrm>
            <a:off x="9223248" y="1691640"/>
            <a:ext cx="2234184" cy="640080"/>
          </a:xfrm>
          <a:prstGeom prst="rect">
            <a:avLst/>
          </a:prstGeom>
          <a:noFill/>
          <a:ln/>
        </p:spPr>
        <p:txBody>
          <a:bodyPr wrap="square" lIns="0" tIns="0" rIns="0" bIns="0" rtlCol="0" anchor="ctr"/>
          <a:lstStyle/>
          <a:p>
            <a:pPr indent="0" marL="0">
              <a:buNone/>
            </a:pPr>
            <a:r>
              <a:rPr lang="en-US" sz="2200" b="1" dirty="0">
                <a:solidFill>
                  <a:schemeClr val="tx1"/>
                </a:solidFill>
              </a:rPr>
              <a:t>Next steps</a:t>
            </a:r>
            <a:endParaRPr lang="en-US" sz="2200" dirty="0"/>
          </a:p>
        </p:txBody>
      </p:sp>
      <p:sp>
        <p:nvSpPr>
          <p:cNvPr id="17" name="Text 12"/>
          <p:cNvSpPr txBox="1"/>
          <p:nvPr/>
        </p:nvSpPr>
        <p:spPr>
          <a:xfrm>
            <a:off x="8400288" y="2651760"/>
            <a:ext cx="2965704"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Containerize the Flask ML service</a:t>
            </a:r>
            <a:endParaRPr lang="en-US" sz="1700" dirty="0"/>
          </a:p>
          <a:p>
            <a:pPr marL="342900" indent="-342900">
              <a:spcAft>
                <a:spcPts val="800"/>
              </a:spcAft>
              <a:buSzPct val="100000"/>
              <a:buChar char="•"/>
            </a:pPr>
            <a:r>
              <a:rPr lang="en-US" sz="1700" dirty="0">
                <a:solidFill>
                  <a:schemeClr val="tx1"/>
                </a:solidFill>
              </a:rPr>
              <a:t>Add Actuator, real tests and image scanning</a:t>
            </a:r>
            <a:endParaRPr lang="en-US" sz="1700" dirty="0"/>
          </a:p>
          <a:p>
            <a:pPr marL="342900" indent="-342900">
              <a:spcAft>
                <a:spcPts val="800"/>
              </a:spcAft>
              <a:buSzPct val="100000"/>
              <a:buChar char="•"/>
            </a:pPr>
            <a:r>
              <a:rPr lang="en-US" sz="1700" dirty="0">
                <a:solidFill>
                  <a:schemeClr val="tx1"/>
                </a:solidFill>
              </a:rPr>
              <a:t>Use environment based credentials, versioned tags and GitOps with ArgoCD</a:t>
            </a:r>
            <a:endParaRPr lang="en-US" sz="17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Thank you</a:t>
            </a:r>
            <a:endParaRPr lang="en-US" sz="3200" dirty="0"/>
          </a:p>
        </p:txBody>
      </p:sp>
      <p:sp>
        <p:nvSpPr>
          <p:cNvPr id="3" name="Text 1"/>
          <p:cNvSpPr txBox="1"/>
          <p:nvPr/>
        </p:nvSpPr>
        <p:spPr>
          <a:xfrm>
            <a:off x="548640" y="1234440"/>
            <a:ext cx="11091672" cy="457200"/>
          </a:xfrm>
          <a:prstGeom prst="rect">
            <a:avLst/>
          </a:prstGeom>
          <a:noFill/>
          <a:ln/>
        </p:spPr>
        <p:txBody>
          <a:bodyPr wrap="square" lIns="0" tIns="0" rIns="0" bIns="0" rtlCol="0" anchor="t"/>
          <a:lstStyle/>
          <a:p>
            <a:pPr indent="0" marL="0">
              <a:buNone/>
            </a:pPr>
            <a:r>
              <a:rPr lang="en-US" sz="2200" dirty="0">
                <a:solidFill>
                  <a:schemeClr val="tx2"/>
                </a:solidFill>
              </a:rPr>
              <a:t>Questions are welcome</a:t>
            </a:r>
            <a:endParaRPr lang="en-US" sz="2200" dirty="0"/>
          </a:p>
        </p:txBody>
      </p:sp>
      <p:sp>
        <p:nvSpPr>
          <p:cNvPr id="4" name="Team card Gunveer Singh"/>
          <p:cNvSpPr/>
          <p:nvPr/>
        </p:nvSpPr>
        <p:spPr>
          <a:xfrm>
            <a:off x="548640" y="2103120"/>
            <a:ext cx="2560320" cy="2651760"/>
          </a:xfrm>
          <a:prstGeom prst="roundRect">
            <a:avLst>
              <a:gd name="adj" fmla="val 4286"/>
            </a:avLst>
          </a:prstGeom>
          <a:solidFill>
            <a:schemeClr val="bg2"/>
          </a:solidFill>
          <a:ln w="12700">
            <a:solidFill>
              <a:schemeClr val="bg2"/>
            </a:solidFill>
            <a:prstDash val="solid"/>
          </a:ln>
        </p:spPr>
      </p:sp>
      <p:sp>
        <p:nvSpPr>
          <p:cNvPr id="5" name="Initials GS"/>
          <p:cNvSpPr txBox="1"/>
          <p:nvPr/>
        </p:nvSpPr>
        <p:spPr>
          <a:xfrm>
            <a:off x="1325880" y="2423160"/>
            <a:ext cx="1005840" cy="10058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800" b="1" dirty="0">
                <a:solidFill>
                  <a:schemeClr val="bg1"/>
                </a:solidFill>
              </a:rPr>
              <a:t>GS</a:t>
            </a:r>
            <a:endParaRPr lang="en-US" sz="2800" dirty="0"/>
          </a:p>
        </p:txBody>
      </p:sp>
      <p:sp>
        <p:nvSpPr>
          <p:cNvPr id="6" name="Text 4"/>
          <p:cNvSpPr txBox="1"/>
          <p:nvPr/>
        </p:nvSpPr>
        <p:spPr>
          <a:xfrm>
            <a:off x="640080" y="3611880"/>
            <a:ext cx="2377440" cy="411480"/>
          </a:xfrm>
          <a:prstGeom prst="rect">
            <a:avLst/>
          </a:prstGeom>
          <a:noFill/>
          <a:ln/>
        </p:spPr>
        <p:txBody>
          <a:bodyPr wrap="square" lIns="0" tIns="0" rIns="0" bIns="0" rtlCol="0" anchor="t"/>
          <a:lstStyle/>
          <a:p>
            <a:pPr algn="ctr" indent="0" marL="0">
              <a:buNone/>
            </a:pPr>
            <a:r>
              <a:rPr lang="en-US" sz="1900" b="1" dirty="0">
                <a:solidFill>
                  <a:schemeClr val="tx1"/>
                </a:solidFill>
              </a:rPr>
              <a:t>Gunveer Singh</a:t>
            </a:r>
            <a:endParaRPr lang="en-US" sz="1900" dirty="0"/>
          </a:p>
        </p:txBody>
      </p:sp>
      <p:sp>
        <p:nvSpPr>
          <p:cNvPr id="7" name="Text 5"/>
          <p:cNvSpPr txBox="1"/>
          <p:nvPr/>
        </p:nvSpPr>
        <p:spPr>
          <a:xfrm>
            <a:off x="640080" y="4069080"/>
            <a:ext cx="2377440" cy="320040"/>
          </a:xfrm>
          <a:prstGeom prst="rect">
            <a:avLst/>
          </a:prstGeom>
          <a:noFill/>
          <a:ln/>
        </p:spPr>
        <p:txBody>
          <a:bodyPr wrap="square" lIns="0" tIns="0" rIns="0" bIns="0" rtlCol="0" anchor="t"/>
          <a:lstStyle/>
          <a:p>
            <a:pPr algn="ctr" indent="0" marL="0">
              <a:buNone/>
            </a:pPr>
            <a:r>
              <a:rPr lang="en-US" sz="1500" dirty="0">
                <a:solidFill>
                  <a:schemeClr val="tx2"/>
                </a:solidFill>
              </a:rPr>
              <a:t>23070122098</a:t>
            </a:r>
            <a:endParaRPr lang="en-US" sz="1500" dirty="0"/>
          </a:p>
        </p:txBody>
      </p:sp>
      <p:sp>
        <p:nvSpPr>
          <p:cNvPr id="8" name="Team card Harsh Rajput"/>
          <p:cNvSpPr/>
          <p:nvPr/>
        </p:nvSpPr>
        <p:spPr>
          <a:xfrm>
            <a:off x="3392424" y="2103120"/>
            <a:ext cx="2560320" cy="2651760"/>
          </a:xfrm>
          <a:prstGeom prst="roundRect">
            <a:avLst>
              <a:gd name="adj" fmla="val 4286"/>
            </a:avLst>
          </a:prstGeom>
          <a:solidFill>
            <a:schemeClr val="accent4"/>
          </a:solidFill>
          <a:ln w="12700">
            <a:solidFill>
              <a:schemeClr val="accent4"/>
            </a:solidFill>
            <a:prstDash val="solid"/>
          </a:ln>
        </p:spPr>
      </p:sp>
      <p:sp>
        <p:nvSpPr>
          <p:cNvPr id="9" name="Initials HR"/>
          <p:cNvSpPr txBox="1"/>
          <p:nvPr/>
        </p:nvSpPr>
        <p:spPr>
          <a:xfrm>
            <a:off x="4169664" y="2423160"/>
            <a:ext cx="1005840" cy="10058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800" b="1" dirty="0">
                <a:solidFill>
                  <a:schemeClr val="bg1"/>
                </a:solidFill>
              </a:rPr>
              <a:t>HR</a:t>
            </a:r>
            <a:endParaRPr lang="en-US" sz="2800" dirty="0"/>
          </a:p>
        </p:txBody>
      </p:sp>
      <p:sp>
        <p:nvSpPr>
          <p:cNvPr id="10" name="Text 8"/>
          <p:cNvSpPr txBox="1"/>
          <p:nvPr/>
        </p:nvSpPr>
        <p:spPr>
          <a:xfrm>
            <a:off x="3483864" y="3611880"/>
            <a:ext cx="2377440" cy="411480"/>
          </a:xfrm>
          <a:prstGeom prst="rect">
            <a:avLst/>
          </a:prstGeom>
          <a:noFill/>
          <a:ln/>
        </p:spPr>
        <p:txBody>
          <a:bodyPr wrap="square" lIns="0" tIns="0" rIns="0" bIns="0" rtlCol="0" anchor="t"/>
          <a:lstStyle/>
          <a:p>
            <a:pPr algn="ctr" indent="0" marL="0">
              <a:buNone/>
            </a:pPr>
            <a:r>
              <a:rPr lang="en-US" sz="1900" b="1" dirty="0">
                <a:solidFill>
                  <a:schemeClr val="tx1"/>
                </a:solidFill>
              </a:rPr>
              <a:t>Harsh Rajput</a:t>
            </a:r>
            <a:endParaRPr lang="en-US" sz="1900" dirty="0"/>
          </a:p>
        </p:txBody>
      </p:sp>
      <p:sp>
        <p:nvSpPr>
          <p:cNvPr id="11" name="Text 9"/>
          <p:cNvSpPr txBox="1"/>
          <p:nvPr/>
        </p:nvSpPr>
        <p:spPr>
          <a:xfrm>
            <a:off x="3483864" y="4069080"/>
            <a:ext cx="2377440" cy="320040"/>
          </a:xfrm>
          <a:prstGeom prst="rect">
            <a:avLst/>
          </a:prstGeom>
          <a:noFill/>
          <a:ln/>
        </p:spPr>
        <p:txBody>
          <a:bodyPr wrap="square" lIns="0" tIns="0" rIns="0" bIns="0" rtlCol="0" anchor="t"/>
          <a:lstStyle/>
          <a:p>
            <a:pPr algn="ctr" indent="0" marL="0">
              <a:buNone/>
            </a:pPr>
            <a:r>
              <a:rPr lang="en-US" sz="1500" dirty="0">
                <a:solidFill>
                  <a:schemeClr val="tx2"/>
                </a:solidFill>
              </a:rPr>
              <a:t>23070122102</a:t>
            </a:r>
            <a:endParaRPr lang="en-US" sz="1500" dirty="0"/>
          </a:p>
        </p:txBody>
      </p:sp>
      <p:sp>
        <p:nvSpPr>
          <p:cNvPr id="12" name="Team card Mohammad Ahmad"/>
          <p:cNvSpPr/>
          <p:nvPr/>
        </p:nvSpPr>
        <p:spPr>
          <a:xfrm>
            <a:off x="6236208" y="2103120"/>
            <a:ext cx="2560320" cy="2651760"/>
          </a:xfrm>
          <a:prstGeom prst="roundRect">
            <a:avLst>
              <a:gd name="adj" fmla="val 4286"/>
            </a:avLst>
          </a:prstGeom>
          <a:solidFill>
            <a:schemeClr val="bg2"/>
          </a:solidFill>
          <a:ln w="12700">
            <a:solidFill>
              <a:schemeClr val="bg2"/>
            </a:solidFill>
            <a:prstDash val="solid"/>
          </a:ln>
        </p:spPr>
      </p:sp>
      <p:sp>
        <p:nvSpPr>
          <p:cNvPr id="13" name="Initials MA"/>
          <p:cNvSpPr txBox="1"/>
          <p:nvPr/>
        </p:nvSpPr>
        <p:spPr>
          <a:xfrm>
            <a:off x="7013448" y="2423160"/>
            <a:ext cx="1005840" cy="10058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800" b="1" dirty="0">
                <a:solidFill>
                  <a:schemeClr val="bg1"/>
                </a:solidFill>
              </a:rPr>
              <a:t>MA</a:t>
            </a:r>
            <a:endParaRPr lang="en-US" sz="2800" dirty="0"/>
          </a:p>
        </p:txBody>
      </p:sp>
      <p:sp>
        <p:nvSpPr>
          <p:cNvPr id="14" name="Text 12"/>
          <p:cNvSpPr txBox="1"/>
          <p:nvPr/>
        </p:nvSpPr>
        <p:spPr>
          <a:xfrm>
            <a:off x="6327648" y="3611880"/>
            <a:ext cx="2377440" cy="411480"/>
          </a:xfrm>
          <a:prstGeom prst="rect">
            <a:avLst/>
          </a:prstGeom>
          <a:noFill/>
          <a:ln/>
        </p:spPr>
        <p:txBody>
          <a:bodyPr wrap="square" lIns="0" tIns="0" rIns="0" bIns="0" rtlCol="0" anchor="t"/>
          <a:lstStyle/>
          <a:p>
            <a:pPr algn="ctr" indent="0" marL="0">
              <a:buNone/>
            </a:pPr>
            <a:r>
              <a:rPr lang="en-US" sz="1900" b="1" dirty="0">
                <a:solidFill>
                  <a:schemeClr val="tx1"/>
                </a:solidFill>
              </a:rPr>
              <a:t>Mohammad Ahmad</a:t>
            </a:r>
            <a:endParaRPr lang="en-US" sz="1900" dirty="0"/>
          </a:p>
        </p:txBody>
      </p:sp>
      <p:sp>
        <p:nvSpPr>
          <p:cNvPr id="15" name="Text 13"/>
          <p:cNvSpPr txBox="1"/>
          <p:nvPr/>
        </p:nvSpPr>
        <p:spPr>
          <a:xfrm>
            <a:off x="6327648" y="4069080"/>
            <a:ext cx="2377440" cy="320040"/>
          </a:xfrm>
          <a:prstGeom prst="rect">
            <a:avLst/>
          </a:prstGeom>
          <a:noFill/>
          <a:ln/>
        </p:spPr>
        <p:txBody>
          <a:bodyPr wrap="square" lIns="0" tIns="0" rIns="0" bIns="0" rtlCol="0" anchor="t"/>
          <a:lstStyle/>
          <a:p>
            <a:pPr algn="ctr" indent="0" marL="0">
              <a:buNone/>
            </a:pPr>
            <a:r>
              <a:rPr lang="en-US" sz="1500" dirty="0">
                <a:solidFill>
                  <a:schemeClr val="tx2"/>
                </a:solidFill>
              </a:rPr>
              <a:t>23070122140</a:t>
            </a:r>
            <a:endParaRPr lang="en-US" sz="1500" dirty="0"/>
          </a:p>
        </p:txBody>
      </p:sp>
      <p:sp>
        <p:nvSpPr>
          <p:cNvPr id="16" name="Team card Raghav Sharma"/>
          <p:cNvSpPr/>
          <p:nvPr/>
        </p:nvSpPr>
        <p:spPr>
          <a:xfrm>
            <a:off x="9079992" y="2103120"/>
            <a:ext cx="2560320" cy="2651760"/>
          </a:xfrm>
          <a:prstGeom prst="roundRect">
            <a:avLst>
              <a:gd name="adj" fmla="val 4286"/>
            </a:avLst>
          </a:prstGeom>
          <a:solidFill>
            <a:schemeClr val="accent4"/>
          </a:solidFill>
          <a:ln w="12700">
            <a:solidFill>
              <a:schemeClr val="accent4"/>
            </a:solidFill>
            <a:prstDash val="solid"/>
          </a:ln>
        </p:spPr>
      </p:sp>
      <p:sp>
        <p:nvSpPr>
          <p:cNvPr id="17" name="Initials RS"/>
          <p:cNvSpPr txBox="1"/>
          <p:nvPr/>
        </p:nvSpPr>
        <p:spPr>
          <a:xfrm>
            <a:off x="9857232" y="2423160"/>
            <a:ext cx="1005840" cy="10058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800" b="1" dirty="0">
                <a:solidFill>
                  <a:schemeClr val="bg1"/>
                </a:solidFill>
              </a:rPr>
              <a:t>RS</a:t>
            </a:r>
            <a:endParaRPr lang="en-US" sz="2800" dirty="0"/>
          </a:p>
        </p:txBody>
      </p:sp>
      <p:sp>
        <p:nvSpPr>
          <p:cNvPr id="18" name="Text 16"/>
          <p:cNvSpPr txBox="1"/>
          <p:nvPr/>
        </p:nvSpPr>
        <p:spPr>
          <a:xfrm>
            <a:off x="9171432" y="3611880"/>
            <a:ext cx="2377440" cy="411480"/>
          </a:xfrm>
          <a:prstGeom prst="rect">
            <a:avLst/>
          </a:prstGeom>
          <a:noFill/>
          <a:ln/>
        </p:spPr>
        <p:txBody>
          <a:bodyPr wrap="square" lIns="0" tIns="0" rIns="0" bIns="0" rtlCol="0" anchor="t"/>
          <a:lstStyle/>
          <a:p>
            <a:pPr algn="ctr" indent="0" marL="0">
              <a:buNone/>
            </a:pPr>
            <a:r>
              <a:rPr lang="en-US" sz="1900" b="1" dirty="0">
                <a:solidFill>
                  <a:schemeClr val="tx1"/>
                </a:solidFill>
              </a:rPr>
              <a:t>Raghav Sharma</a:t>
            </a:r>
            <a:endParaRPr lang="en-US" sz="1900" dirty="0"/>
          </a:p>
        </p:txBody>
      </p:sp>
      <p:sp>
        <p:nvSpPr>
          <p:cNvPr id="19" name="Text 17"/>
          <p:cNvSpPr txBox="1"/>
          <p:nvPr/>
        </p:nvSpPr>
        <p:spPr>
          <a:xfrm>
            <a:off x="9171432" y="4069080"/>
            <a:ext cx="2377440" cy="320040"/>
          </a:xfrm>
          <a:prstGeom prst="rect">
            <a:avLst/>
          </a:prstGeom>
          <a:noFill/>
          <a:ln/>
        </p:spPr>
        <p:txBody>
          <a:bodyPr wrap="square" lIns="0" tIns="0" rIns="0" bIns="0" rtlCol="0" anchor="t"/>
          <a:lstStyle/>
          <a:p>
            <a:pPr algn="ctr" indent="0" marL="0">
              <a:buNone/>
            </a:pPr>
            <a:r>
              <a:rPr lang="en-US" sz="1500" dirty="0">
                <a:solidFill>
                  <a:schemeClr val="tx2"/>
                </a:solidFill>
              </a:rPr>
              <a:t>23070122171</a:t>
            </a:r>
            <a:endParaRPr lang="en-US" sz="1500" dirty="0"/>
          </a:p>
        </p:txBody>
      </p:sp>
      <p:sp>
        <p:nvSpPr>
          <p:cNvPr id="20" name="Icon circle"/>
          <p:cNvSpPr/>
          <p:nvPr/>
        </p:nvSpPr>
        <p:spPr>
          <a:xfrm>
            <a:off x="548640" y="5257800"/>
            <a:ext cx="640080" cy="640080"/>
          </a:xfrm>
          <a:prstGeom prst="ellipse">
            <a:avLst/>
          </a:prstGeom>
          <a:solidFill>
            <a:schemeClr val="accent2"/>
          </a:solidFill>
          <a:ln w="12700">
            <a:solidFill>
              <a:schemeClr val="accent2"/>
            </a:solidFill>
            <a:prstDash val="solid"/>
          </a:ln>
        </p:spPr>
      </p:sp>
      <p:pic>
        <p:nvPicPr>
          <p:cNvPr id="21" name="Icon FaHeartbeat" descr="Heartbeat icon">    </p:cNvPr>
          <p:cNvPicPr>
            <a:picLocks noChangeAspect="1"/>
          </p:cNvPicPr>
          <p:nvPr/>
        </p:nvPicPr>
        <p:blipFill>
          <a:blip r:embed="rId1"/>
          <a:stretch>
            <a:fillRect/>
          </a:stretch>
        </p:blipFill>
        <p:spPr>
          <a:xfrm>
            <a:off x="708660" y="5417820"/>
            <a:ext cx="320040" cy="320040"/>
          </a:xfrm>
          <a:prstGeom prst="rect">
            <a:avLst/>
          </a:prstGeom>
        </p:spPr>
      </p:pic>
      <p:sp>
        <p:nvSpPr>
          <p:cNvPr id="22" name="Text 19"/>
          <p:cNvSpPr txBox="1"/>
          <p:nvPr/>
        </p:nvSpPr>
        <p:spPr>
          <a:xfrm>
            <a:off x="1417320" y="5257800"/>
            <a:ext cx="10177272" cy="640080"/>
          </a:xfrm>
          <a:prstGeom prst="rect">
            <a:avLst/>
          </a:prstGeom>
          <a:noFill/>
          <a:ln/>
        </p:spPr>
        <p:txBody>
          <a:bodyPr wrap="square" lIns="0" tIns="0" rIns="0" bIns="0" rtlCol="0" anchor="ctr"/>
          <a:lstStyle/>
          <a:p>
            <a:pPr indent="0" marL="0">
              <a:buNone/>
            </a:pPr>
            <a:r>
              <a:rPr lang="en-US" sz="1800" b="1" dirty="0">
                <a:solidFill>
                  <a:schemeClr val="tx1"/>
                </a:solidFill>
              </a:rPr>
              <a:t>HeartIntel: AI powered heart disease prediction with a full DevOps lifecycle</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HeartIntel Light">
  <a:themeElements>
    <a:clrScheme name="HeartIntel Light">
      <a:dk1>
        <a:srgbClr val="2F4254"/>
      </a:dk1>
      <a:lt1>
        <a:srgbClr val="FFFFFF"/>
      </a:lt1>
      <a:dk2>
        <a:srgbClr val="6B7C8C"/>
      </a:dk2>
      <a:lt2>
        <a:srgbClr val="EAF6F7"/>
      </a:lt2>
      <a:accent1>
        <a:srgbClr val="1E8C93"/>
      </a:accent1>
      <a:accent2>
        <a:srgbClr val="D8454D"/>
      </a:accent2>
      <a:accent3>
        <a:srgbClr val="E9A23B"/>
      </a:accent3>
      <a:accent4>
        <a:srgbClr val="FDECEC"/>
      </a:accent4>
      <a:accent5>
        <a:srgbClr val="FFF3D9"/>
      </a:accent5>
      <a:accent6>
        <a:srgbClr val="3FA37C"/>
      </a:accent6>
      <a:hlink>
        <a:srgbClr val="1E8C93"/>
      </a:hlink>
      <a:folHlink>
        <a:srgbClr val="6B7C8C"/>
      </a:folHlink>
    </a:clrScheme>
    <a:fontScheme name="HeartIntel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HeartIntel DevOps CA II Case Study</dc:title>
  <dc:subject>PptxGenJS Presentation</dc:subject>
  <dc:creator>Gunveer Singh, Harsh Rajput, Mohammad Ahmad, Raghav Sharma</dc:creator>
  <cp:lastModifiedBy>Gunveer Singh, Harsh Rajput, Mohammad Ahmad, Raghav Sharma</cp:lastModifiedBy>
  <cp:revision>1</cp:revision>
  <dcterms:created xsi:type="dcterms:W3CDTF">2026-10-05T07:30:43Z</dcterms:created>
  <dcterms:modified xsi:type="dcterms:W3CDTF">2026-10-05T07:30:43Z</dcterms:modified>
</cp:coreProperties>
</file>